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47" d="100"/>
          <a:sy n="147" d="100"/>
        </p:scale>
        <p:origin x="774"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2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58368" y="2212848"/>
            <a:ext cx="1371600" cy="54864"/>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487168"/>
            <a:ext cx="10515600" cy="914400"/>
          </a:xfrm>
          <a:prstGeom prst="rect">
            <a:avLst/>
          </a:prstGeom>
          <a:noFill/>
        </p:spPr>
        <p:txBody>
          <a:bodyPr wrap="square" lIns="0" tIns="0" rIns="0" bIns="0" anchor="t">
            <a:spAutoFit/>
          </a:bodyPr>
          <a:lstStyle/>
          <a:p>
            <a:pPr algn="l">
              <a:lnSpc>
                <a:spcPct val="115000"/>
              </a:lnSpc>
            </a:pPr>
            <a:r>
              <a:rPr sz="4200" b="1" i="0">
                <a:solidFill>
                  <a:srgbClr val="FFFFFF"/>
                </a:solidFill>
                <a:latin typeface="Segoe UI"/>
              </a:rPr>
              <a:t>AI Virtual KOL — Status Review</a:t>
            </a:r>
          </a:p>
        </p:txBody>
      </p:sp>
      <p:sp>
        <p:nvSpPr>
          <p:cNvPr id="5" name="TextBox 4"/>
          <p:cNvSpPr txBox="1"/>
          <p:nvPr/>
        </p:nvSpPr>
        <p:spPr>
          <a:xfrm>
            <a:off x="658368" y="3474720"/>
            <a:ext cx="10515600" cy="548640"/>
          </a:xfrm>
          <a:prstGeom prst="rect">
            <a:avLst/>
          </a:prstGeom>
          <a:noFill/>
        </p:spPr>
        <p:txBody>
          <a:bodyPr wrap="square" lIns="0" tIns="0" rIns="0" bIns="0" anchor="t">
            <a:spAutoFit/>
          </a:bodyPr>
          <a:lstStyle/>
          <a:p>
            <a:pPr algn="l">
              <a:lnSpc>
                <a:spcPct val="115000"/>
              </a:lnSpc>
            </a:pPr>
            <a:r>
              <a:rPr sz="1900" b="0" i="0">
                <a:solidFill>
                  <a:srgbClr val="AEC0E4"/>
                </a:solidFill>
                <a:latin typeface="Segoe UI"/>
              </a:rPr>
              <a:t>What works · What is blocking us · What I need decided</a:t>
            </a:r>
          </a:p>
        </p:txBody>
      </p:sp>
      <p:sp>
        <p:nvSpPr>
          <p:cNvPr id="6" name="TextBox 5"/>
          <p:cNvSpPr txBox="1"/>
          <p:nvPr/>
        </p:nvSpPr>
        <p:spPr>
          <a:xfrm>
            <a:off x="658368" y="4261104"/>
            <a:ext cx="10515600" cy="822960"/>
          </a:xfrm>
          <a:prstGeom prst="rect">
            <a:avLst/>
          </a:prstGeom>
          <a:noFill/>
        </p:spPr>
        <p:txBody>
          <a:bodyPr wrap="square" lIns="0" tIns="0" rIns="0" bIns="0" anchor="t">
            <a:spAutoFit/>
          </a:bodyPr>
          <a:lstStyle/>
          <a:p>
            <a:pPr algn="l">
              <a:lnSpc>
                <a:spcPct val="115000"/>
              </a:lnSpc>
            </a:pPr>
            <a:r>
              <a:rPr sz="1250" b="0" i="0">
                <a:solidFill>
                  <a:srgbClr val="8D9DBE"/>
                </a:solidFill>
                <a:latin typeface="Segoe UI"/>
              </a:rPr>
              <a:t>2026-08-17  ·  every figure measured on this machine  ·  reproducible with tools/selftest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420624"/>
            <a:ext cx="10874959" cy="237744"/>
          </a:xfrm>
          <a:prstGeom prst="rect">
            <a:avLst/>
          </a:prstGeom>
          <a:noFill/>
        </p:spPr>
        <p:txBody>
          <a:bodyPr wrap="square" lIns="0" tIns="0" rIns="0" bIns="0" anchor="t">
            <a:spAutoFit/>
          </a:bodyPr>
          <a:lstStyle/>
          <a:p>
            <a:pPr algn="l">
              <a:lnSpc>
                <a:spcPct val="115000"/>
              </a:lnSpc>
            </a:pPr>
            <a:r>
              <a:rPr sz="1100" b="1" i="0">
                <a:solidFill>
                  <a:srgbClr val="2F5FD0"/>
                </a:solidFill>
                <a:latin typeface="Segoe UI"/>
              </a:rPr>
              <a:t>EXECUTIVE SUMMARY</a:t>
            </a:r>
          </a:p>
        </p:txBody>
      </p:sp>
      <p:sp>
        <p:nvSpPr>
          <p:cNvPr id="3" name="TextBox 2"/>
          <p:cNvSpPr txBox="1"/>
          <p:nvPr/>
        </p:nvSpPr>
        <p:spPr>
          <a:xfrm>
            <a:off x="658368" y="694944"/>
            <a:ext cx="10874959" cy="502920"/>
          </a:xfrm>
          <a:prstGeom prst="rect">
            <a:avLst/>
          </a:prstGeom>
          <a:noFill/>
        </p:spPr>
        <p:txBody>
          <a:bodyPr wrap="square" lIns="0" tIns="0" rIns="0" bIns="0" anchor="t">
            <a:spAutoFit/>
          </a:bodyPr>
          <a:lstStyle/>
          <a:p>
            <a:pPr algn="l">
              <a:lnSpc>
                <a:spcPct val="115000"/>
              </a:lnSpc>
            </a:pPr>
            <a:r>
              <a:rPr sz="2700" b="1" i="0">
                <a:solidFill>
                  <a:srgbClr val="142244"/>
                </a:solidFill>
                <a:latin typeface="Segoe UI"/>
              </a:rPr>
              <a:t>The pipeline works end to end. Two quality gaps block launch.</a:t>
            </a:r>
          </a:p>
        </p:txBody>
      </p:sp>
      <p:sp>
        <p:nvSpPr>
          <p:cNvPr id="4" name="Rectangle 3"/>
          <p:cNvSpPr/>
          <p:nvPr/>
        </p:nvSpPr>
        <p:spPr>
          <a:xfrm>
            <a:off x="658368" y="1298448"/>
            <a:ext cx="10874959" cy="9525"/>
          </a:xfrm>
          <a:prstGeom prst="rect">
            <a:avLst/>
          </a:prstGeom>
          <a:solidFill>
            <a:srgbClr val="DD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58368" y="1481328"/>
            <a:ext cx="2609011" cy="932688"/>
          </a:xfrm>
          <a:prstGeom prst="roundRect">
            <a:avLst>
              <a:gd name="adj" fmla="val 6000"/>
            </a:avLst>
          </a:prstGeom>
          <a:solidFill>
            <a:srgbClr val="F2F4F7"/>
          </a:solidFill>
          <a:ln w="9525">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04672" y="1600200"/>
            <a:ext cx="2334691" cy="420624"/>
          </a:xfrm>
          <a:prstGeom prst="rect">
            <a:avLst/>
          </a:prstGeom>
          <a:noFill/>
        </p:spPr>
        <p:txBody>
          <a:bodyPr wrap="square" lIns="0" tIns="0" rIns="0" bIns="0" anchor="t">
            <a:spAutoFit/>
          </a:bodyPr>
          <a:lstStyle/>
          <a:p>
            <a:pPr algn="l">
              <a:lnSpc>
                <a:spcPct val="115000"/>
              </a:lnSpc>
            </a:pPr>
            <a:r>
              <a:rPr sz="2600" b="1" i="0">
                <a:solidFill>
                  <a:srgbClr val="0F8A4C"/>
                </a:solidFill>
                <a:latin typeface="Segoe UI"/>
              </a:rPr>
              <a:t>4 of 4</a:t>
            </a:r>
          </a:p>
        </p:txBody>
      </p:sp>
      <p:sp>
        <p:nvSpPr>
          <p:cNvPr id="7" name="TextBox 6"/>
          <p:cNvSpPr txBox="1"/>
          <p:nvPr/>
        </p:nvSpPr>
        <p:spPr>
          <a:xfrm>
            <a:off x="804672" y="2048256"/>
            <a:ext cx="2334691" cy="274320"/>
          </a:xfrm>
          <a:prstGeom prst="rect">
            <a:avLst/>
          </a:prstGeom>
          <a:noFill/>
        </p:spPr>
        <p:txBody>
          <a:bodyPr wrap="square" lIns="0" tIns="0" rIns="0" bIns="0" anchor="t">
            <a:spAutoFit/>
          </a:bodyPr>
          <a:lstStyle/>
          <a:p>
            <a:pPr algn="l">
              <a:lnSpc>
                <a:spcPct val="115000"/>
              </a:lnSpc>
            </a:pPr>
            <a:r>
              <a:rPr sz="1050" b="0" i="0">
                <a:solidFill>
                  <a:srgbClr val="666E78"/>
                </a:solidFill>
                <a:latin typeface="Segoe UI"/>
              </a:rPr>
              <a:t>pipeline layers working</a:t>
            </a:r>
          </a:p>
        </p:txBody>
      </p:sp>
      <p:sp>
        <p:nvSpPr>
          <p:cNvPr id="8" name="Rounded Rectangle 7"/>
          <p:cNvSpPr/>
          <p:nvPr/>
        </p:nvSpPr>
        <p:spPr>
          <a:xfrm>
            <a:off x="3413683" y="1481328"/>
            <a:ext cx="2609011" cy="932688"/>
          </a:xfrm>
          <a:prstGeom prst="roundRect">
            <a:avLst>
              <a:gd name="adj" fmla="val 6000"/>
            </a:avLst>
          </a:prstGeom>
          <a:solidFill>
            <a:srgbClr val="F2F4F7"/>
          </a:solidFill>
          <a:ln w="9525">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3559987" y="1600200"/>
            <a:ext cx="2334691" cy="420624"/>
          </a:xfrm>
          <a:prstGeom prst="rect">
            <a:avLst/>
          </a:prstGeom>
          <a:noFill/>
        </p:spPr>
        <p:txBody>
          <a:bodyPr wrap="square" lIns="0" tIns="0" rIns="0" bIns="0" anchor="t">
            <a:spAutoFit/>
          </a:bodyPr>
          <a:lstStyle/>
          <a:p>
            <a:pPr algn="l">
              <a:lnSpc>
                <a:spcPct val="115000"/>
              </a:lnSpc>
            </a:pPr>
            <a:r>
              <a:rPr sz="2600" b="1" i="0">
                <a:solidFill>
                  <a:srgbClr val="C62B2B"/>
                </a:solidFill>
                <a:latin typeface="Segoe UI"/>
              </a:rPr>
              <a:t>7.6 s</a:t>
            </a:r>
          </a:p>
        </p:txBody>
      </p:sp>
      <p:sp>
        <p:nvSpPr>
          <p:cNvPr id="10" name="TextBox 9"/>
          <p:cNvSpPr txBox="1"/>
          <p:nvPr/>
        </p:nvSpPr>
        <p:spPr>
          <a:xfrm>
            <a:off x="3559987" y="2048256"/>
            <a:ext cx="2334691" cy="274320"/>
          </a:xfrm>
          <a:prstGeom prst="rect">
            <a:avLst/>
          </a:prstGeom>
          <a:noFill/>
        </p:spPr>
        <p:txBody>
          <a:bodyPr wrap="square" lIns="0" tIns="0" rIns="0" bIns="0" anchor="t">
            <a:spAutoFit/>
          </a:bodyPr>
          <a:lstStyle/>
          <a:p>
            <a:pPr algn="l">
              <a:lnSpc>
                <a:spcPct val="115000"/>
              </a:lnSpc>
            </a:pPr>
            <a:r>
              <a:rPr sz="1050" b="0" i="0" dirty="0">
                <a:solidFill>
                  <a:srgbClr val="666E78"/>
                </a:solidFill>
                <a:latin typeface="Segoe UI"/>
              </a:rPr>
              <a:t>wait per reply — 89% is speech</a:t>
            </a:r>
          </a:p>
        </p:txBody>
      </p:sp>
      <p:sp>
        <p:nvSpPr>
          <p:cNvPr id="11" name="Rounded Rectangle 10"/>
          <p:cNvSpPr/>
          <p:nvPr/>
        </p:nvSpPr>
        <p:spPr>
          <a:xfrm>
            <a:off x="6168998" y="1481328"/>
            <a:ext cx="2609011" cy="932688"/>
          </a:xfrm>
          <a:prstGeom prst="roundRect">
            <a:avLst>
              <a:gd name="adj" fmla="val 6000"/>
            </a:avLst>
          </a:prstGeom>
          <a:solidFill>
            <a:srgbClr val="F2F4F7"/>
          </a:solidFill>
          <a:ln w="9525">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315302" y="1600200"/>
            <a:ext cx="2334691" cy="420624"/>
          </a:xfrm>
          <a:prstGeom prst="rect">
            <a:avLst/>
          </a:prstGeom>
          <a:noFill/>
        </p:spPr>
        <p:txBody>
          <a:bodyPr wrap="square" lIns="0" tIns="0" rIns="0" bIns="0" anchor="t">
            <a:spAutoFit/>
          </a:bodyPr>
          <a:lstStyle/>
          <a:p>
            <a:pPr algn="l">
              <a:lnSpc>
                <a:spcPct val="115000"/>
              </a:lnSpc>
            </a:pPr>
            <a:r>
              <a:rPr sz="2600" b="1" i="0">
                <a:solidFill>
                  <a:srgbClr val="A86400"/>
                </a:solidFill>
                <a:latin typeface="Segoe UI"/>
              </a:rPr>
              <a:t>92%</a:t>
            </a:r>
          </a:p>
        </p:txBody>
      </p:sp>
      <p:sp>
        <p:nvSpPr>
          <p:cNvPr id="13" name="TextBox 12"/>
          <p:cNvSpPr txBox="1"/>
          <p:nvPr/>
        </p:nvSpPr>
        <p:spPr>
          <a:xfrm>
            <a:off x="6315302" y="2048256"/>
            <a:ext cx="2334691" cy="274320"/>
          </a:xfrm>
          <a:prstGeom prst="rect">
            <a:avLst/>
          </a:prstGeom>
          <a:noFill/>
        </p:spPr>
        <p:txBody>
          <a:bodyPr wrap="square" lIns="0" tIns="0" rIns="0" bIns="0" anchor="t">
            <a:spAutoFit/>
          </a:bodyPr>
          <a:lstStyle/>
          <a:p>
            <a:pPr algn="l">
              <a:lnSpc>
                <a:spcPct val="115000"/>
              </a:lnSpc>
            </a:pPr>
            <a:r>
              <a:rPr sz="1050" b="0" i="0">
                <a:solidFill>
                  <a:srgbClr val="666E78"/>
                </a:solidFill>
                <a:latin typeface="Segoe UI"/>
              </a:rPr>
              <a:t>persona compliance (was 83%)</a:t>
            </a:r>
          </a:p>
        </p:txBody>
      </p:sp>
      <p:sp>
        <p:nvSpPr>
          <p:cNvPr id="14" name="Rounded Rectangle 13"/>
          <p:cNvSpPr/>
          <p:nvPr/>
        </p:nvSpPr>
        <p:spPr>
          <a:xfrm>
            <a:off x="8924313" y="1481328"/>
            <a:ext cx="2609011" cy="932688"/>
          </a:xfrm>
          <a:prstGeom prst="roundRect">
            <a:avLst>
              <a:gd name="adj" fmla="val 6000"/>
            </a:avLst>
          </a:prstGeom>
          <a:solidFill>
            <a:srgbClr val="F2F4F7"/>
          </a:solidFill>
          <a:ln w="9525">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9070617" y="1600200"/>
            <a:ext cx="2334691" cy="420624"/>
          </a:xfrm>
          <a:prstGeom prst="rect">
            <a:avLst/>
          </a:prstGeom>
          <a:noFill/>
        </p:spPr>
        <p:txBody>
          <a:bodyPr wrap="square" lIns="0" tIns="0" rIns="0" bIns="0" anchor="t">
            <a:spAutoFit/>
          </a:bodyPr>
          <a:lstStyle/>
          <a:p>
            <a:pPr algn="l">
              <a:lnSpc>
                <a:spcPct val="115000"/>
              </a:lnSpc>
            </a:pPr>
            <a:r>
              <a:rPr sz="2600" b="1" i="0">
                <a:solidFill>
                  <a:srgbClr val="A86400"/>
                </a:solidFill>
                <a:latin typeface="Segoe UI"/>
              </a:rPr>
              <a:t>1 of 10</a:t>
            </a:r>
          </a:p>
        </p:txBody>
      </p:sp>
      <p:sp>
        <p:nvSpPr>
          <p:cNvPr id="16" name="TextBox 15"/>
          <p:cNvSpPr txBox="1"/>
          <p:nvPr/>
        </p:nvSpPr>
        <p:spPr>
          <a:xfrm>
            <a:off x="9070617" y="2048256"/>
            <a:ext cx="2334691" cy="274320"/>
          </a:xfrm>
          <a:prstGeom prst="rect">
            <a:avLst/>
          </a:prstGeom>
          <a:noFill/>
        </p:spPr>
        <p:txBody>
          <a:bodyPr wrap="square" lIns="0" tIns="0" rIns="0" bIns="0" anchor="t">
            <a:spAutoFit/>
          </a:bodyPr>
          <a:lstStyle/>
          <a:p>
            <a:pPr algn="l">
              <a:lnSpc>
                <a:spcPct val="115000"/>
              </a:lnSpc>
            </a:pPr>
            <a:r>
              <a:rPr sz="1050" b="0" i="0">
                <a:solidFill>
                  <a:srgbClr val="666E78"/>
                </a:solidFill>
                <a:latin typeface="Segoe UI"/>
              </a:rPr>
              <a:t>characters fully built</a:t>
            </a:r>
          </a:p>
        </p:txBody>
      </p:sp>
      <p:sp>
        <p:nvSpPr>
          <p:cNvPr id="17" name="TextBox 16"/>
          <p:cNvSpPr txBox="1"/>
          <p:nvPr/>
        </p:nvSpPr>
        <p:spPr>
          <a:xfrm>
            <a:off x="658368" y="2743200"/>
            <a:ext cx="10874959" cy="457882"/>
          </a:xfrm>
          <a:prstGeom prst="rect">
            <a:avLst/>
          </a:prstGeom>
          <a:noFill/>
        </p:spPr>
        <p:txBody>
          <a:bodyPr wrap="square" lIns="0" tIns="0" rIns="0" bIns="0">
            <a:spAutoFit/>
          </a:bodyPr>
          <a:lstStyle/>
          <a:p>
            <a:pPr>
              <a:lnSpc>
                <a:spcPct val="120000"/>
              </a:lnSpc>
            </a:pPr>
            <a:r>
              <a:rPr sz="1300" dirty="0">
                <a:solidFill>
                  <a:srgbClr val="2F5FD0"/>
                </a:solidFill>
                <a:latin typeface="Segoe UI"/>
              </a:rPr>
              <a:t>▪  </a:t>
            </a:r>
            <a:r>
              <a:rPr lang="vi-VN" sz="1300" b="1" dirty="0">
                <a:solidFill>
                  <a:srgbClr val="14171A"/>
                </a:solidFill>
                <a:latin typeface="Segoe UI"/>
              </a:rPr>
              <a:t>KOL</a:t>
            </a:r>
            <a:r>
              <a:rPr sz="1300" b="1" dirty="0">
                <a:solidFill>
                  <a:srgbClr val="14171A"/>
                </a:solidFill>
                <a:latin typeface="Segoe UI"/>
              </a:rPr>
              <a:t> can</a:t>
            </a:r>
            <a:r>
              <a:rPr lang="vi-VN" sz="1300" b="1" dirty="0">
                <a:solidFill>
                  <a:srgbClr val="14171A"/>
                </a:solidFill>
                <a:latin typeface="Segoe UI"/>
              </a:rPr>
              <a:t> read</a:t>
            </a:r>
            <a:r>
              <a:rPr sz="1300" b="1" dirty="0">
                <a:solidFill>
                  <a:srgbClr val="14171A"/>
                </a:solidFill>
                <a:latin typeface="Segoe UI"/>
              </a:rPr>
              <a:t> comment and answer out loud in her own voice. </a:t>
            </a:r>
            <a:r>
              <a:rPr sz="1300" dirty="0">
                <a:solidFill>
                  <a:srgbClr val="666E78"/>
                </a:solidFill>
                <a:latin typeface="Segoe UI"/>
              </a:rPr>
              <a:t>Her face, her cloned voice, an answer written in her persona — generated locally, nothing sent to a third party, no per-reply API fee.</a:t>
            </a:r>
          </a:p>
        </p:txBody>
      </p:sp>
      <p:sp>
        <p:nvSpPr>
          <p:cNvPr id="18" name="TextBox 17"/>
          <p:cNvSpPr txBox="1"/>
          <p:nvPr/>
        </p:nvSpPr>
        <p:spPr>
          <a:xfrm>
            <a:off x="658368" y="3383280"/>
            <a:ext cx="10874959" cy="457882"/>
          </a:xfrm>
          <a:prstGeom prst="rect">
            <a:avLst/>
          </a:prstGeom>
          <a:noFill/>
        </p:spPr>
        <p:txBody>
          <a:bodyPr wrap="square" lIns="0" tIns="0" rIns="0" bIns="0">
            <a:spAutoFit/>
          </a:bodyPr>
          <a:lstStyle/>
          <a:p>
            <a:pPr>
              <a:lnSpc>
                <a:spcPct val="120000"/>
              </a:lnSpc>
            </a:pPr>
            <a:r>
              <a:rPr sz="1300" dirty="0">
                <a:solidFill>
                  <a:srgbClr val="2F5FD0"/>
                </a:solidFill>
                <a:latin typeface="Segoe UI"/>
              </a:rPr>
              <a:t>▪  </a:t>
            </a:r>
            <a:r>
              <a:rPr sz="1300" b="1" dirty="0">
                <a:solidFill>
                  <a:srgbClr val="14171A"/>
                </a:solidFill>
                <a:latin typeface="Segoe UI"/>
              </a:rPr>
              <a:t>Problem 1 </a:t>
            </a:r>
            <a:r>
              <a:rPr lang="vi-VN" sz="1300" b="1" dirty="0">
                <a:solidFill>
                  <a:srgbClr val="14171A"/>
                </a:solidFill>
                <a:latin typeface="Segoe UI"/>
              </a:rPr>
              <a:t>:</a:t>
            </a:r>
            <a:r>
              <a:rPr sz="1300" b="1" dirty="0">
                <a:solidFill>
                  <a:srgbClr val="14171A"/>
                </a:solidFill>
                <a:latin typeface="Segoe UI"/>
              </a:rPr>
              <a:t> she still sounds stiff rather than interesting. </a:t>
            </a:r>
            <a:r>
              <a:rPr sz="1300" dirty="0">
                <a:solidFill>
                  <a:srgbClr val="666E78"/>
                </a:solidFill>
                <a:latin typeface="Segoe UI"/>
              </a:rPr>
              <a:t>Five separate causes, and the root one is not fixable by more prompt engineering: the training data is the 7B model's own output, so it cannot teach charm the model does not already have.</a:t>
            </a:r>
          </a:p>
        </p:txBody>
      </p:sp>
      <p:sp>
        <p:nvSpPr>
          <p:cNvPr id="19" name="TextBox 18"/>
          <p:cNvSpPr txBox="1"/>
          <p:nvPr/>
        </p:nvSpPr>
        <p:spPr>
          <a:xfrm>
            <a:off x="658368" y="4023360"/>
            <a:ext cx="10874959" cy="457882"/>
          </a:xfrm>
          <a:prstGeom prst="rect">
            <a:avLst/>
          </a:prstGeom>
          <a:noFill/>
        </p:spPr>
        <p:txBody>
          <a:bodyPr wrap="square" lIns="0" tIns="0" rIns="0" bIns="0">
            <a:spAutoFit/>
          </a:bodyPr>
          <a:lstStyle/>
          <a:p>
            <a:pPr>
              <a:lnSpc>
                <a:spcPct val="120000"/>
              </a:lnSpc>
            </a:pPr>
            <a:r>
              <a:rPr sz="1300" dirty="0">
                <a:solidFill>
                  <a:srgbClr val="2F5FD0"/>
                </a:solidFill>
                <a:latin typeface="Segoe UI"/>
              </a:rPr>
              <a:t>▪  </a:t>
            </a:r>
            <a:r>
              <a:rPr sz="1300" b="1" dirty="0">
                <a:solidFill>
                  <a:srgbClr val="14171A"/>
                </a:solidFill>
                <a:latin typeface="Segoe UI"/>
              </a:rPr>
              <a:t>Problem 2 </a:t>
            </a:r>
            <a:r>
              <a:rPr lang="vi-VN" sz="1300" b="1" dirty="0">
                <a:solidFill>
                  <a:srgbClr val="14171A"/>
                </a:solidFill>
                <a:latin typeface="Segoe UI"/>
              </a:rPr>
              <a:t>:</a:t>
            </a:r>
            <a:r>
              <a:rPr sz="1300" b="1" dirty="0">
                <a:solidFill>
                  <a:srgbClr val="14171A"/>
                </a:solidFill>
                <a:latin typeface="Segoe UI"/>
              </a:rPr>
              <a:t> she is slow to answer. </a:t>
            </a:r>
            <a:r>
              <a:rPr sz="1300" dirty="0">
                <a:solidFill>
                  <a:srgbClr val="666E78"/>
                </a:solidFill>
                <a:latin typeface="Segoe UI"/>
              </a:rPr>
              <a:t>7.6 seconds per reply, and 89% of that is speech synthesis running in a mode that waits for the whole sentence before playing any of it. This one is pure engineering and costs nothing to fix.</a:t>
            </a:r>
          </a:p>
        </p:txBody>
      </p:sp>
      <p:sp>
        <p:nvSpPr>
          <p:cNvPr id="20" name="TextBox 19"/>
          <p:cNvSpPr txBox="1"/>
          <p:nvPr/>
        </p:nvSpPr>
        <p:spPr>
          <a:xfrm>
            <a:off x="658368" y="4663440"/>
            <a:ext cx="10874959" cy="457882"/>
          </a:xfrm>
          <a:prstGeom prst="rect">
            <a:avLst/>
          </a:prstGeom>
          <a:noFill/>
        </p:spPr>
        <p:txBody>
          <a:bodyPr wrap="square" lIns="0" tIns="0" rIns="0" bIns="0">
            <a:spAutoFit/>
          </a:bodyPr>
          <a:lstStyle/>
          <a:p>
            <a:pPr>
              <a:lnSpc>
                <a:spcPct val="120000"/>
              </a:lnSpc>
            </a:pPr>
            <a:r>
              <a:rPr sz="1300" dirty="0">
                <a:solidFill>
                  <a:srgbClr val="2F5FD0"/>
                </a:solidFill>
                <a:latin typeface="Segoe UI"/>
              </a:rPr>
              <a:t>▪  </a:t>
            </a:r>
            <a:r>
              <a:rPr sz="1300" b="1" dirty="0">
                <a:solidFill>
                  <a:srgbClr val="14171A"/>
                </a:solidFill>
                <a:latin typeface="Segoe UI"/>
              </a:rPr>
              <a:t>Recommendation: fix the wait first (1 week, no budget), then the naturalness. </a:t>
            </a:r>
            <a:r>
              <a:rPr sz="1300" dirty="0">
                <a:solidFill>
                  <a:srgbClr val="666E78"/>
                </a:solidFill>
                <a:latin typeface="Segoe UI"/>
              </a:rPr>
              <a:t>The naturalness work needs a native English writer and a small one-off budget </a:t>
            </a:r>
            <a:r>
              <a:rPr lang="vi-VN" sz="1300" dirty="0">
                <a:solidFill>
                  <a:srgbClr val="666E78"/>
                </a:solidFill>
                <a:latin typeface="Segoe UI"/>
              </a:rPr>
              <a:t>:</a:t>
            </a:r>
            <a:r>
              <a:rPr sz="1300" dirty="0">
                <a:solidFill>
                  <a:srgbClr val="666E78"/>
                </a:solidFill>
                <a:latin typeface="Segoe UI"/>
              </a:rPr>
              <a:t> that is the decision I am asking for.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420624"/>
            <a:ext cx="10874959" cy="237744"/>
          </a:xfrm>
          <a:prstGeom prst="rect">
            <a:avLst/>
          </a:prstGeom>
          <a:noFill/>
        </p:spPr>
        <p:txBody>
          <a:bodyPr wrap="square" lIns="0" tIns="0" rIns="0" bIns="0" anchor="t">
            <a:spAutoFit/>
          </a:bodyPr>
          <a:lstStyle/>
          <a:p>
            <a:pPr algn="l">
              <a:lnSpc>
                <a:spcPct val="115000"/>
              </a:lnSpc>
            </a:pPr>
            <a:r>
              <a:rPr sz="1100" b="1" i="0">
                <a:solidFill>
                  <a:srgbClr val="2F5FD0"/>
                </a:solidFill>
                <a:latin typeface="Segoe UI"/>
              </a:rPr>
              <a:t>THE SYSTEM</a:t>
            </a:r>
          </a:p>
        </p:txBody>
      </p:sp>
      <p:sp>
        <p:nvSpPr>
          <p:cNvPr id="3" name="TextBox 2"/>
          <p:cNvSpPr txBox="1"/>
          <p:nvPr/>
        </p:nvSpPr>
        <p:spPr>
          <a:xfrm>
            <a:off x="658368" y="694944"/>
            <a:ext cx="10874959" cy="502920"/>
          </a:xfrm>
          <a:prstGeom prst="rect">
            <a:avLst/>
          </a:prstGeom>
          <a:noFill/>
        </p:spPr>
        <p:txBody>
          <a:bodyPr wrap="square" lIns="0" tIns="0" rIns="0" bIns="0" anchor="t">
            <a:spAutoFit/>
          </a:bodyPr>
          <a:lstStyle/>
          <a:p>
            <a:pPr algn="l">
              <a:lnSpc>
                <a:spcPct val="115000"/>
              </a:lnSpc>
            </a:pPr>
            <a:r>
              <a:rPr sz="2700" b="1" i="0">
                <a:solidFill>
                  <a:srgbClr val="142244"/>
                </a:solidFill>
                <a:latin typeface="Segoe UI"/>
              </a:rPr>
              <a:t>Four layers, each a separate local service</a:t>
            </a:r>
          </a:p>
        </p:txBody>
      </p:sp>
      <p:sp>
        <p:nvSpPr>
          <p:cNvPr id="4" name="Rectangle 3"/>
          <p:cNvSpPr/>
          <p:nvPr/>
        </p:nvSpPr>
        <p:spPr>
          <a:xfrm>
            <a:off x="658368" y="1298448"/>
            <a:ext cx="10874959" cy="9525"/>
          </a:xfrm>
          <a:prstGeom prst="rect">
            <a:avLst/>
          </a:prstGeom>
          <a:solidFill>
            <a:srgbClr val="DD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58368" y="1554480"/>
            <a:ext cx="2595295" cy="2011680"/>
          </a:xfrm>
          <a:prstGeom prst="roundRect">
            <a:avLst>
              <a:gd name="adj" fmla="val 6000"/>
            </a:avLst>
          </a:prstGeom>
          <a:solidFill>
            <a:srgbClr val="F2F4F7"/>
          </a:solidFill>
          <a:ln w="9525">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22960" y="1700784"/>
            <a:ext cx="2266111" cy="274320"/>
          </a:xfrm>
          <a:prstGeom prst="rect">
            <a:avLst/>
          </a:prstGeom>
          <a:noFill/>
        </p:spPr>
        <p:txBody>
          <a:bodyPr wrap="square" lIns="0" tIns="0" rIns="0" bIns="0" anchor="t">
            <a:spAutoFit/>
          </a:bodyPr>
          <a:lstStyle/>
          <a:p>
            <a:pPr algn="l">
              <a:lnSpc>
                <a:spcPct val="115000"/>
              </a:lnSpc>
            </a:pPr>
            <a:r>
              <a:rPr sz="1400" b="1" i="0">
                <a:solidFill>
                  <a:srgbClr val="142244"/>
                </a:solidFill>
                <a:latin typeface="Segoe UI"/>
              </a:rPr>
              <a:t>1 · Brain</a:t>
            </a:r>
          </a:p>
        </p:txBody>
      </p:sp>
      <p:sp>
        <p:nvSpPr>
          <p:cNvPr id="7" name="TextBox 6"/>
          <p:cNvSpPr txBox="1"/>
          <p:nvPr/>
        </p:nvSpPr>
        <p:spPr>
          <a:xfrm>
            <a:off x="822960" y="2011680"/>
            <a:ext cx="2266111" cy="237744"/>
          </a:xfrm>
          <a:prstGeom prst="rect">
            <a:avLst/>
          </a:prstGeom>
          <a:noFill/>
        </p:spPr>
        <p:txBody>
          <a:bodyPr wrap="square" lIns="0" tIns="0" rIns="0" bIns="0" anchor="t">
            <a:spAutoFit/>
          </a:bodyPr>
          <a:lstStyle/>
          <a:p>
            <a:pPr algn="l">
              <a:lnSpc>
                <a:spcPct val="115000"/>
              </a:lnSpc>
            </a:pPr>
            <a:r>
              <a:rPr sz="950" b="1" i="0" dirty="0">
                <a:solidFill>
                  <a:srgbClr val="0F8A4C"/>
                </a:solidFill>
                <a:latin typeface="Segoe UI"/>
              </a:rPr>
              <a:t>WORKING</a:t>
            </a:r>
          </a:p>
        </p:txBody>
      </p:sp>
      <p:sp>
        <p:nvSpPr>
          <p:cNvPr id="8" name="TextBox 7"/>
          <p:cNvSpPr txBox="1"/>
          <p:nvPr/>
        </p:nvSpPr>
        <p:spPr>
          <a:xfrm>
            <a:off x="822960" y="2340864"/>
            <a:ext cx="2266111" cy="822960"/>
          </a:xfrm>
          <a:prstGeom prst="rect">
            <a:avLst/>
          </a:prstGeom>
          <a:noFill/>
        </p:spPr>
        <p:txBody>
          <a:bodyPr wrap="square" lIns="0" tIns="0" rIns="0" bIns="0" anchor="t">
            <a:spAutoFit/>
          </a:bodyPr>
          <a:lstStyle/>
          <a:p>
            <a:pPr algn="l">
              <a:lnSpc>
                <a:spcPct val="115000"/>
              </a:lnSpc>
            </a:pPr>
            <a:r>
              <a:rPr sz="1100" b="0" i="0">
                <a:solidFill>
                  <a:srgbClr val="666E78"/>
                </a:solidFill>
                <a:latin typeface="Segoe UI"/>
              </a:rPr>
              <a:t>Writes the reply in persona</a:t>
            </a:r>
          </a:p>
          <a:p>
            <a:pPr algn="l">
              <a:lnSpc>
                <a:spcPct val="115000"/>
              </a:lnSpc>
            </a:pPr>
            <a:r>
              <a:rPr sz="1100" b="0" i="0">
                <a:solidFill>
                  <a:srgbClr val="666E78"/>
                </a:solidFill>
                <a:latin typeface="Segoe UI"/>
              </a:rPr>
              <a:t>and checks its own output</a:t>
            </a:r>
          </a:p>
          <a:p>
            <a:pPr algn="l">
              <a:lnSpc>
                <a:spcPct val="115000"/>
              </a:lnSpc>
            </a:pPr>
            <a:r>
              <a:rPr sz="1100" b="0" i="0">
                <a:solidFill>
                  <a:srgbClr val="666E78"/>
                </a:solidFill>
                <a:latin typeface="Segoe UI"/>
              </a:rPr>
              <a:t>against hard rules</a:t>
            </a:r>
          </a:p>
        </p:txBody>
      </p:sp>
      <p:sp>
        <p:nvSpPr>
          <p:cNvPr id="9" name="TextBox 8"/>
          <p:cNvSpPr txBox="1"/>
          <p:nvPr/>
        </p:nvSpPr>
        <p:spPr>
          <a:xfrm>
            <a:off x="822960" y="3145536"/>
            <a:ext cx="2266111" cy="274320"/>
          </a:xfrm>
          <a:prstGeom prst="rect">
            <a:avLst/>
          </a:prstGeom>
          <a:noFill/>
        </p:spPr>
        <p:txBody>
          <a:bodyPr wrap="square" lIns="0" tIns="0" rIns="0" bIns="0" anchor="t">
            <a:spAutoFit/>
          </a:bodyPr>
          <a:lstStyle/>
          <a:p>
            <a:pPr algn="l">
              <a:lnSpc>
                <a:spcPct val="115000"/>
              </a:lnSpc>
            </a:pPr>
            <a:r>
              <a:rPr sz="1050" b="1" i="0">
                <a:solidFill>
                  <a:srgbClr val="0F8A4C"/>
                </a:solidFill>
                <a:latin typeface="Segoe UI"/>
              </a:rPr>
              <a:t>0.8 s</a:t>
            </a:r>
          </a:p>
        </p:txBody>
      </p:sp>
      <p:sp>
        <p:nvSpPr>
          <p:cNvPr id="10" name="Rounded Rectangle 9"/>
          <p:cNvSpPr/>
          <p:nvPr/>
        </p:nvSpPr>
        <p:spPr>
          <a:xfrm>
            <a:off x="3418255" y="1554480"/>
            <a:ext cx="2595295" cy="2011680"/>
          </a:xfrm>
          <a:prstGeom prst="roundRect">
            <a:avLst>
              <a:gd name="adj" fmla="val 6000"/>
            </a:avLst>
          </a:prstGeom>
          <a:solidFill>
            <a:srgbClr val="F2F4F7"/>
          </a:solidFill>
          <a:ln w="9525">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3582847" y="1700784"/>
            <a:ext cx="2266111" cy="274320"/>
          </a:xfrm>
          <a:prstGeom prst="rect">
            <a:avLst/>
          </a:prstGeom>
          <a:noFill/>
        </p:spPr>
        <p:txBody>
          <a:bodyPr wrap="square" lIns="0" tIns="0" rIns="0" bIns="0" anchor="t">
            <a:spAutoFit/>
          </a:bodyPr>
          <a:lstStyle/>
          <a:p>
            <a:pPr algn="l">
              <a:lnSpc>
                <a:spcPct val="115000"/>
              </a:lnSpc>
            </a:pPr>
            <a:r>
              <a:rPr sz="1400" b="1" i="0">
                <a:solidFill>
                  <a:srgbClr val="142244"/>
                </a:solidFill>
                <a:latin typeface="Segoe UI"/>
              </a:rPr>
              <a:t>2 · Voice</a:t>
            </a:r>
          </a:p>
        </p:txBody>
      </p:sp>
      <p:sp>
        <p:nvSpPr>
          <p:cNvPr id="12" name="TextBox 11"/>
          <p:cNvSpPr txBox="1"/>
          <p:nvPr/>
        </p:nvSpPr>
        <p:spPr>
          <a:xfrm>
            <a:off x="3582847" y="2011680"/>
            <a:ext cx="2266111" cy="237744"/>
          </a:xfrm>
          <a:prstGeom prst="rect">
            <a:avLst/>
          </a:prstGeom>
          <a:noFill/>
        </p:spPr>
        <p:txBody>
          <a:bodyPr wrap="square" lIns="0" tIns="0" rIns="0" bIns="0" anchor="t">
            <a:spAutoFit/>
          </a:bodyPr>
          <a:lstStyle/>
          <a:p>
            <a:pPr algn="l">
              <a:lnSpc>
                <a:spcPct val="115000"/>
              </a:lnSpc>
            </a:pPr>
            <a:r>
              <a:rPr sz="950" b="1" i="0">
                <a:solidFill>
                  <a:srgbClr val="C62B2B"/>
                </a:solidFill>
                <a:latin typeface="Segoe UI"/>
              </a:rPr>
              <a:t>THE BOTTLENECK</a:t>
            </a:r>
          </a:p>
        </p:txBody>
      </p:sp>
      <p:sp>
        <p:nvSpPr>
          <p:cNvPr id="13" name="TextBox 12"/>
          <p:cNvSpPr txBox="1"/>
          <p:nvPr/>
        </p:nvSpPr>
        <p:spPr>
          <a:xfrm>
            <a:off x="3582847" y="2340864"/>
            <a:ext cx="2266111" cy="822960"/>
          </a:xfrm>
          <a:prstGeom prst="rect">
            <a:avLst/>
          </a:prstGeom>
          <a:noFill/>
        </p:spPr>
        <p:txBody>
          <a:bodyPr wrap="square" lIns="0" tIns="0" rIns="0" bIns="0" anchor="t">
            <a:spAutoFit/>
          </a:bodyPr>
          <a:lstStyle/>
          <a:p>
            <a:pPr algn="l">
              <a:lnSpc>
                <a:spcPct val="115000"/>
              </a:lnSpc>
            </a:pPr>
            <a:r>
              <a:rPr sz="1100" b="0" i="0">
                <a:solidFill>
                  <a:srgbClr val="666E78"/>
                </a:solidFill>
                <a:latin typeface="Segoe UI"/>
              </a:rPr>
              <a:t>Speaks it in that character's</a:t>
            </a:r>
          </a:p>
          <a:p>
            <a:pPr algn="l">
              <a:lnSpc>
                <a:spcPct val="115000"/>
              </a:lnSpc>
            </a:pPr>
            <a:r>
              <a:rPr sz="1100" b="0" i="0">
                <a:solidFill>
                  <a:srgbClr val="666E78"/>
                </a:solidFill>
                <a:latin typeface="Segoe UI"/>
              </a:rPr>
              <a:t>own cloned voice</a:t>
            </a:r>
          </a:p>
        </p:txBody>
      </p:sp>
      <p:sp>
        <p:nvSpPr>
          <p:cNvPr id="14" name="TextBox 13"/>
          <p:cNvSpPr txBox="1"/>
          <p:nvPr/>
        </p:nvSpPr>
        <p:spPr>
          <a:xfrm>
            <a:off x="3582847" y="3145536"/>
            <a:ext cx="2266111" cy="274320"/>
          </a:xfrm>
          <a:prstGeom prst="rect">
            <a:avLst/>
          </a:prstGeom>
          <a:noFill/>
        </p:spPr>
        <p:txBody>
          <a:bodyPr wrap="square" lIns="0" tIns="0" rIns="0" bIns="0" anchor="t">
            <a:spAutoFit/>
          </a:bodyPr>
          <a:lstStyle/>
          <a:p>
            <a:pPr algn="l">
              <a:lnSpc>
                <a:spcPct val="115000"/>
              </a:lnSpc>
            </a:pPr>
            <a:r>
              <a:rPr sz="1050" b="1" i="0">
                <a:solidFill>
                  <a:srgbClr val="C62B2B"/>
                </a:solidFill>
                <a:latin typeface="Segoe UI"/>
              </a:rPr>
              <a:t>6.8 s</a:t>
            </a:r>
          </a:p>
        </p:txBody>
      </p:sp>
      <p:sp>
        <p:nvSpPr>
          <p:cNvPr id="15" name="Rounded Rectangle 14"/>
          <p:cNvSpPr/>
          <p:nvPr/>
        </p:nvSpPr>
        <p:spPr>
          <a:xfrm>
            <a:off x="6178142" y="1554480"/>
            <a:ext cx="2595295" cy="2011680"/>
          </a:xfrm>
          <a:prstGeom prst="roundRect">
            <a:avLst>
              <a:gd name="adj" fmla="val 6000"/>
            </a:avLst>
          </a:prstGeom>
          <a:solidFill>
            <a:srgbClr val="F2F4F7"/>
          </a:solidFill>
          <a:ln w="9525">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342734" y="1700784"/>
            <a:ext cx="2266111" cy="274320"/>
          </a:xfrm>
          <a:prstGeom prst="rect">
            <a:avLst/>
          </a:prstGeom>
          <a:noFill/>
        </p:spPr>
        <p:txBody>
          <a:bodyPr wrap="square" lIns="0" tIns="0" rIns="0" bIns="0" anchor="t">
            <a:spAutoFit/>
          </a:bodyPr>
          <a:lstStyle/>
          <a:p>
            <a:pPr algn="l">
              <a:lnSpc>
                <a:spcPct val="115000"/>
              </a:lnSpc>
            </a:pPr>
            <a:r>
              <a:rPr sz="1400" b="1" i="0">
                <a:solidFill>
                  <a:srgbClr val="142244"/>
                </a:solidFill>
                <a:latin typeface="Segoe UI"/>
              </a:rPr>
              <a:t>3 · Face</a:t>
            </a:r>
          </a:p>
        </p:txBody>
      </p:sp>
      <p:sp>
        <p:nvSpPr>
          <p:cNvPr id="17" name="TextBox 16"/>
          <p:cNvSpPr txBox="1"/>
          <p:nvPr/>
        </p:nvSpPr>
        <p:spPr>
          <a:xfrm>
            <a:off x="6342734" y="2011680"/>
            <a:ext cx="2266111" cy="237744"/>
          </a:xfrm>
          <a:prstGeom prst="rect">
            <a:avLst/>
          </a:prstGeom>
          <a:noFill/>
        </p:spPr>
        <p:txBody>
          <a:bodyPr wrap="square" lIns="0" tIns="0" rIns="0" bIns="0" anchor="t">
            <a:spAutoFit/>
          </a:bodyPr>
          <a:lstStyle/>
          <a:p>
            <a:pPr algn="l">
              <a:lnSpc>
                <a:spcPct val="115000"/>
              </a:lnSpc>
            </a:pPr>
            <a:r>
              <a:rPr sz="950" b="1" i="0">
                <a:solidFill>
                  <a:srgbClr val="A86400"/>
                </a:solidFill>
                <a:latin typeface="Segoe UI"/>
              </a:rPr>
              <a:t>LICENCE SWAP DUE</a:t>
            </a:r>
          </a:p>
        </p:txBody>
      </p:sp>
      <p:sp>
        <p:nvSpPr>
          <p:cNvPr id="18" name="TextBox 17"/>
          <p:cNvSpPr txBox="1"/>
          <p:nvPr/>
        </p:nvSpPr>
        <p:spPr>
          <a:xfrm>
            <a:off x="6342734" y="2340864"/>
            <a:ext cx="2266111" cy="822960"/>
          </a:xfrm>
          <a:prstGeom prst="rect">
            <a:avLst/>
          </a:prstGeom>
          <a:noFill/>
        </p:spPr>
        <p:txBody>
          <a:bodyPr wrap="square" lIns="0" tIns="0" rIns="0" bIns="0" anchor="t">
            <a:spAutoFit/>
          </a:bodyPr>
          <a:lstStyle/>
          <a:p>
            <a:pPr algn="l">
              <a:lnSpc>
                <a:spcPct val="115000"/>
              </a:lnSpc>
            </a:pPr>
            <a:r>
              <a:rPr sz="1100" b="0" i="0" dirty="0">
                <a:solidFill>
                  <a:srgbClr val="666E78"/>
                </a:solidFill>
                <a:latin typeface="Segoe UI"/>
              </a:rPr>
              <a:t>Lip-sync, blinking and head</a:t>
            </a:r>
          </a:p>
          <a:p>
            <a:pPr algn="l">
              <a:lnSpc>
                <a:spcPct val="115000"/>
              </a:lnSpc>
            </a:pPr>
            <a:r>
              <a:rPr sz="1100" b="0" i="0" dirty="0">
                <a:solidFill>
                  <a:srgbClr val="666E78"/>
                </a:solidFill>
                <a:latin typeface="Segoe UI"/>
              </a:rPr>
              <a:t>motion from one still photo</a:t>
            </a:r>
          </a:p>
        </p:txBody>
      </p:sp>
      <p:sp>
        <p:nvSpPr>
          <p:cNvPr id="19" name="TextBox 18"/>
          <p:cNvSpPr txBox="1"/>
          <p:nvPr/>
        </p:nvSpPr>
        <p:spPr>
          <a:xfrm>
            <a:off x="6342734" y="3145536"/>
            <a:ext cx="2266111" cy="274320"/>
          </a:xfrm>
          <a:prstGeom prst="rect">
            <a:avLst/>
          </a:prstGeom>
          <a:noFill/>
        </p:spPr>
        <p:txBody>
          <a:bodyPr wrap="square" lIns="0" tIns="0" rIns="0" bIns="0" anchor="t">
            <a:spAutoFit/>
          </a:bodyPr>
          <a:lstStyle/>
          <a:p>
            <a:pPr algn="l">
              <a:lnSpc>
                <a:spcPct val="115000"/>
              </a:lnSpc>
            </a:pPr>
            <a:r>
              <a:rPr sz="1050" b="1" i="0">
                <a:solidFill>
                  <a:srgbClr val="A86400"/>
                </a:solidFill>
                <a:latin typeface="Segoe UI"/>
              </a:rPr>
              <a:t>realtime</a:t>
            </a:r>
          </a:p>
        </p:txBody>
      </p:sp>
      <p:sp>
        <p:nvSpPr>
          <p:cNvPr id="20" name="Rounded Rectangle 19"/>
          <p:cNvSpPr/>
          <p:nvPr/>
        </p:nvSpPr>
        <p:spPr>
          <a:xfrm>
            <a:off x="8938029" y="1554480"/>
            <a:ext cx="2595295" cy="2011680"/>
          </a:xfrm>
          <a:prstGeom prst="roundRect">
            <a:avLst>
              <a:gd name="adj" fmla="val 6000"/>
            </a:avLst>
          </a:prstGeom>
          <a:solidFill>
            <a:srgbClr val="F2F4F7"/>
          </a:solidFill>
          <a:ln w="9525">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9102621" y="1700784"/>
            <a:ext cx="2266111" cy="274320"/>
          </a:xfrm>
          <a:prstGeom prst="rect">
            <a:avLst/>
          </a:prstGeom>
          <a:noFill/>
        </p:spPr>
        <p:txBody>
          <a:bodyPr wrap="square" lIns="0" tIns="0" rIns="0" bIns="0" anchor="t">
            <a:spAutoFit/>
          </a:bodyPr>
          <a:lstStyle/>
          <a:p>
            <a:pPr algn="l">
              <a:lnSpc>
                <a:spcPct val="115000"/>
              </a:lnSpc>
            </a:pPr>
            <a:r>
              <a:rPr sz="1400" b="1" i="0">
                <a:solidFill>
                  <a:srgbClr val="142244"/>
                </a:solidFill>
                <a:latin typeface="Segoe UI"/>
              </a:rPr>
              <a:t>4 · Broadcast</a:t>
            </a:r>
          </a:p>
        </p:txBody>
      </p:sp>
      <p:sp>
        <p:nvSpPr>
          <p:cNvPr id="22" name="TextBox 21"/>
          <p:cNvSpPr txBox="1"/>
          <p:nvPr/>
        </p:nvSpPr>
        <p:spPr>
          <a:xfrm>
            <a:off x="9102621" y="2011680"/>
            <a:ext cx="2266111" cy="237744"/>
          </a:xfrm>
          <a:prstGeom prst="rect">
            <a:avLst/>
          </a:prstGeom>
          <a:noFill/>
        </p:spPr>
        <p:txBody>
          <a:bodyPr wrap="square" lIns="0" tIns="0" rIns="0" bIns="0" anchor="t">
            <a:spAutoFit/>
          </a:bodyPr>
          <a:lstStyle/>
          <a:p>
            <a:pPr algn="l">
              <a:lnSpc>
                <a:spcPct val="115000"/>
              </a:lnSpc>
            </a:pPr>
            <a:r>
              <a:rPr sz="950" b="1" i="0">
                <a:solidFill>
                  <a:srgbClr val="0F8A4C"/>
                </a:solidFill>
                <a:latin typeface="Segoe UI"/>
              </a:rPr>
              <a:t>WORKING</a:t>
            </a:r>
          </a:p>
        </p:txBody>
      </p:sp>
      <p:sp>
        <p:nvSpPr>
          <p:cNvPr id="23" name="TextBox 22"/>
          <p:cNvSpPr txBox="1"/>
          <p:nvPr/>
        </p:nvSpPr>
        <p:spPr>
          <a:xfrm>
            <a:off x="9102621" y="2340864"/>
            <a:ext cx="2266111" cy="822960"/>
          </a:xfrm>
          <a:prstGeom prst="rect">
            <a:avLst/>
          </a:prstGeom>
          <a:noFill/>
        </p:spPr>
        <p:txBody>
          <a:bodyPr wrap="square" lIns="0" tIns="0" rIns="0" bIns="0" anchor="t">
            <a:spAutoFit/>
          </a:bodyPr>
          <a:lstStyle/>
          <a:p>
            <a:pPr algn="l">
              <a:lnSpc>
                <a:spcPct val="115000"/>
              </a:lnSpc>
            </a:pPr>
            <a:r>
              <a:rPr sz="1100" b="0" i="0" dirty="0">
                <a:solidFill>
                  <a:srgbClr val="666E78"/>
                </a:solidFill>
                <a:latin typeface="Segoe UI"/>
              </a:rPr>
              <a:t>WebRTC, OBS or RTMP</a:t>
            </a:r>
          </a:p>
          <a:p>
            <a:pPr algn="l">
              <a:lnSpc>
                <a:spcPct val="115000"/>
              </a:lnSpc>
            </a:pPr>
            <a:r>
              <a:rPr sz="1100" b="0" i="0" dirty="0">
                <a:solidFill>
                  <a:srgbClr val="666E78"/>
                </a:solidFill>
                <a:latin typeface="Segoe UI"/>
              </a:rPr>
              <a:t>out to the platform</a:t>
            </a:r>
          </a:p>
        </p:txBody>
      </p:sp>
      <p:sp>
        <p:nvSpPr>
          <p:cNvPr id="24" name="TextBox 23"/>
          <p:cNvSpPr txBox="1"/>
          <p:nvPr/>
        </p:nvSpPr>
        <p:spPr>
          <a:xfrm>
            <a:off x="9102621" y="3145536"/>
            <a:ext cx="2266111" cy="274320"/>
          </a:xfrm>
          <a:prstGeom prst="rect">
            <a:avLst/>
          </a:prstGeom>
          <a:noFill/>
        </p:spPr>
        <p:txBody>
          <a:bodyPr wrap="square" lIns="0" tIns="0" rIns="0" bIns="0" anchor="t">
            <a:spAutoFit/>
          </a:bodyPr>
          <a:lstStyle/>
          <a:p>
            <a:pPr algn="l">
              <a:lnSpc>
                <a:spcPct val="115000"/>
              </a:lnSpc>
            </a:pPr>
            <a:r>
              <a:rPr sz="1050" b="1" i="0">
                <a:solidFill>
                  <a:srgbClr val="0F8A4C"/>
                </a:solidFill>
                <a:latin typeface="Segoe UI"/>
              </a:rPr>
              <a:t>verified</a:t>
            </a:r>
          </a:p>
        </p:txBody>
      </p:sp>
      <p:sp>
        <p:nvSpPr>
          <p:cNvPr id="25" name="Rounded Rectangle 24"/>
          <p:cNvSpPr/>
          <p:nvPr/>
        </p:nvSpPr>
        <p:spPr>
          <a:xfrm>
            <a:off x="658368" y="3840480"/>
            <a:ext cx="10874959" cy="914400"/>
          </a:xfrm>
          <a:prstGeom prst="roundRect">
            <a:avLst>
              <a:gd name="adj" fmla="val 6000"/>
            </a:avLst>
          </a:prstGeom>
          <a:solidFill>
            <a:srgbClr val="FFFFFF"/>
          </a:solidFill>
          <a:ln w="9525">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877824" y="4041648"/>
            <a:ext cx="10417759" cy="210314"/>
          </a:xfrm>
          <a:prstGeom prst="rect">
            <a:avLst/>
          </a:prstGeom>
          <a:noFill/>
        </p:spPr>
        <p:txBody>
          <a:bodyPr wrap="square" lIns="0" tIns="0" rIns="0" bIns="0" anchor="t">
            <a:spAutoFit/>
          </a:bodyPr>
          <a:lstStyle/>
          <a:p>
            <a:pPr algn="l">
              <a:lnSpc>
                <a:spcPct val="115000"/>
              </a:lnSpc>
            </a:pPr>
            <a:r>
              <a:rPr sz="1300" b="1" i="0" dirty="0">
                <a:solidFill>
                  <a:srgbClr val="14171A"/>
                </a:solidFill>
                <a:latin typeface="Segoe UI"/>
              </a:rPr>
              <a:t>comment  →  brain (local LLM + rule guards)  →  voice  →  lip-sync  </a:t>
            </a:r>
          </a:p>
        </p:txBody>
      </p:sp>
      <p:sp>
        <p:nvSpPr>
          <p:cNvPr id="27" name="TextBox 26"/>
          <p:cNvSpPr txBox="1"/>
          <p:nvPr/>
        </p:nvSpPr>
        <p:spPr>
          <a:xfrm>
            <a:off x="658368" y="4956048"/>
            <a:ext cx="10874959" cy="1097280"/>
          </a:xfrm>
          <a:prstGeom prst="rect">
            <a:avLst/>
          </a:prstGeom>
          <a:noFill/>
        </p:spPr>
        <p:txBody>
          <a:bodyPr wrap="square" lIns="0" tIns="0" rIns="0" bIns="0" anchor="t">
            <a:spAutoFit/>
          </a:bodyPr>
          <a:lstStyle/>
          <a:p>
            <a:pPr algn="l">
              <a:lnSpc>
                <a:spcPct val="115000"/>
              </a:lnSpc>
            </a:pPr>
            <a:r>
              <a:rPr sz="1200" b="0" i="0">
                <a:solidFill>
                  <a:srgbClr val="666E78"/>
                </a:solidFill>
                <a:latin typeface="Segoe UI"/>
              </a:rPr>
              <a:t>One character profile is the single source of truth: personality, language, voice, face and selling role all read from it, so adding a character is adding a folder rather than writing code. The layers talk over HTTP because each engine pins conflicting libraries — which also means any one of them can be upgraded or replaced without touching the others.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420624"/>
            <a:ext cx="10874959" cy="237744"/>
          </a:xfrm>
          <a:prstGeom prst="rect">
            <a:avLst/>
          </a:prstGeom>
          <a:noFill/>
        </p:spPr>
        <p:txBody>
          <a:bodyPr wrap="square" lIns="0" tIns="0" rIns="0" bIns="0" anchor="t">
            <a:spAutoFit/>
          </a:bodyPr>
          <a:lstStyle/>
          <a:p>
            <a:pPr algn="l">
              <a:lnSpc>
                <a:spcPct val="115000"/>
              </a:lnSpc>
            </a:pPr>
            <a:r>
              <a:rPr sz="1100" b="1" i="0">
                <a:solidFill>
                  <a:srgbClr val="2F5FD0"/>
                </a:solidFill>
                <a:latin typeface="Segoe UI"/>
              </a:rPr>
              <a:t>WHAT IS PROVEN</a:t>
            </a:r>
          </a:p>
        </p:txBody>
      </p:sp>
      <p:sp>
        <p:nvSpPr>
          <p:cNvPr id="3" name="TextBox 2"/>
          <p:cNvSpPr txBox="1"/>
          <p:nvPr/>
        </p:nvSpPr>
        <p:spPr>
          <a:xfrm>
            <a:off x="658368" y="694944"/>
            <a:ext cx="10874959" cy="502920"/>
          </a:xfrm>
          <a:prstGeom prst="rect">
            <a:avLst/>
          </a:prstGeom>
          <a:noFill/>
        </p:spPr>
        <p:txBody>
          <a:bodyPr wrap="square" lIns="0" tIns="0" rIns="0" bIns="0" anchor="t">
            <a:spAutoFit/>
          </a:bodyPr>
          <a:lstStyle/>
          <a:p>
            <a:pPr algn="l">
              <a:lnSpc>
                <a:spcPct val="115000"/>
              </a:lnSpc>
            </a:pPr>
            <a:r>
              <a:rPr sz="2700" b="1" i="0">
                <a:solidFill>
                  <a:srgbClr val="142244"/>
                </a:solidFill>
                <a:latin typeface="Segoe UI"/>
              </a:rPr>
              <a:t>Verified by measurement, not by impression</a:t>
            </a:r>
          </a:p>
        </p:txBody>
      </p:sp>
      <p:sp>
        <p:nvSpPr>
          <p:cNvPr id="4" name="Rectangle 3"/>
          <p:cNvSpPr/>
          <p:nvPr/>
        </p:nvSpPr>
        <p:spPr>
          <a:xfrm>
            <a:off x="658368" y="1298448"/>
            <a:ext cx="10874959" cy="9525"/>
          </a:xfrm>
          <a:prstGeom prst="rect">
            <a:avLst/>
          </a:prstGeom>
          <a:solidFill>
            <a:srgbClr val="DD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extLst>
              <p:ext uri="{D42A27DB-BD31-4B8C-83A1-F6EECF244321}">
                <p14:modId xmlns:p14="http://schemas.microsoft.com/office/powerpoint/2010/main" val="3896330435"/>
              </p:ext>
            </p:extLst>
          </p:nvPr>
        </p:nvGraphicFramePr>
        <p:xfrm>
          <a:off x="658368" y="1481328"/>
          <a:ext cx="10872216" cy="4096512"/>
        </p:xfrm>
        <a:graphic>
          <a:graphicData uri="http://schemas.openxmlformats.org/drawingml/2006/table">
            <a:tbl>
              <a:tblPr firstRow="1" bandRow="1">
                <a:tableStyleId>{5C22544A-7EE6-4342-B048-85BDC9FD1C3A}</a:tableStyleId>
              </a:tblPr>
              <a:tblGrid>
                <a:gridCol w="3017520">
                  <a:extLst>
                    <a:ext uri="{9D8B030D-6E8A-4147-A177-3AD203B41FA5}">
                      <a16:colId xmlns:a16="http://schemas.microsoft.com/office/drawing/2014/main" val="20000"/>
                    </a:ext>
                  </a:extLst>
                </a:gridCol>
                <a:gridCol w="6309360">
                  <a:extLst>
                    <a:ext uri="{9D8B030D-6E8A-4147-A177-3AD203B41FA5}">
                      <a16:colId xmlns:a16="http://schemas.microsoft.com/office/drawing/2014/main" val="20001"/>
                    </a:ext>
                  </a:extLst>
                </a:gridCol>
                <a:gridCol w="1545336">
                  <a:extLst>
                    <a:ext uri="{9D8B030D-6E8A-4147-A177-3AD203B41FA5}">
                      <a16:colId xmlns:a16="http://schemas.microsoft.com/office/drawing/2014/main" val="20002"/>
                    </a:ext>
                  </a:extLst>
                </a:gridCol>
              </a:tblGrid>
              <a:tr h="512064">
                <a:tc>
                  <a:txBody>
                    <a:bodyPr/>
                    <a:lstStyle/>
                    <a:p>
                      <a:r>
                        <a:rPr sz="1050" b="1">
                          <a:solidFill>
                            <a:srgbClr val="FFFFFF"/>
                          </a:solidFill>
                          <a:latin typeface="Segoe UI"/>
                        </a:rPr>
                        <a:t>Claim</a:t>
                      </a:r>
                    </a:p>
                  </a:txBody>
                  <a:tcPr marL="82296" marR="64008" marT="27432" marB="27432" anchor="ctr">
                    <a:solidFill>
                      <a:srgbClr val="142244"/>
                    </a:solidFill>
                  </a:tcPr>
                </a:tc>
                <a:tc>
                  <a:txBody>
                    <a:bodyPr/>
                    <a:lstStyle/>
                    <a:p>
                      <a:r>
                        <a:rPr sz="1050" b="1">
                          <a:solidFill>
                            <a:srgbClr val="FFFFFF"/>
                          </a:solidFill>
                          <a:latin typeface="Segoe UI"/>
                        </a:rPr>
                        <a:t>Evidence</a:t>
                      </a:r>
                    </a:p>
                  </a:txBody>
                  <a:tcPr marL="82296" marR="64008" marT="27432" marB="27432" anchor="ctr">
                    <a:solidFill>
                      <a:srgbClr val="142244"/>
                    </a:solidFill>
                  </a:tcPr>
                </a:tc>
                <a:tc>
                  <a:txBody>
                    <a:bodyPr/>
                    <a:lstStyle/>
                    <a:p>
                      <a:r>
                        <a:rPr sz="1050" b="1">
                          <a:solidFill>
                            <a:srgbClr val="FFFFFF"/>
                          </a:solidFill>
                          <a:latin typeface="Segoe UI"/>
                        </a:rPr>
                        <a:t>Result</a:t>
                      </a:r>
                    </a:p>
                  </a:txBody>
                  <a:tcPr marL="82296" marR="64008" marT="27432" marB="27432" anchor="ctr">
                    <a:solidFill>
                      <a:srgbClr val="142244"/>
                    </a:solidFill>
                  </a:tcPr>
                </a:tc>
                <a:extLst>
                  <a:ext uri="{0D108BD9-81ED-4DB2-BD59-A6C34878D82A}">
                    <a16:rowId xmlns:a16="http://schemas.microsoft.com/office/drawing/2014/main" val="10000"/>
                  </a:ext>
                </a:extLst>
              </a:tr>
              <a:tr h="512064">
                <a:tc>
                  <a:txBody>
                    <a:bodyPr/>
                    <a:lstStyle/>
                    <a:p>
                      <a:r>
                        <a:rPr sz="1050" b="0">
                          <a:solidFill>
                            <a:srgbClr val="14171A"/>
                          </a:solidFill>
                          <a:latin typeface="Segoe UI"/>
                        </a:rPr>
                        <a:t>Five distinct cloned voices</a:t>
                      </a:r>
                    </a:p>
                  </a:txBody>
                  <a:tcPr marL="82296" marR="64008" marT="27432" marB="27432" anchor="ctr">
                    <a:solidFill>
                      <a:srgbClr val="FFFFFF"/>
                    </a:solidFill>
                  </a:tcPr>
                </a:tc>
                <a:tc>
                  <a:txBody>
                    <a:bodyPr/>
                    <a:lstStyle/>
                    <a:p>
                      <a:r>
                        <a:rPr sz="1050" b="0">
                          <a:solidFill>
                            <a:srgbClr val="14171A"/>
                          </a:solidFill>
                          <a:latin typeface="Segoe UI"/>
                        </a:rPr>
                        <a:t>Speaker verification: cross-character similarity 0.691 against a 0.919 same-speaker baseline</a:t>
                      </a:r>
                    </a:p>
                  </a:txBody>
                  <a:tcPr marL="82296" marR="64008" marT="27432" marB="27432" anchor="ctr">
                    <a:solidFill>
                      <a:srgbClr val="FFFFFF"/>
                    </a:solidFill>
                  </a:tcPr>
                </a:tc>
                <a:tc>
                  <a:txBody>
                    <a:bodyPr/>
                    <a:lstStyle/>
                    <a:p>
                      <a:r>
                        <a:rPr sz="1050" b="0">
                          <a:solidFill>
                            <a:srgbClr val="0F8A4C"/>
                          </a:solidFill>
                          <a:latin typeface="Segoe UI"/>
                        </a:rPr>
                        <a:t>Verified</a:t>
                      </a:r>
                    </a:p>
                  </a:txBody>
                  <a:tcPr marL="82296" marR="64008" marT="27432" marB="27432" anchor="ctr">
                    <a:solidFill>
                      <a:srgbClr val="FFFFFF"/>
                    </a:solidFill>
                  </a:tcPr>
                </a:tc>
                <a:extLst>
                  <a:ext uri="{0D108BD9-81ED-4DB2-BD59-A6C34878D82A}">
                    <a16:rowId xmlns:a16="http://schemas.microsoft.com/office/drawing/2014/main" val="10001"/>
                  </a:ext>
                </a:extLst>
              </a:tr>
              <a:tr h="512064">
                <a:tc>
                  <a:txBody>
                    <a:bodyPr/>
                    <a:lstStyle/>
                    <a:p>
                      <a:r>
                        <a:rPr sz="1050" b="0">
                          <a:solidFill>
                            <a:srgbClr val="14171A"/>
                          </a:solidFill>
                          <a:latin typeface="Segoe UI"/>
                        </a:rPr>
                        <a:t>Sofia's voice reaches human range</a:t>
                      </a:r>
                    </a:p>
                  </a:txBody>
                  <a:tcPr marL="82296" marR="64008" marT="27432" marB="27432" anchor="ctr">
                    <a:solidFill>
                      <a:srgbClr val="F2F4F7"/>
                    </a:solidFill>
                  </a:tcPr>
                </a:tc>
                <a:tc>
                  <a:txBody>
                    <a:bodyPr/>
                    <a:lstStyle/>
                    <a:p>
                      <a:r>
                        <a:rPr sz="1050" b="0">
                          <a:solidFill>
                            <a:srgbClr val="14171A"/>
                          </a:solidFill>
                          <a:latin typeface="Segoe UI"/>
                        </a:rPr>
                        <a:t>Pitch range 14.48 semitones vs 14.1 for the real human clip; the old flat voice was 10.43</a:t>
                      </a:r>
                    </a:p>
                  </a:txBody>
                  <a:tcPr marL="82296" marR="64008" marT="27432" marB="27432" anchor="ctr">
                    <a:solidFill>
                      <a:srgbClr val="F2F4F7"/>
                    </a:solidFill>
                  </a:tcPr>
                </a:tc>
                <a:tc>
                  <a:txBody>
                    <a:bodyPr/>
                    <a:lstStyle/>
                    <a:p>
                      <a:r>
                        <a:rPr sz="1050" b="0">
                          <a:solidFill>
                            <a:srgbClr val="0F8A4C"/>
                          </a:solidFill>
                          <a:latin typeface="Segoe UI"/>
                        </a:rPr>
                        <a:t>Verified</a:t>
                      </a:r>
                    </a:p>
                  </a:txBody>
                  <a:tcPr marL="82296" marR="64008" marT="27432" marB="27432" anchor="ctr">
                    <a:solidFill>
                      <a:srgbClr val="F2F4F7"/>
                    </a:solidFill>
                  </a:tcPr>
                </a:tc>
                <a:extLst>
                  <a:ext uri="{0D108BD9-81ED-4DB2-BD59-A6C34878D82A}">
                    <a16:rowId xmlns:a16="http://schemas.microsoft.com/office/drawing/2014/main" val="10002"/>
                  </a:ext>
                </a:extLst>
              </a:tr>
              <a:tr h="512064">
                <a:tc>
                  <a:txBody>
                    <a:bodyPr/>
                    <a:lstStyle/>
                    <a:p>
                      <a:r>
                        <a:rPr sz="1050" b="0">
                          <a:solidFill>
                            <a:srgbClr val="14171A"/>
                          </a:solidFill>
                          <a:latin typeface="Segoe UI"/>
                        </a:rPr>
                        <a:t>She says the words we gave her</a:t>
                      </a:r>
                    </a:p>
                  </a:txBody>
                  <a:tcPr marL="82296" marR="64008" marT="27432" marB="27432" anchor="ctr">
                    <a:solidFill>
                      <a:srgbClr val="FFFFFF"/>
                    </a:solidFill>
                  </a:tcPr>
                </a:tc>
                <a:tc>
                  <a:txBody>
                    <a:bodyPr/>
                    <a:lstStyle/>
                    <a:p>
                      <a:r>
                        <a:rPr sz="1050" b="0" dirty="0">
                          <a:solidFill>
                            <a:srgbClr val="14171A"/>
                          </a:solidFill>
                          <a:latin typeface="Segoe UI"/>
                        </a:rPr>
                        <a:t>Speech transcribed back by a separate </a:t>
                      </a:r>
                      <a:r>
                        <a:rPr sz="1050" b="0" dirty="0" err="1">
                          <a:solidFill>
                            <a:srgbClr val="14171A"/>
                          </a:solidFill>
                          <a:latin typeface="Segoe UI"/>
                        </a:rPr>
                        <a:t>recogniser</a:t>
                      </a:r>
                      <a:r>
                        <a:rPr sz="1050" b="0" dirty="0">
                          <a:solidFill>
                            <a:srgbClr val="14171A"/>
                          </a:solidFill>
                          <a:latin typeface="Segoe UI"/>
                        </a:rPr>
                        <a:t>: 98% word accuracy</a:t>
                      </a:r>
                    </a:p>
                  </a:txBody>
                  <a:tcPr marL="82296" marR="64008" marT="27432" marB="27432" anchor="ctr">
                    <a:solidFill>
                      <a:srgbClr val="FFFFFF"/>
                    </a:solidFill>
                  </a:tcPr>
                </a:tc>
                <a:tc>
                  <a:txBody>
                    <a:bodyPr/>
                    <a:lstStyle/>
                    <a:p>
                      <a:r>
                        <a:rPr sz="1050" b="0">
                          <a:solidFill>
                            <a:srgbClr val="0F8A4C"/>
                          </a:solidFill>
                          <a:latin typeface="Segoe UI"/>
                        </a:rPr>
                        <a:t>Verified</a:t>
                      </a:r>
                    </a:p>
                  </a:txBody>
                  <a:tcPr marL="82296" marR="64008" marT="27432" marB="27432" anchor="ctr">
                    <a:solidFill>
                      <a:srgbClr val="FFFFFF"/>
                    </a:solidFill>
                  </a:tcPr>
                </a:tc>
                <a:extLst>
                  <a:ext uri="{0D108BD9-81ED-4DB2-BD59-A6C34878D82A}">
                    <a16:rowId xmlns:a16="http://schemas.microsoft.com/office/drawing/2014/main" val="10003"/>
                  </a:ext>
                </a:extLst>
              </a:tr>
              <a:tr h="512064">
                <a:tc>
                  <a:txBody>
                    <a:bodyPr/>
                    <a:lstStyle/>
                    <a:p>
                      <a:r>
                        <a:rPr sz="1050" b="0">
                          <a:solidFill>
                            <a:srgbClr val="14171A"/>
                          </a:solidFill>
                          <a:latin typeface="Segoe UI"/>
                        </a:rPr>
                        <a:t>Safety rules hold</a:t>
                      </a:r>
                    </a:p>
                  </a:txBody>
                  <a:tcPr marL="82296" marR="64008" marT="27432" marB="27432" anchor="ctr">
                    <a:solidFill>
                      <a:srgbClr val="F2F4F7"/>
                    </a:solidFill>
                  </a:tcPr>
                </a:tc>
                <a:tc>
                  <a:txBody>
                    <a:bodyPr/>
                    <a:lstStyle/>
                    <a:p>
                      <a:r>
                        <a:rPr sz="1050" b="0">
                          <a:solidFill>
                            <a:srgbClr val="14171A"/>
                          </a:solidFill>
                          <a:latin typeface="Segoe UI"/>
                        </a:rPr>
                        <a:t>13-case battery: 9 that must be blocked, 4 that must NOT be — prices, links, medical claims, jailbreaks, denying being AI</a:t>
                      </a:r>
                    </a:p>
                  </a:txBody>
                  <a:tcPr marL="82296" marR="64008" marT="27432" marB="27432" anchor="ctr">
                    <a:solidFill>
                      <a:srgbClr val="F2F4F7"/>
                    </a:solidFill>
                  </a:tcPr>
                </a:tc>
                <a:tc>
                  <a:txBody>
                    <a:bodyPr/>
                    <a:lstStyle/>
                    <a:p>
                      <a:r>
                        <a:rPr sz="1050" b="0">
                          <a:solidFill>
                            <a:srgbClr val="0F8A4C"/>
                          </a:solidFill>
                          <a:latin typeface="Segoe UI"/>
                        </a:rPr>
                        <a:t>0 violations</a:t>
                      </a:r>
                    </a:p>
                  </a:txBody>
                  <a:tcPr marL="82296" marR="64008" marT="27432" marB="27432" anchor="ctr">
                    <a:solidFill>
                      <a:srgbClr val="F2F4F7"/>
                    </a:solidFill>
                  </a:tcPr>
                </a:tc>
                <a:extLst>
                  <a:ext uri="{0D108BD9-81ED-4DB2-BD59-A6C34878D82A}">
                    <a16:rowId xmlns:a16="http://schemas.microsoft.com/office/drawing/2014/main" val="10004"/>
                  </a:ext>
                </a:extLst>
              </a:tr>
              <a:tr h="512064">
                <a:tc>
                  <a:txBody>
                    <a:bodyPr/>
                    <a:lstStyle/>
                    <a:p>
                      <a:r>
                        <a:rPr sz="1050" b="0">
                          <a:solidFill>
                            <a:srgbClr val="14171A"/>
                          </a:solidFill>
                          <a:latin typeface="Segoe UI"/>
                        </a:rPr>
                        <a:t>A human approves before anything is sent</a:t>
                      </a:r>
                    </a:p>
                  </a:txBody>
                  <a:tcPr marL="82296" marR="64008" marT="27432" marB="27432" anchor="ctr">
                    <a:solidFill>
                      <a:srgbClr val="FFFFFF"/>
                    </a:solidFill>
                  </a:tcPr>
                </a:tc>
                <a:tc>
                  <a:txBody>
                    <a:bodyPr/>
                    <a:lstStyle/>
                    <a:p>
                      <a:r>
                        <a:rPr sz="1050" b="0">
                          <a:solidFill>
                            <a:srgbClr val="14171A"/>
                          </a:solidFill>
                          <a:latin typeface="Segoe UI"/>
                        </a:rPr>
                        <a:t>Draft → review → approve/edit/reject. A human-edited reply is re-checked too</a:t>
                      </a:r>
                    </a:p>
                  </a:txBody>
                  <a:tcPr marL="82296" marR="64008" marT="27432" marB="27432" anchor="ctr">
                    <a:solidFill>
                      <a:srgbClr val="FFFFFF"/>
                    </a:solidFill>
                  </a:tcPr>
                </a:tc>
                <a:tc>
                  <a:txBody>
                    <a:bodyPr/>
                    <a:lstStyle/>
                    <a:p>
                      <a:r>
                        <a:rPr sz="1050" b="0">
                          <a:solidFill>
                            <a:srgbClr val="0F8A4C"/>
                          </a:solidFill>
                          <a:latin typeface="Segoe UI"/>
                        </a:rPr>
                        <a:t>Enforced</a:t>
                      </a:r>
                    </a:p>
                  </a:txBody>
                  <a:tcPr marL="82296" marR="64008" marT="27432" marB="27432" anchor="ctr">
                    <a:solidFill>
                      <a:srgbClr val="FFFFFF"/>
                    </a:solidFill>
                  </a:tcPr>
                </a:tc>
                <a:extLst>
                  <a:ext uri="{0D108BD9-81ED-4DB2-BD59-A6C34878D82A}">
                    <a16:rowId xmlns:a16="http://schemas.microsoft.com/office/drawing/2014/main" val="10005"/>
                  </a:ext>
                </a:extLst>
              </a:tr>
              <a:tr h="51206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050" b="0" dirty="0">
                          <a:solidFill>
                            <a:srgbClr val="14171A"/>
                          </a:solidFill>
                          <a:latin typeface="Segoe UI"/>
                        </a:rPr>
                        <a:t>It fits the current GPU</a:t>
                      </a:r>
                    </a:p>
                    <a:p>
                      <a:endParaRPr sz="1050" b="0" dirty="0">
                        <a:solidFill>
                          <a:srgbClr val="14171A"/>
                        </a:solidFill>
                        <a:latin typeface="Segoe UI"/>
                      </a:endParaRPr>
                    </a:p>
                  </a:txBody>
                  <a:tcPr marL="82296" marR="64008" marT="27432" marB="27432" anchor="ctr">
                    <a:solidFill>
                      <a:srgbClr val="F2F4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050" b="0" dirty="0">
                          <a:solidFill>
                            <a:srgbClr val="14171A"/>
                          </a:solidFill>
                          <a:latin typeface="Segoe UI"/>
                        </a:rPr>
                        <a:t>Voice and avatar resident together: 5,287 MiB used, 6,657 MiB free</a:t>
                      </a:r>
                    </a:p>
                    <a:p>
                      <a:endParaRPr sz="1050" b="0" dirty="0">
                        <a:solidFill>
                          <a:srgbClr val="14171A"/>
                        </a:solidFill>
                        <a:latin typeface="Segoe UI"/>
                      </a:endParaRPr>
                    </a:p>
                  </a:txBody>
                  <a:tcPr marL="82296" marR="64008" marT="27432" marB="27432" anchor="ctr">
                    <a:solidFill>
                      <a:srgbClr val="F2F4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050" b="0" dirty="0">
                          <a:solidFill>
                            <a:srgbClr val="0F8A4C"/>
                          </a:solidFill>
                          <a:latin typeface="Segoe UI"/>
                        </a:rPr>
                        <a:t>Verified</a:t>
                      </a:r>
                    </a:p>
                    <a:p>
                      <a:endParaRPr sz="1050" b="0" dirty="0">
                        <a:solidFill>
                          <a:srgbClr val="0F8A4C"/>
                        </a:solidFill>
                        <a:latin typeface="Segoe UI"/>
                      </a:endParaRPr>
                    </a:p>
                  </a:txBody>
                  <a:tcPr marL="82296" marR="64008" marT="27432" marB="27432" anchor="ctr">
                    <a:solidFill>
                      <a:srgbClr val="F2F4F7"/>
                    </a:solidFill>
                  </a:tcPr>
                </a:tc>
                <a:extLst>
                  <a:ext uri="{0D108BD9-81ED-4DB2-BD59-A6C34878D82A}">
                    <a16:rowId xmlns:a16="http://schemas.microsoft.com/office/drawing/2014/main" val="10006"/>
                  </a:ext>
                </a:extLst>
              </a:tr>
              <a:tr h="512064">
                <a:tc>
                  <a:txBody>
                    <a:bodyPr/>
                    <a:lstStyle/>
                    <a:p>
                      <a:endParaRPr sz="1050" b="0" dirty="0">
                        <a:solidFill>
                          <a:srgbClr val="14171A"/>
                        </a:solidFill>
                        <a:latin typeface="Segoe UI"/>
                      </a:endParaRPr>
                    </a:p>
                  </a:txBody>
                  <a:tcPr marL="82296" marR="64008" marT="27432" marB="27432" anchor="ctr">
                    <a:solidFill>
                      <a:srgbClr val="FFFFFF"/>
                    </a:solidFill>
                  </a:tcPr>
                </a:tc>
                <a:tc>
                  <a:txBody>
                    <a:bodyPr/>
                    <a:lstStyle/>
                    <a:p>
                      <a:endParaRPr sz="1050" b="0" dirty="0">
                        <a:solidFill>
                          <a:srgbClr val="14171A"/>
                        </a:solidFill>
                        <a:latin typeface="Segoe UI"/>
                      </a:endParaRPr>
                    </a:p>
                  </a:txBody>
                  <a:tcPr marL="82296" marR="64008" marT="27432" marB="27432" anchor="ctr">
                    <a:solidFill>
                      <a:srgbClr val="FFFFFF"/>
                    </a:solidFill>
                  </a:tcPr>
                </a:tc>
                <a:tc>
                  <a:txBody>
                    <a:bodyPr/>
                    <a:lstStyle/>
                    <a:p>
                      <a:endParaRPr sz="1050" b="0" dirty="0">
                        <a:solidFill>
                          <a:srgbClr val="0F8A4C"/>
                        </a:solidFill>
                        <a:latin typeface="Segoe UI"/>
                      </a:endParaRPr>
                    </a:p>
                  </a:txBody>
                  <a:tcPr marL="82296" marR="64008" marT="27432" marB="27432" anchor="ct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420624"/>
            <a:ext cx="10874959" cy="237744"/>
          </a:xfrm>
          <a:prstGeom prst="rect">
            <a:avLst/>
          </a:prstGeom>
          <a:noFill/>
        </p:spPr>
        <p:txBody>
          <a:bodyPr wrap="square" lIns="0" tIns="0" rIns="0" bIns="0" anchor="t">
            <a:spAutoFit/>
          </a:bodyPr>
          <a:lstStyle/>
          <a:p>
            <a:pPr algn="l">
              <a:lnSpc>
                <a:spcPct val="115000"/>
              </a:lnSpc>
            </a:pPr>
            <a:r>
              <a:rPr sz="1100" b="1" i="0">
                <a:solidFill>
                  <a:srgbClr val="2F5FD0"/>
                </a:solidFill>
                <a:latin typeface="Segoe UI"/>
              </a:rPr>
              <a:t>PROBLEM 1</a:t>
            </a:r>
          </a:p>
        </p:txBody>
      </p:sp>
      <p:sp>
        <p:nvSpPr>
          <p:cNvPr id="3" name="TextBox 2"/>
          <p:cNvSpPr txBox="1"/>
          <p:nvPr/>
        </p:nvSpPr>
        <p:spPr>
          <a:xfrm>
            <a:off x="658368" y="694944"/>
            <a:ext cx="10874959" cy="502920"/>
          </a:xfrm>
          <a:prstGeom prst="rect">
            <a:avLst/>
          </a:prstGeom>
          <a:noFill/>
        </p:spPr>
        <p:txBody>
          <a:bodyPr wrap="square" lIns="0" tIns="0" rIns="0" bIns="0" anchor="t">
            <a:spAutoFit/>
          </a:bodyPr>
          <a:lstStyle/>
          <a:p>
            <a:pPr algn="l">
              <a:lnSpc>
                <a:spcPct val="115000"/>
              </a:lnSpc>
            </a:pPr>
            <a:r>
              <a:rPr sz="2700" b="1" i="0">
                <a:solidFill>
                  <a:srgbClr val="142244"/>
                </a:solidFill>
                <a:latin typeface="Segoe UI"/>
              </a:rPr>
              <a:t>Her replies are stiff, and not yet interesting</a:t>
            </a:r>
          </a:p>
        </p:txBody>
      </p:sp>
      <p:sp>
        <p:nvSpPr>
          <p:cNvPr id="4" name="Rectangle 3"/>
          <p:cNvSpPr/>
          <p:nvPr/>
        </p:nvSpPr>
        <p:spPr>
          <a:xfrm>
            <a:off x="658368" y="1298448"/>
            <a:ext cx="10874959" cy="9525"/>
          </a:xfrm>
          <a:prstGeom prst="rect">
            <a:avLst/>
          </a:prstGeom>
          <a:solidFill>
            <a:srgbClr val="DD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444752"/>
            <a:ext cx="10874959" cy="365760"/>
          </a:xfrm>
          <a:prstGeom prst="rect">
            <a:avLst/>
          </a:prstGeom>
          <a:noFill/>
        </p:spPr>
        <p:txBody>
          <a:bodyPr wrap="square" lIns="0" tIns="0" rIns="0" bIns="0" anchor="t">
            <a:spAutoFit/>
          </a:bodyPr>
          <a:lstStyle/>
          <a:p>
            <a:pPr algn="l">
              <a:lnSpc>
                <a:spcPct val="115000"/>
              </a:lnSpc>
            </a:pPr>
            <a:r>
              <a:rPr sz="1250" b="0" i="0">
                <a:solidFill>
                  <a:srgbClr val="666E78"/>
                </a:solidFill>
                <a:latin typeface="Segoe UI"/>
              </a:rPr>
              <a:t>Five separate causes. Fixing any one of them alone will not move it:</a:t>
            </a:r>
          </a:p>
        </p:txBody>
      </p:sp>
      <p:sp>
        <p:nvSpPr>
          <p:cNvPr id="6" name="Rounded Rectangle 5"/>
          <p:cNvSpPr/>
          <p:nvPr/>
        </p:nvSpPr>
        <p:spPr>
          <a:xfrm>
            <a:off x="658368" y="1883664"/>
            <a:ext cx="10874959" cy="786384"/>
          </a:xfrm>
          <a:prstGeom prst="roundRect">
            <a:avLst>
              <a:gd name="adj" fmla="val 6000"/>
            </a:avLst>
          </a:prstGeom>
          <a:solidFill>
            <a:srgbClr val="FFFFFF"/>
          </a:solidFill>
          <a:ln w="9525">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822960" y="2185416"/>
            <a:ext cx="118872" cy="118872"/>
          </a:xfrm>
          <a:prstGeom prst="ellipse">
            <a:avLst/>
          </a:prstGeom>
          <a:solidFill>
            <a:srgbClr val="C6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1984248"/>
            <a:ext cx="10234879" cy="256032"/>
          </a:xfrm>
          <a:prstGeom prst="rect">
            <a:avLst/>
          </a:prstGeom>
          <a:noFill/>
        </p:spPr>
        <p:txBody>
          <a:bodyPr wrap="square" lIns="0" tIns="0" rIns="0" bIns="0" anchor="t">
            <a:spAutoFit/>
          </a:bodyPr>
          <a:lstStyle/>
          <a:p>
            <a:pPr algn="l">
              <a:lnSpc>
                <a:spcPct val="115000"/>
              </a:lnSpc>
            </a:pPr>
            <a:r>
              <a:rPr sz="1250" b="1" i="0">
                <a:solidFill>
                  <a:srgbClr val="142244"/>
                </a:solidFill>
                <a:latin typeface="Segoe UI"/>
              </a:rPr>
              <a:t>a · The 7B model has a ceiling</a:t>
            </a:r>
          </a:p>
        </p:txBody>
      </p:sp>
      <p:sp>
        <p:nvSpPr>
          <p:cNvPr id="9" name="TextBox 8"/>
          <p:cNvSpPr txBox="1"/>
          <p:nvPr/>
        </p:nvSpPr>
        <p:spPr>
          <a:xfrm>
            <a:off x="1097280" y="2267712"/>
            <a:ext cx="10189159" cy="365760"/>
          </a:xfrm>
          <a:prstGeom prst="rect">
            <a:avLst/>
          </a:prstGeom>
          <a:noFill/>
        </p:spPr>
        <p:txBody>
          <a:bodyPr wrap="square" lIns="0" tIns="0" rIns="0" bIns="0" anchor="t">
            <a:spAutoFit/>
          </a:bodyPr>
          <a:lstStyle/>
          <a:p>
            <a:pPr algn="l">
              <a:lnSpc>
                <a:spcPct val="115000"/>
              </a:lnSpc>
            </a:pPr>
            <a:r>
              <a:rPr sz="1050" b="0" i="0">
                <a:solidFill>
                  <a:srgbClr val="666E78"/>
                </a:solidFill>
                <a:latin typeface="Segoe UI"/>
              </a:rPr>
              <a:t>Given every rule explicitly in its prompt, it still greeted a fan again mid-conversation on 2 turns out of 4 and signed off with an offer of further help on 1 of 4. It writes the right reply about half the time.</a:t>
            </a:r>
          </a:p>
        </p:txBody>
      </p:sp>
      <p:sp>
        <p:nvSpPr>
          <p:cNvPr id="10" name="Rounded Rectangle 9"/>
          <p:cNvSpPr/>
          <p:nvPr/>
        </p:nvSpPr>
        <p:spPr>
          <a:xfrm>
            <a:off x="658368" y="2752344"/>
            <a:ext cx="10874959" cy="786384"/>
          </a:xfrm>
          <a:prstGeom prst="roundRect">
            <a:avLst>
              <a:gd name="adj" fmla="val 6000"/>
            </a:avLst>
          </a:prstGeom>
          <a:solidFill>
            <a:srgbClr val="FFFFFF"/>
          </a:solidFill>
          <a:ln w="9525">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822960" y="3054096"/>
            <a:ext cx="118872" cy="118872"/>
          </a:xfrm>
          <a:prstGeom prst="ellipse">
            <a:avLst/>
          </a:prstGeom>
          <a:solidFill>
            <a:srgbClr val="C6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97280" y="2852928"/>
            <a:ext cx="10234879" cy="256032"/>
          </a:xfrm>
          <a:prstGeom prst="rect">
            <a:avLst/>
          </a:prstGeom>
          <a:noFill/>
        </p:spPr>
        <p:txBody>
          <a:bodyPr wrap="square" lIns="0" tIns="0" rIns="0" bIns="0" anchor="t">
            <a:spAutoFit/>
          </a:bodyPr>
          <a:lstStyle/>
          <a:p>
            <a:pPr algn="l">
              <a:lnSpc>
                <a:spcPct val="115000"/>
              </a:lnSpc>
            </a:pPr>
            <a:r>
              <a:rPr sz="1250" b="1" i="0">
                <a:solidFill>
                  <a:srgbClr val="142244"/>
                </a:solidFill>
                <a:latin typeface="Segoe UI"/>
              </a:rPr>
              <a:t>b · The training data is distilled from itself — the root cause</a:t>
            </a:r>
          </a:p>
        </p:txBody>
      </p:sp>
      <p:sp>
        <p:nvSpPr>
          <p:cNvPr id="13" name="TextBox 12"/>
          <p:cNvSpPr txBox="1"/>
          <p:nvPr/>
        </p:nvSpPr>
        <p:spPr>
          <a:xfrm>
            <a:off x="1097280" y="3136392"/>
            <a:ext cx="10189159" cy="365760"/>
          </a:xfrm>
          <a:prstGeom prst="rect">
            <a:avLst/>
          </a:prstGeom>
          <a:noFill/>
        </p:spPr>
        <p:txBody>
          <a:bodyPr wrap="square" lIns="0" tIns="0" rIns="0" bIns="0" anchor="t">
            <a:spAutoFit/>
          </a:bodyPr>
          <a:lstStyle/>
          <a:p>
            <a:pPr algn="l">
              <a:lnSpc>
                <a:spcPct val="115000"/>
              </a:lnSpc>
            </a:pPr>
            <a:r>
              <a:rPr sz="1050" b="0" i="0">
                <a:solidFill>
                  <a:srgbClr val="666E78"/>
                </a:solidFill>
                <a:latin typeface="Segoe UI"/>
              </a:rPr>
              <a:t>The 303 training examples are the same 7B model's own answers, filtered to the ones that obeyed. That fixes habits (92% vs 83%) but cannot add wit the base model does not have. This is the current quality ceiling.</a:t>
            </a:r>
          </a:p>
        </p:txBody>
      </p:sp>
      <p:sp>
        <p:nvSpPr>
          <p:cNvPr id="14" name="Rounded Rectangle 13"/>
          <p:cNvSpPr/>
          <p:nvPr/>
        </p:nvSpPr>
        <p:spPr>
          <a:xfrm>
            <a:off x="658368" y="3621024"/>
            <a:ext cx="10874959" cy="786384"/>
          </a:xfrm>
          <a:prstGeom prst="roundRect">
            <a:avLst>
              <a:gd name="adj" fmla="val 6000"/>
            </a:avLst>
          </a:prstGeom>
          <a:solidFill>
            <a:srgbClr val="FFFFFF"/>
          </a:solidFill>
          <a:ln w="9525">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822960" y="3922776"/>
            <a:ext cx="118872" cy="118872"/>
          </a:xfrm>
          <a:prstGeom prst="ellipse">
            <a:avLst/>
          </a:prstGeom>
          <a:solidFill>
            <a:srgbClr val="A86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97280" y="3721608"/>
            <a:ext cx="10234879" cy="256032"/>
          </a:xfrm>
          <a:prstGeom prst="rect">
            <a:avLst/>
          </a:prstGeom>
          <a:noFill/>
        </p:spPr>
        <p:txBody>
          <a:bodyPr wrap="square" lIns="0" tIns="0" rIns="0" bIns="0" anchor="t">
            <a:spAutoFit/>
          </a:bodyPr>
          <a:lstStyle/>
          <a:p>
            <a:pPr algn="l">
              <a:lnSpc>
                <a:spcPct val="115000"/>
              </a:lnSpc>
            </a:pPr>
            <a:r>
              <a:rPr sz="1250" b="1" i="0">
                <a:solidFill>
                  <a:srgbClr val="142244"/>
                </a:solidFill>
                <a:latin typeface="Segoe UI"/>
              </a:rPr>
              <a:t>c · The safety guards push toward bland</a:t>
            </a:r>
          </a:p>
        </p:txBody>
      </p:sp>
      <p:sp>
        <p:nvSpPr>
          <p:cNvPr id="17" name="TextBox 16"/>
          <p:cNvSpPr txBox="1"/>
          <p:nvPr/>
        </p:nvSpPr>
        <p:spPr>
          <a:xfrm>
            <a:off x="1097280" y="4005072"/>
            <a:ext cx="10189159" cy="365760"/>
          </a:xfrm>
          <a:prstGeom prst="rect">
            <a:avLst/>
          </a:prstGeom>
          <a:noFill/>
        </p:spPr>
        <p:txBody>
          <a:bodyPr wrap="square" lIns="0" tIns="0" rIns="0" bIns="0" anchor="t">
            <a:spAutoFit/>
          </a:bodyPr>
          <a:lstStyle/>
          <a:p>
            <a:pPr algn="l">
              <a:lnSpc>
                <a:spcPct val="115000"/>
              </a:lnSpc>
            </a:pPr>
            <a:r>
              <a:rPr sz="1050" b="0" i="0">
                <a:solidFill>
                  <a:srgbClr val="666E78"/>
                </a:solidFill>
                <a:latin typeface="Segoe UI"/>
              </a:rPr>
              <a:t>Break a rule twice and she speaks a safe fallback line — which is the most evasive sentence in the system. Observed: a viewer asked for a story about her day and was told "let me double-check that before I answer".</a:t>
            </a:r>
          </a:p>
        </p:txBody>
      </p:sp>
      <p:sp>
        <p:nvSpPr>
          <p:cNvPr id="18" name="Rounded Rectangle 17"/>
          <p:cNvSpPr/>
          <p:nvPr/>
        </p:nvSpPr>
        <p:spPr>
          <a:xfrm>
            <a:off x="658368" y="4489704"/>
            <a:ext cx="10874959" cy="786384"/>
          </a:xfrm>
          <a:prstGeom prst="roundRect">
            <a:avLst>
              <a:gd name="adj" fmla="val 6000"/>
            </a:avLst>
          </a:prstGeom>
          <a:solidFill>
            <a:srgbClr val="FFFFFF"/>
          </a:solidFill>
          <a:ln w="9525">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822960" y="4791456"/>
            <a:ext cx="118872" cy="118872"/>
          </a:xfrm>
          <a:prstGeom prst="ellipse">
            <a:avLst/>
          </a:prstGeom>
          <a:solidFill>
            <a:srgbClr val="A86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97280" y="4590288"/>
            <a:ext cx="10234879" cy="256032"/>
          </a:xfrm>
          <a:prstGeom prst="rect">
            <a:avLst/>
          </a:prstGeom>
          <a:noFill/>
        </p:spPr>
        <p:txBody>
          <a:bodyPr wrap="square" lIns="0" tIns="0" rIns="0" bIns="0" anchor="t">
            <a:spAutoFit/>
          </a:bodyPr>
          <a:lstStyle/>
          <a:p>
            <a:pPr algn="l">
              <a:lnSpc>
                <a:spcPct val="115000"/>
              </a:lnSpc>
            </a:pPr>
            <a:r>
              <a:rPr sz="1250" b="1" i="0">
                <a:solidFill>
                  <a:srgbClr val="142244"/>
                </a:solidFill>
                <a:latin typeface="Segoe UI"/>
              </a:rPr>
              <a:t>d · She has no life to talk about</a:t>
            </a:r>
          </a:p>
        </p:txBody>
      </p:sp>
      <p:sp>
        <p:nvSpPr>
          <p:cNvPr id="21" name="TextBox 20"/>
          <p:cNvSpPr txBox="1"/>
          <p:nvPr/>
        </p:nvSpPr>
        <p:spPr>
          <a:xfrm>
            <a:off x="1097280" y="4873752"/>
            <a:ext cx="10189159" cy="365760"/>
          </a:xfrm>
          <a:prstGeom prst="rect">
            <a:avLst/>
          </a:prstGeom>
          <a:noFill/>
        </p:spPr>
        <p:txBody>
          <a:bodyPr wrap="square" lIns="0" tIns="0" rIns="0" bIns="0" anchor="t">
            <a:spAutoFit/>
          </a:bodyPr>
          <a:lstStyle/>
          <a:p>
            <a:pPr algn="l">
              <a:lnSpc>
                <a:spcPct val="115000"/>
              </a:lnSpc>
            </a:pPr>
            <a:r>
              <a:rPr sz="1050" b="0" i="0">
                <a:solidFill>
                  <a:srgbClr val="666E78"/>
                </a:solidFill>
                <a:latin typeface="Segoe UI"/>
              </a:rPr>
              <a:t>What separates a person's answer from a model's is a concrete detail. The mechanism exists (life threads, per-fan memory); what is fed into it is thin.</a:t>
            </a:r>
          </a:p>
        </p:txBody>
      </p:sp>
      <p:sp>
        <p:nvSpPr>
          <p:cNvPr id="22" name="Rounded Rectangle 21"/>
          <p:cNvSpPr/>
          <p:nvPr/>
        </p:nvSpPr>
        <p:spPr>
          <a:xfrm>
            <a:off x="658368" y="5358384"/>
            <a:ext cx="10874959" cy="786384"/>
          </a:xfrm>
          <a:prstGeom prst="roundRect">
            <a:avLst>
              <a:gd name="adj" fmla="val 6000"/>
            </a:avLst>
          </a:prstGeom>
          <a:solidFill>
            <a:srgbClr val="FFFFFF"/>
          </a:solidFill>
          <a:ln w="9525">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822960" y="5660136"/>
            <a:ext cx="118872" cy="118872"/>
          </a:xfrm>
          <a:prstGeom prst="ellipse">
            <a:avLst/>
          </a:prstGeom>
          <a:solidFill>
            <a:srgbClr val="A86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97280" y="5458968"/>
            <a:ext cx="10234879" cy="256032"/>
          </a:xfrm>
          <a:prstGeom prst="rect">
            <a:avLst/>
          </a:prstGeom>
          <a:noFill/>
        </p:spPr>
        <p:txBody>
          <a:bodyPr wrap="square" lIns="0" tIns="0" rIns="0" bIns="0" anchor="t">
            <a:spAutoFit/>
          </a:bodyPr>
          <a:lstStyle/>
          <a:p>
            <a:pPr algn="l">
              <a:lnSpc>
                <a:spcPct val="115000"/>
              </a:lnSpc>
            </a:pPr>
            <a:r>
              <a:rPr sz="1250" b="1" i="0">
                <a:solidFill>
                  <a:srgbClr val="142244"/>
                </a:solidFill>
                <a:latin typeface="Segoe UI"/>
              </a:rPr>
              <a:t>e · Nobody has judged it by ear</a:t>
            </a:r>
          </a:p>
        </p:txBody>
      </p:sp>
      <p:sp>
        <p:nvSpPr>
          <p:cNvPr id="25" name="TextBox 24"/>
          <p:cNvSpPr txBox="1"/>
          <p:nvPr/>
        </p:nvSpPr>
        <p:spPr>
          <a:xfrm>
            <a:off x="1097280" y="5742432"/>
            <a:ext cx="10189159" cy="365760"/>
          </a:xfrm>
          <a:prstGeom prst="rect">
            <a:avLst/>
          </a:prstGeom>
          <a:noFill/>
        </p:spPr>
        <p:txBody>
          <a:bodyPr wrap="square" lIns="0" tIns="0" rIns="0" bIns="0" anchor="t">
            <a:spAutoFit/>
          </a:bodyPr>
          <a:lstStyle/>
          <a:p>
            <a:pPr algn="l">
              <a:lnSpc>
                <a:spcPct val="115000"/>
              </a:lnSpc>
            </a:pPr>
            <a:r>
              <a:rPr sz="1050" b="0" i="0">
                <a:solidFill>
                  <a:srgbClr val="666E78"/>
                </a:solidFill>
                <a:latin typeface="Segoe UI"/>
              </a:rPr>
              <a:t>Every quality number today comes from an automatic judge built from the same rules used to filter the training data. It measures rule-breaking, not charm.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420624"/>
            <a:ext cx="10874959" cy="237744"/>
          </a:xfrm>
          <a:prstGeom prst="rect">
            <a:avLst/>
          </a:prstGeom>
          <a:noFill/>
        </p:spPr>
        <p:txBody>
          <a:bodyPr wrap="square" lIns="0" tIns="0" rIns="0" bIns="0" anchor="t">
            <a:spAutoFit/>
          </a:bodyPr>
          <a:lstStyle/>
          <a:p>
            <a:pPr algn="l">
              <a:lnSpc>
                <a:spcPct val="115000"/>
              </a:lnSpc>
            </a:pPr>
            <a:r>
              <a:rPr sz="1100" b="1" i="0">
                <a:solidFill>
                  <a:srgbClr val="2F5FD0"/>
                </a:solidFill>
                <a:latin typeface="Segoe UI"/>
              </a:rPr>
              <a:t>PROBLEM 2</a:t>
            </a:r>
          </a:p>
        </p:txBody>
      </p:sp>
      <p:sp>
        <p:nvSpPr>
          <p:cNvPr id="3" name="TextBox 2"/>
          <p:cNvSpPr txBox="1"/>
          <p:nvPr/>
        </p:nvSpPr>
        <p:spPr>
          <a:xfrm>
            <a:off x="658368" y="694944"/>
            <a:ext cx="10874959" cy="502920"/>
          </a:xfrm>
          <a:prstGeom prst="rect">
            <a:avLst/>
          </a:prstGeom>
          <a:noFill/>
        </p:spPr>
        <p:txBody>
          <a:bodyPr wrap="square" lIns="0" tIns="0" rIns="0" bIns="0" anchor="t">
            <a:spAutoFit/>
          </a:bodyPr>
          <a:lstStyle/>
          <a:p>
            <a:pPr algn="l">
              <a:lnSpc>
                <a:spcPct val="115000"/>
              </a:lnSpc>
            </a:pPr>
            <a:r>
              <a:rPr sz="2700" b="1" i="0">
                <a:solidFill>
                  <a:srgbClr val="142244"/>
                </a:solidFill>
                <a:latin typeface="Segoe UI"/>
              </a:rPr>
              <a:t>She takes 7.6 seconds to answer — and it is not the thinking</a:t>
            </a:r>
          </a:p>
        </p:txBody>
      </p:sp>
      <p:sp>
        <p:nvSpPr>
          <p:cNvPr id="4" name="Rectangle 3"/>
          <p:cNvSpPr/>
          <p:nvPr/>
        </p:nvSpPr>
        <p:spPr>
          <a:xfrm>
            <a:off x="658368" y="1298448"/>
            <a:ext cx="10874959" cy="9525"/>
          </a:xfrm>
          <a:prstGeom prst="rect">
            <a:avLst/>
          </a:prstGeom>
          <a:solidFill>
            <a:srgbClr val="DD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572768"/>
            <a:ext cx="1144732" cy="56692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803100" y="1572768"/>
            <a:ext cx="9730227" cy="566928"/>
          </a:xfrm>
          <a:prstGeom prst="rect">
            <a:avLst/>
          </a:prstGeom>
          <a:solidFill>
            <a:srgbClr val="C6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967692" y="1719072"/>
            <a:ext cx="5486400" cy="310896"/>
          </a:xfrm>
          <a:prstGeom prst="rect">
            <a:avLst/>
          </a:prstGeom>
          <a:noFill/>
        </p:spPr>
        <p:txBody>
          <a:bodyPr wrap="square" lIns="0" tIns="0" rIns="0" bIns="0" anchor="t">
            <a:spAutoFit/>
          </a:bodyPr>
          <a:lstStyle/>
          <a:p>
            <a:pPr algn="l">
              <a:lnSpc>
                <a:spcPct val="115000"/>
              </a:lnSpc>
            </a:pPr>
            <a:r>
              <a:rPr sz="1400" b="1" i="0">
                <a:solidFill>
                  <a:srgbClr val="FFFFFF"/>
                </a:solidFill>
                <a:latin typeface="Segoe UI"/>
              </a:rPr>
              <a:t>6.8 s  ·  speech synthesis  ·  89% of the wait</a:t>
            </a:r>
          </a:p>
        </p:txBody>
      </p:sp>
      <p:sp>
        <p:nvSpPr>
          <p:cNvPr id="8" name="TextBox 7"/>
          <p:cNvSpPr txBox="1"/>
          <p:nvPr/>
        </p:nvSpPr>
        <p:spPr>
          <a:xfrm>
            <a:off x="658368" y="2249424"/>
            <a:ext cx="10874959" cy="274320"/>
          </a:xfrm>
          <a:prstGeom prst="rect">
            <a:avLst/>
          </a:prstGeom>
          <a:noFill/>
        </p:spPr>
        <p:txBody>
          <a:bodyPr wrap="square" lIns="0" tIns="0" rIns="0" bIns="0" anchor="t">
            <a:spAutoFit/>
          </a:bodyPr>
          <a:lstStyle/>
          <a:p>
            <a:pPr algn="l">
              <a:lnSpc>
                <a:spcPct val="115000"/>
              </a:lnSpc>
            </a:pPr>
            <a:r>
              <a:rPr sz="1100" b="1" i="0">
                <a:solidFill>
                  <a:srgbClr val="2F5FD0"/>
                </a:solidFill>
                <a:latin typeface="Segoe UI"/>
              </a:rPr>
              <a:t>▲ thinking: 0.8 s</a:t>
            </a:r>
          </a:p>
        </p:txBody>
      </p:sp>
      <p:graphicFrame>
        <p:nvGraphicFramePr>
          <p:cNvPr id="9" name="Table 8"/>
          <p:cNvGraphicFramePr>
            <a:graphicFrameLocks noGrp="1"/>
          </p:cNvGraphicFramePr>
          <p:nvPr/>
        </p:nvGraphicFramePr>
        <p:xfrm>
          <a:off x="658368" y="2798064"/>
          <a:ext cx="10872216" cy="2267712"/>
        </p:xfrm>
        <a:graphic>
          <a:graphicData uri="http://schemas.openxmlformats.org/drawingml/2006/table">
            <a:tbl>
              <a:tblPr firstRow="1" bandRow="1">
                <a:tableStyleId>{5C22544A-7EE6-4342-B048-85BDC9FD1C3A}</a:tableStyleId>
              </a:tblPr>
              <a:tblGrid>
                <a:gridCol w="3566160">
                  <a:extLst>
                    <a:ext uri="{9D8B030D-6E8A-4147-A177-3AD203B41FA5}">
                      <a16:colId xmlns:a16="http://schemas.microsoft.com/office/drawing/2014/main" val="20000"/>
                    </a:ext>
                  </a:extLst>
                </a:gridCol>
                <a:gridCol w="7306056">
                  <a:extLst>
                    <a:ext uri="{9D8B030D-6E8A-4147-A177-3AD203B41FA5}">
                      <a16:colId xmlns:a16="http://schemas.microsoft.com/office/drawing/2014/main" val="20001"/>
                    </a:ext>
                  </a:extLst>
                </a:gridCol>
              </a:tblGrid>
              <a:tr h="566928">
                <a:tc>
                  <a:txBody>
                    <a:bodyPr/>
                    <a:lstStyle/>
                    <a:p>
                      <a:r>
                        <a:rPr sz="1100" b="1">
                          <a:solidFill>
                            <a:srgbClr val="FFFFFF"/>
                          </a:solidFill>
                          <a:latin typeface="Segoe UI"/>
                        </a:rPr>
                        <a:t>Why it is slow</a:t>
                      </a:r>
                    </a:p>
                  </a:txBody>
                  <a:tcPr marL="82296" marR="64008" marT="27432" marB="27432" anchor="ctr">
                    <a:solidFill>
                      <a:srgbClr val="142244"/>
                    </a:solidFill>
                  </a:tcPr>
                </a:tc>
                <a:tc>
                  <a:txBody>
                    <a:bodyPr/>
                    <a:lstStyle/>
                    <a:p>
                      <a:r>
                        <a:rPr sz="1100" b="1">
                          <a:solidFill>
                            <a:srgbClr val="FFFFFF"/>
                          </a:solidFill>
                          <a:latin typeface="Segoe UI"/>
                        </a:rPr>
                        <a:t>Detail</a:t>
                      </a:r>
                    </a:p>
                  </a:txBody>
                  <a:tcPr marL="82296" marR="64008" marT="27432" marB="27432" anchor="ctr">
                    <a:solidFill>
                      <a:srgbClr val="142244"/>
                    </a:solidFill>
                  </a:tcPr>
                </a:tc>
                <a:extLst>
                  <a:ext uri="{0D108BD9-81ED-4DB2-BD59-A6C34878D82A}">
                    <a16:rowId xmlns:a16="http://schemas.microsoft.com/office/drawing/2014/main" val="10000"/>
                  </a:ext>
                </a:extLst>
              </a:tr>
              <a:tr h="566928">
                <a:tc>
                  <a:txBody>
                    <a:bodyPr/>
                    <a:lstStyle/>
                    <a:p>
                      <a:r>
                        <a:rPr sz="1100" b="0">
                          <a:solidFill>
                            <a:srgbClr val="14171A"/>
                          </a:solidFill>
                          <a:latin typeface="Segoe UI"/>
                        </a:rPr>
                        <a:t>Speech runs in non-streaming mode</a:t>
                      </a:r>
                    </a:p>
                  </a:txBody>
                  <a:tcPr marL="82296" marR="64008" marT="27432" marB="27432" anchor="ctr">
                    <a:solidFill>
                      <a:srgbClr val="FFFFFF"/>
                    </a:solidFill>
                  </a:tcPr>
                </a:tc>
                <a:tc>
                  <a:txBody>
                    <a:bodyPr/>
                    <a:lstStyle/>
                    <a:p>
                      <a:r>
                        <a:rPr sz="1100" b="0">
                          <a:solidFill>
                            <a:srgbClr val="14171A"/>
                          </a:solidFill>
                          <a:latin typeface="Segoe UI"/>
                        </a:rPr>
                        <a:t>The whole sentence must finish before the first sound plays — even though the engine produces audio FASTER than it can be listened to (real-time factor 0.54–0.68)</a:t>
                      </a:r>
                    </a:p>
                  </a:txBody>
                  <a:tcPr marL="82296" marR="64008" marT="27432" marB="27432" anchor="ctr">
                    <a:solidFill>
                      <a:srgbClr val="FFFFFF"/>
                    </a:solidFill>
                  </a:tcPr>
                </a:tc>
                <a:extLst>
                  <a:ext uri="{0D108BD9-81ED-4DB2-BD59-A6C34878D82A}">
                    <a16:rowId xmlns:a16="http://schemas.microsoft.com/office/drawing/2014/main" val="10001"/>
                  </a:ext>
                </a:extLst>
              </a:tr>
              <a:tr h="566928">
                <a:tc>
                  <a:txBody>
                    <a:bodyPr/>
                    <a:lstStyle/>
                    <a:p>
                      <a:r>
                        <a:rPr sz="1100" b="0">
                          <a:solidFill>
                            <a:srgbClr val="14171A"/>
                          </a:solidFill>
                          <a:latin typeface="Segoe UI"/>
                        </a:rPr>
                        <a:t>Private chat cannot pre-render</a:t>
                      </a:r>
                    </a:p>
                  </a:txBody>
                  <a:tcPr marL="82296" marR="64008" marT="27432" marB="27432" anchor="ctr">
                    <a:solidFill>
                      <a:srgbClr val="F2F4F7"/>
                    </a:solidFill>
                  </a:tcPr>
                </a:tc>
                <a:tc>
                  <a:txBody>
                    <a:bodyPr/>
                    <a:lstStyle/>
                    <a:p>
                      <a:r>
                        <a:rPr sz="1100" b="0">
                          <a:solidFill>
                            <a:srgbClr val="14171A"/>
                          </a:solidFill>
                          <a:latin typeface="Segoe UI"/>
                        </a:rPr>
                        <a:t>The live stream already renders the next two answers while the current one plays. A one-to-one chat does not know the question in advance</a:t>
                      </a:r>
                    </a:p>
                  </a:txBody>
                  <a:tcPr marL="82296" marR="64008" marT="27432" marB="27432" anchor="ctr">
                    <a:solidFill>
                      <a:srgbClr val="F2F4F7"/>
                    </a:solidFill>
                  </a:tcPr>
                </a:tc>
                <a:extLst>
                  <a:ext uri="{0D108BD9-81ED-4DB2-BD59-A6C34878D82A}">
                    <a16:rowId xmlns:a16="http://schemas.microsoft.com/office/drawing/2014/main" val="10002"/>
                  </a:ext>
                </a:extLst>
              </a:tr>
              <a:tr h="566928">
                <a:tc>
                  <a:txBody>
                    <a:bodyPr/>
                    <a:lstStyle/>
                    <a:p>
                      <a:r>
                        <a:rPr sz="1100" b="0">
                          <a:solidFill>
                            <a:srgbClr val="14171A"/>
                          </a:solidFill>
                          <a:latin typeface="Segoe UI"/>
                        </a:rPr>
                        <a:t>Each retry is another model call</a:t>
                      </a:r>
                    </a:p>
                  </a:txBody>
                  <a:tcPr marL="82296" marR="64008" marT="27432" marB="27432" anchor="ctr">
                    <a:solidFill>
                      <a:srgbClr val="FFFFFF"/>
                    </a:solidFill>
                  </a:tcPr>
                </a:tc>
                <a:tc>
                  <a:txBody>
                    <a:bodyPr/>
                    <a:lstStyle/>
                    <a:p>
                      <a:r>
                        <a:rPr sz="1100" b="0">
                          <a:solidFill>
                            <a:srgbClr val="14171A"/>
                          </a:solidFill>
                          <a:latin typeface="Segoe UI"/>
                        </a:rPr>
                        <a:t>A rule violation or a generic answer triggers a rewrite; worst case is three calls for one reply</a:t>
                      </a:r>
                    </a:p>
                  </a:txBody>
                  <a:tcPr marL="82296" marR="64008" marT="27432" marB="27432" anchor="ctr">
                    <a:solidFill>
                      <a:srgbClr val="FFFFFF"/>
                    </a:solidFill>
                  </a:tcPr>
                </a:tc>
                <a:extLst>
                  <a:ext uri="{0D108BD9-81ED-4DB2-BD59-A6C34878D82A}">
                    <a16:rowId xmlns:a16="http://schemas.microsoft.com/office/drawing/2014/main" val="10003"/>
                  </a:ext>
                </a:extLst>
              </a:tr>
            </a:tbl>
          </a:graphicData>
        </a:graphic>
      </p:graphicFrame>
      <p:sp>
        <p:nvSpPr>
          <p:cNvPr id="10" name="TextBox 9"/>
          <p:cNvSpPr txBox="1"/>
          <p:nvPr/>
        </p:nvSpPr>
        <p:spPr>
          <a:xfrm>
            <a:off x="658368" y="5230368"/>
            <a:ext cx="10874959" cy="1097280"/>
          </a:xfrm>
          <a:prstGeom prst="rect">
            <a:avLst/>
          </a:prstGeom>
          <a:noFill/>
        </p:spPr>
        <p:txBody>
          <a:bodyPr wrap="square" lIns="0" tIns="0" rIns="0" bIns="0" anchor="t">
            <a:spAutoFit/>
          </a:bodyPr>
          <a:lstStyle/>
          <a:p>
            <a:pPr algn="l">
              <a:lnSpc>
                <a:spcPct val="115000"/>
              </a:lnSpc>
            </a:pPr>
            <a:r>
              <a:rPr sz="1250" b="0" i="0">
                <a:solidFill>
                  <a:srgbClr val="14171A"/>
                </a:solidFill>
                <a:latin typeface="Segoe UI"/>
              </a:rPr>
              <a:t>The good news is in the second column: the engine is already fast enough. It is being asked to work in the wrong mode. Streaming the speech sentence by sentence — playing the first while the second is still being made — is the single highest-value fix in this deck, and it needs no budget and no new hardware.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420624"/>
            <a:ext cx="10874959" cy="237744"/>
          </a:xfrm>
          <a:prstGeom prst="rect">
            <a:avLst/>
          </a:prstGeom>
          <a:noFill/>
        </p:spPr>
        <p:txBody>
          <a:bodyPr wrap="square" lIns="0" tIns="0" rIns="0" bIns="0" anchor="t">
            <a:spAutoFit/>
          </a:bodyPr>
          <a:lstStyle/>
          <a:p>
            <a:pPr algn="l">
              <a:lnSpc>
                <a:spcPct val="115000"/>
              </a:lnSpc>
            </a:pPr>
            <a:r>
              <a:rPr sz="1100" b="1" i="0">
                <a:solidFill>
                  <a:srgbClr val="2F5FD0"/>
                </a:solidFill>
                <a:latin typeface="Segoe UI"/>
              </a:rPr>
              <a:t>PROBLEM 3</a:t>
            </a:r>
          </a:p>
        </p:txBody>
      </p:sp>
      <p:sp>
        <p:nvSpPr>
          <p:cNvPr id="3" name="TextBox 2"/>
          <p:cNvSpPr txBox="1"/>
          <p:nvPr/>
        </p:nvSpPr>
        <p:spPr>
          <a:xfrm>
            <a:off x="658368" y="694944"/>
            <a:ext cx="10874959" cy="502920"/>
          </a:xfrm>
          <a:prstGeom prst="rect">
            <a:avLst/>
          </a:prstGeom>
          <a:noFill/>
        </p:spPr>
        <p:txBody>
          <a:bodyPr wrap="square" lIns="0" tIns="0" rIns="0" bIns="0" anchor="t">
            <a:spAutoFit/>
          </a:bodyPr>
          <a:lstStyle/>
          <a:p>
            <a:pPr algn="l">
              <a:lnSpc>
                <a:spcPct val="115000"/>
              </a:lnSpc>
            </a:pPr>
            <a:r>
              <a:rPr sz="2700" b="1" i="0">
                <a:solidFill>
                  <a:srgbClr val="142244"/>
                </a:solidFill>
                <a:latin typeface="Segoe UI"/>
              </a:rPr>
              <a:t>Hardware, licences and unfinished characters</a:t>
            </a:r>
          </a:p>
        </p:txBody>
      </p:sp>
      <p:sp>
        <p:nvSpPr>
          <p:cNvPr id="4" name="Rectangle 3"/>
          <p:cNvSpPr/>
          <p:nvPr/>
        </p:nvSpPr>
        <p:spPr>
          <a:xfrm>
            <a:off x="658368" y="1298448"/>
            <a:ext cx="10874959" cy="9525"/>
          </a:xfrm>
          <a:prstGeom prst="rect">
            <a:avLst/>
          </a:prstGeom>
          <a:solidFill>
            <a:srgbClr val="DD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658368" y="1517904"/>
          <a:ext cx="10872216" cy="3383280"/>
        </p:xfrm>
        <a:graphic>
          <a:graphicData uri="http://schemas.openxmlformats.org/drawingml/2006/table">
            <a:tbl>
              <a:tblPr firstRow="1" bandRow="1">
                <a:tableStyleId>{5C22544A-7EE6-4342-B048-85BDC9FD1C3A}</a:tableStyleId>
              </a:tblPr>
              <a:tblGrid>
                <a:gridCol w="2926080">
                  <a:extLst>
                    <a:ext uri="{9D8B030D-6E8A-4147-A177-3AD203B41FA5}">
                      <a16:colId xmlns:a16="http://schemas.microsoft.com/office/drawing/2014/main" val="20000"/>
                    </a:ext>
                  </a:extLst>
                </a:gridCol>
                <a:gridCol w="6309360">
                  <a:extLst>
                    <a:ext uri="{9D8B030D-6E8A-4147-A177-3AD203B41FA5}">
                      <a16:colId xmlns:a16="http://schemas.microsoft.com/office/drawing/2014/main" val="20001"/>
                    </a:ext>
                  </a:extLst>
                </a:gridCol>
                <a:gridCol w="1636776">
                  <a:extLst>
                    <a:ext uri="{9D8B030D-6E8A-4147-A177-3AD203B41FA5}">
                      <a16:colId xmlns:a16="http://schemas.microsoft.com/office/drawing/2014/main" val="20002"/>
                    </a:ext>
                  </a:extLst>
                </a:gridCol>
              </a:tblGrid>
              <a:tr h="676656">
                <a:tc>
                  <a:txBody>
                    <a:bodyPr/>
                    <a:lstStyle/>
                    <a:p>
                      <a:r>
                        <a:rPr sz="1050" b="1">
                          <a:solidFill>
                            <a:srgbClr val="FFFFFF"/>
                          </a:solidFill>
                          <a:latin typeface="Segoe UI"/>
                        </a:rPr>
                        <a:t>Issue</a:t>
                      </a:r>
                    </a:p>
                  </a:txBody>
                  <a:tcPr marL="82296" marR="64008" marT="27432" marB="27432" anchor="ctr">
                    <a:solidFill>
                      <a:srgbClr val="142244"/>
                    </a:solidFill>
                  </a:tcPr>
                </a:tc>
                <a:tc>
                  <a:txBody>
                    <a:bodyPr/>
                    <a:lstStyle/>
                    <a:p>
                      <a:r>
                        <a:rPr sz="1050" b="1">
                          <a:solidFill>
                            <a:srgbClr val="FFFFFF"/>
                          </a:solidFill>
                          <a:latin typeface="Segoe UI"/>
                        </a:rPr>
                        <a:t>Detail</a:t>
                      </a:r>
                    </a:p>
                  </a:txBody>
                  <a:tcPr marL="82296" marR="64008" marT="27432" marB="27432" anchor="ctr">
                    <a:solidFill>
                      <a:srgbClr val="142244"/>
                    </a:solidFill>
                  </a:tcPr>
                </a:tc>
                <a:tc>
                  <a:txBody>
                    <a:bodyPr/>
                    <a:lstStyle/>
                    <a:p>
                      <a:r>
                        <a:rPr sz="1050" b="1">
                          <a:solidFill>
                            <a:srgbClr val="FFFFFF"/>
                          </a:solidFill>
                          <a:latin typeface="Segoe UI"/>
                        </a:rPr>
                        <a:t>Blocks</a:t>
                      </a:r>
                    </a:p>
                  </a:txBody>
                  <a:tcPr marL="82296" marR="64008" marT="27432" marB="27432" anchor="ctr">
                    <a:solidFill>
                      <a:srgbClr val="142244"/>
                    </a:solidFill>
                  </a:tcPr>
                </a:tc>
                <a:extLst>
                  <a:ext uri="{0D108BD9-81ED-4DB2-BD59-A6C34878D82A}">
                    <a16:rowId xmlns:a16="http://schemas.microsoft.com/office/drawing/2014/main" val="10000"/>
                  </a:ext>
                </a:extLst>
              </a:tr>
              <a:tr h="676656">
                <a:tc>
                  <a:txBody>
                    <a:bodyPr/>
                    <a:lstStyle/>
                    <a:p>
                      <a:r>
                        <a:rPr sz="1050" b="0">
                          <a:solidFill>
                            <a:srgbClr val="14171A"/>
                          </a:solidFill>
                          <a:latin typeface="Segoe UI"/>
                        </a:rPr>
                        <a:t>12 GB VRAM is a hard ceiling</a:t>
                      </a:r>
                    </a:p>
                  </a:txBody>
                  <a:tcPr marL="82296" marR="64008" marT="27432" marB="27432" anchor="ctr">
                    <a:solidFill>
                      <a:srgbClr val="FFFFFF"/>
                    </a:solidFill>
                  </a:tcPr>
                </a:tc>
                <a:tc>
                  <a:txBody>
                    <a:bodyPr/>
                    <a:lstStyle/>
                    <a:p>
                      <a:r>
                        <a:rPr sz="1050" b="0">
                          <a:solidFill>
                            <a:srgbClr val="14171A"/>
                          </a:solidFill>
                          <a:latin typeface="Segoe UI"/>
                        </a:rPr>
                        <a:t>NVIDIA GeForce RTX 5070 — enough to run, not enough to run everything at once or to train a lip-sync model (needs 23–30 GB)</a:t>
                      </a:r>
                    </a:p>
                  </a:txBody>
                  <a:tcPr marL="82296" marR="64008" marT="27432" marB="27432" anchor="ctr">
                    <a:solidFill>
                      <a:srgbClr val="FFFFFF"/>
                    </a:solidFill>
                  </a:tcPr>
                </a:tc>
                <a:tc>
                  <a:txBody>
                    <a:bodyPr/>
                    <a:lstStyle/>
                    <a:p>
                      <a:r>
                        <a:rPr sz="1050" b="0">
                          <a:solidFill>
                            <a:srgbClr val="A86400"/>
                          </a:solidFill>
                          <a:latin typeface="Segoe UI"/>
                        </a:rPr>
                        <a:t>Scale</a:t>
                      </a:r>
                    </a:p>
                  </a:txBody>
                  <a:tcPr marL="82296" marR="64008" marT="27432" marB="27432" anchor="ctr">
                    <a:solidFill>
                      <a:srgbClr val="FFFFFF"/>
                    </a:solidFill>
                  </a:tcPr>
                </a:tc>
                <a:extLst>
                  <a:ext uri="{0D108BD9-81ED-4DB2-BD59-A6C34878D82A}">
                    <a16:rowId xmlns:a16="http://schemas.microsoft.com/office/drawing/2014/main" val="10001"/>
                  </a:ext>
                </a:extLst>
              </a:tr>
              <a:tr h="676656">
                <a:tc>
                  <a:txBody>
                    <a:bodyPr/>
                    <a:lstStyle/>
                    <a:p>
                      <a:r>
                        <a:rPr sz="1050" b="0">
                          <a:solidFill>
                            <a:srgbClr val="14171A"/>
                          </a:solidFill>
                          <a:latin typeface="Segoe UI"/>
                        </a:rPr>
                        <a:t>wav2lip weights are research-licensed</a:t>
                      </a:r>
                    </a:p>
                  </a:txBody>
                  <a:tcPr marL="82296" marR="64008" marT="27432" marB="27432" anchor="ctr">
                    <a:solidFill>
                      <a:srgbClr val="F2F4F7"/>
                    </a:solidFill>
                  </a:tcPr>
                </a:tc>
                <a:tc>
                  <a:txBody>
                    <a:bodyPr/>
                    <a:lstStyle/>
                    <a:p>
                      <a:r>
                        <a:rPr sz="1050" b="0">
                          <a:solidFill>
                            <a:srgbClr val="14171A"/>
                          </a:solidFill>
                          <a:latin typeface="Segoe UI"/>
                        </a:rPr>
                        <a:t>The lip-sync model in use today cannot be used commercially. MuseTalk was licence-checked and is clean all the way down (MIT, weights explicitly commercial) and our stack already supports it — a flag change plus half a day of testing</a:t>
                      </a:r>
                    </a:p>
                  </a:txBody>
                  <a:tcPr marL="82296" marR="64008" marT="27432" marB="27432" anchor="ctr">
                    <a:solidFill>
                      <a:srgbClr val="F2F4F7"/>
                    </a:solidFill>
                  </a:tcPr>
                </a:tc>
                <a:tc>
                  <a:txBody>
                    <a:bodyPr/>
                    <a:lstStyle/>
                    <a:p>
                      <a:r>
                        <a:rPr sz="1050" b="0">
                          <a:solidFill>
                            <a:srgbClr val="C62B2B"/>
                          </a:solidFill>
                          <a:latin typeface="Segoe UI"/>
                        </a:rPr>
                        <a:t>Commercial launch</a:t>
                      </a:r>
                    </a:p>
                  </a:txBody>
                  <a:tcPr marL="82296" marR="64008" marT="27432" marB="27432" anchor="ctr">
                    <a:solidFill>
                      <a:srgbClr val="F2F4F7"/>
                    </a:solidFill>
                  </a:tcPr>
                </a:tc>
                <a:extLst>
                  <a:ext uri="{0D108BD9-81ED-4DB2-BD59-A6C34878D82A}">
                    <a16:rowId xmlns:a16="http://schemas.microsoft.com/office/drawing/2014/main" val="10002"/>
                  </a:ext>
                </a:extLst>
              </a:tr>
              <a:tr h="676656">
                <a:tc>
                  <a:txBody>
                    <a:bodyPr/>
                    <a:lstStyle/>
                    <a:p>
                      <a:r>
                        <a:rPr sz="1050" b="0">
                          <a:solidFill>
                            <a:srgbClr val="14171A"/>
                          </a:solidFill>
                          <a:latin typeface="Segoe UI"/>
                        </a:rPr>
                        <a:t>The lip-sync server asks for its watermark</a:t>
                      </a:r>
                    </a:p>
                  </a:txBody>
                  <a:tcPr marL="82296" marR="64008" marT="27432" marB="27432" anchor="ctr">
                    <a:solidFill>
                      <a:srgbClr val="FFFFFF"/>
                    </a:solidFill>
                  </a:tcPr>
                </a:tc>
                <a:tc>
                  <a:txBody>
                    <a:bodyPr/>
                    <a:lstStyle/>
                    <a:p>
                      <a:r>
                        <a:rPr sz="1050" b="0">
                          <a:solidFill>
                            <a:srgbClr val="14171A"/>
                          </a:solidFill>
                          <a:latin typeface="Segoe UI"/>
                        </a:rPr>
                        <a:t>0.8% of the frame, low-contrast grey. Accepted for now; one email to the author would replace the ambiguity with an answer</a:t>
                      </a:r>
                    </a:p>
                  </a:txBody>
                  <a:tcPr marL="82296" marR="64008" marT="27432" marB="27432" anchor="ctr">
                    <a:solidFill>
                      <a:srgbClr val="FFFFFF"/>
                    </a:solidFill>
                  </a:tcPr>
                </a:tc>
                <a:tc>
                  <a:txBody>
                    <a:bodyPr/>
                    <a:lstStyle/>
                    <a:p>
                      <a:r>
                        <a:rPr sz="1050" b="0">
                          <a:solidFill>
                            <a:srgbClr val="A86400"/>
                          </a:solidFill>
                          <a:latin typeface="Segoe UI"/>
                        </a:rPr>
                        <a:t>Publishing</a:t>
                      </a:r>
                    </a:p>
                  </a:txBody>
                  <a:tcPr marL="82296" marR="64008" marT="27432" marB="27432" anchor="ctr">
                    <a:solidFill>
                      <a:srgbClr val="FFFFFF"/>
                    </a:solidFill>
                  </a:tcPr>
                </a:tc>
                <a:extLst>
                  <a:ext uri="{0D108BD9-81ED-4DB2-BD59-A6C34878D82A}">
                    <a16:rowId xmlns:a16="http://schemas.microsoft.com/office/drawing/2014/main" val="10003"/>
                  </a:ext>
                </a:extLst>
              </a:tr>
              <a:tr h="676656">
                <a:tc>
                  <a:txBody>
                    <a:bodyPr/>
                    <a:lstStyle/>
                    <a:p>
                      <a:r>
                        <a:rPr sz="1050" b="0">
                          <a:solidFill>
                            <a:srgbClr val="14171A"/>
                          </a:solidFill>
                          <a:latin typeface="Segoe UI"/>
                        </a:rPr>
                        <a:t>Only one character is complete</a:t>
                      </a:r>
                    </a:p>
                  </a:txBody>
                  <a:tcPr marL="82296" marR="64008" marT="27432" marB="27432" anchor="ctr">
                    <a:solidFill>
                      <a:srgbClr val="F2F4F7"/>
                    </a:solidFill>
                  </a:tcPr>
                </a:tc>
                <a:tc>
                  <a:txBody>
                    <a:bodyPr/>
                    <a:lstStyle/>
                    <a:p>
                      <a:r>
                        <a:rPr sz="1050" b="0">
                          <a:solidFill>
                            <a:srgbClr val="14171A"/>
                          </a:solidFill>
                          <a:latin typeface="Segoe UI"/>
                        </a:rPr>
                        <a:t>6 of 10 have any images at all; 2 have a finished voice. The flagship seller's product catalogue is still an empty template</a:t>
                      </a:r>
                    </a:p>
                  </a:txBody>
                  <a:tcPr marL="82296" marR="64008" marT="27432" marB="27432" anchor="ctr">
                    <a:solidFill>
                      <a:srgbClr val="F2F4F7"/>
                    </a:solidFill>
                  </a:tcPr>
                </a:tc>
                <a:tc>
                  <a:txBody>
                    <a:bodyPr/>
                    <a:lstStyle/>
                    <a:p>
                      <a:r>
                        <a:rPr sz="1050" b="0">
                          <a:solidFill>
                            <a:srgbClr val="A86400"/>
                          </a:solidFill>
                          <a:latin typeface="Segoe UI"/>
                        </a:rPr>
                        <a:t>Roster growth</a:t>
                      </a:r>
                    </a:p>
                  </a:txBody>
                  <a:tcPr marL="82296" marR="64008" marT="27432" marB="27432" anchor="ctr">
                    <a:solidFill>
                      <a:srgbClr val="F2F4F7"/>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658368" y="5138928"/>
            <a:ext cx="10874959" cy="1371600"/>
          </a:xfrm>
          <a:prstGeom prst="rect">
            <a:avLst/>
          </a:prstGeom>
          <a:noFill/>
        </p:spPr>
        <p:txBody>
          <a:bodyPr wrap="square" lIns="0" tIns="0" rIns="0" bIns="0" anchor="t">
            <a:spAutoFit/>
          </a:bodyPr>
          <a:lstStyle/>
          <a:p>
            <a:pPr algn="l">
              <a:lnSpc>
                <a:spcPct val="115000"/>
              </a:lnSpc>
            </a:pPr>
            <a:r>
              <a:rPr sz="1200" b="0" i="0">
                <a:solidFill>
                  <a:srgbClr val="666E78"/>
                </a:solidFill>
                <a:latin typeface="Segoe UI"/>
              </a:rPr>
              <a:t>Six components in this layer have now been licence-checked before adoption and four carried a restriction — so this is treated as a standing checklist item rather than a surprise. None of it blocks development; all of it blocks publishing, which is why the swap is scheduled before the first commercial output rather than after.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420624"/>
            <a:ext cx="10874959" cy="237744"/>
          </a:xfrm>
          <a:prstGeom prst="rect">
            <a:avLst/>
          </a:prstGeom>
          <a:noFill/>
        </p:spPr>
        <p:txBody>
          <a:bodyPr wrap="square" lIns="0" tIns="0" rIns="0" bIns="0" anchor="t">
            <a:spAutoFit/>
          </a:bodyPr>
          <a:lstStyle/>
          <a:p>
            <a:pPr algn="l">
              <a:lnSpc>
                <a:spcPct val="115000"/>
              </a:lnSpc>
            </a:pPr>
            <a:r>
              <a:rPr sz="1100" b="1" i="0">
                <a:solidFill>
                  <a:srgbClr val="2F5FD0"/>
                </a:solidFill>
                <a:latin typeface="Segoe UI"/>
              </a:rPr>
              <a:t>FIX 1 — THE WAIT</a:t>
            </a:r>
          </a:p>
        </p:txBody>
      </p:sp>
      <p:sp>
        <p:nvSpPr>
          <p:cNvPr id="3" name="TextBox 2"/>
          <p:cNvSpPr txBox="1"/>
          <p:nvPr/>
        </p:nvSpPr>
        <p:spPr>
          <a:xfrm>
            <a:off x="658368" y="694944"/>
            <a:ext cx="10874959" cy="502920"/>
          </a:xfrm>
          <a:prstGeom prst="rect">
            <a:avLst/>
          </a:prstGeom>
          <a:noFill/>
        </p:spPr>
        <p:txBody>
          <a:bodyPr wrap="square" lIns="0" tIns="0" rIns="0" bIns="0" anchor="t">
            <a:spAutoFit/>
          </a:bodyPr>
          <a:lstStyle/>
          <a:p>
            <a:pPr algn="l">
              <a:lnSpc>
                <a:spcPct val="115000"/>
              </a:lnSpc>
            </a:pPr>
            <a:r>
              <a:rPr sz="2700" b="1" i="0">
                <a:solidFill>
                  <a:srgbClr val="142244"/>
                </a:solidFill>
                <a:latin typeface="Segoe UI"/>
              </a:rPr>
              <a:t>Engineering only. No budget, no new hardware, 1–2 weeks.</a:t>
            </a:r>
          </a:p>
        </p:txBody>
      </p:sp>
      <p:sp>
        <p:nvSpPr>
          <p:cNvPr id="4" name="Rectangle 3"/>
          <p:cNvSpPr/>
          <p:nvPr/>
        </p:nvSpPr>
        <p:spPr>
          <a:xfrm>
            <a:off x="658368" y="1298448"/>
            <a:ext cx="10874959" cy="9525"/>
          </a:xfrm>
          <a:prstGeom prst="rect">
            <a:avLst/>
          </a:prstGeom>
          <a:solidFill>
            <a:srgbClr val="DD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658368" y="1517904"/>
          <a:ext cx="10872216" cy="3511296"/>
        </p:xfrm>
        <a:graphic>
          <a:graphicData uri="http://schemas.openxmlformats.org/drawingml/2006/table">
            <a:tbl>
              <a:tblPr firstRow="1" bandRow="1">
                <a:tableStyleId>{5C22544A-7EE6-4342-B048-85BDC9FD1C3A}</a:tableStyleId>
              </a:tblPr>
              <a:tblGrid>
                <a:gridCol w="45720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gridCol w="1453896">
                  <a:extLst>
                    <a:ext uri="{9D8B030D-6E8A-4147-A177-3AD203B41FA5}">
                      <a16:colId xmlns:a16="http://schemas.microsoft.com/office/drawing/2014/main" val="20003"/>
                    </a:ext>
                  </a:extLst>
                </a:gridCol>
              </a:tblGrid>
              <a:tr h="585216">
                <a:tc>
                  <a:txBody>
                    <a:bodyPr/>
                    <a:lstStyle/>
                    <a:p>
                      <a:r>
                        <a:rPr sz="1100" b="1">
                          <a:solidFill>
                            <a:srgbClr val="FFFFFF"/>
                          </a:solidFill>
                          <a:latin typeface="Segoe UI"/>
                        </a:rPr>
                        <a:t>#</a:t>
                      </a:r>
                    </a:p>
                  </a:txBody>
                  <a:tcPr marL="82296" marR="64008" marT="27432" marB="27432" anchor="ctr">
                    <a:solidFill>
                      <a:srgbClr val="142244"/>
                    </a:solidFill>
                  </a:tcPr>
                </a:tc>
                <a:tc>
                  <a:txBody>
                    <a:bodyPr/>
                    <a:lstStyle/>
                    <a:p>
                      <a:r>
                        <a:rPr sz="1100" b="1">
                          <a:solidFill>
                            <a:srgbClr val="FFFFFF"/>
                          </a:solidFill>
                          <a:latin typeface="Segoe UI"/>
                        </a:rPr>
                        <a:t>Action</a:t>
                      </a:r>
                    </a:p>
                  </a:txBody>
                  <a:tcPr marL="82296" marR="64008" marT="27432" marB="27432" anchor="ctr">
                    <a:solidFill>
                      <a:srgbClr val="142244"/>
                    </a:solidFill>
                  </a:tcPr>
                </a:tc>
                <a:tc>
                  <a:txBody>
                    <a:bodyPr/>
                    <a:lstStyle/>
                    <a:p>
                      <a:r>
                        <a:rPr sz="1100" b="1">
                          <a:solidFill>
                            <a:srgbClr val="FFFFFF"/>
                          </a:solidFill>
                          <a:latin typeface="Segoe UI"/>
                        </a:rPr>
                        <a:t>Expected effect</a:t>
                      </a:r>
                    </a:p>
                  </a:txBody>
                  <a:tcPr marL="82296" marR="64008" marT="27432" marB="27432" anchor="ctr">
                    <a:solidFill>
                      <a:srgbClr val="142244"/>
                    </a:solidFill>
                  </a:tcPr>
                </a:tc>
                <a:tc>
                  <a:txBody>
                    <a:bodyPr/>
                    <a:lstStyle/>
                    <a:p>
                      <a:r>
                        <a:rPr sz="1100" b="1">
                          <a:solidFill>
                            <a:srgbClr val="FFFFFF"/>
                          </a:solidFill>
                          <a:latin typeface="Segoe UI"/>
                        </a:rPr>
                        <a:t>Cost</a:t>
                      </a:r>
                    </a:p>
                  </a:txBody>
                  <a:tcPr marL="82296" marR="64008" marT="27432" marB="27432" anchor="ctr">
                    <a:solidFill>
                      <a:srgbClr val="142244"/>
                    </a:solidFill>
                  </a:tcPr>
                </a:tc>
                <a:extLst>
                  <a:ext uri="{0D108BD9-81ED-4DB2-BD59-A6C34878D82A}">
                    <a16:rowId xmlns:a16="http://schemas.microsoft.com/office/drawing/2014/main" val="10000"/>
                  </a:ext>
                </a:extLst>
              </a:tr>
              <a:tr h="585216">
                <a:tc>
                  <a:txBody>
                    <a:bodyPr/>
                    <a:lstStyle/>
                    <a:p>
                      <a:r>
                        <a:rPr sz="1100" b="0">
                          <a:solidFill>
                            <a:srgbClr val="14171A"/>
                          </a:solidFill>
                          <a:latin typeface="Segoe UI"/>
                        </a:rPr>
                        <a:t>1</a:t>
                      </a:r>
                    </a:p>
                  </a:txBody>
                  <a:tcPr marL="82296" marR="64008" marT="27432" marB="27432" anchor="ctr">
                    <a:solidFill>
                      <a:srgbClr val="FFFFFF"/>
                    </a:solidFill>
                  </a:tcPr>
                </a:tc>
                <a:tc>
                  <a:txBody>
                    <a:bodyPr/>
                    <a:lstStyle/>
                    <a:p>
                      <a:r>
                        <a:rPr sz="1100" b="0">
                          <a:solidFill>
                            <a:srgbClr val="14171A"/>
                          </a:solidFill>
                          <a:latin typeface="Segoe UI"/>
                        </a:rPr>
                        <a:t>Stream the speech sentence by sentence — play the first while the second renders</a:t>
                      </a:r>
                    </a:p>
                  </a:txBody>
                  <a:tcPr marL="82296" marR="64008" marT="27432" marB="27432" anchor="ctr">
                    <a:solidFill>
                      <a:srgbClr val="FFFFFF"/>
                    </a:solidFill>
                  </a:tcPr>
                </a:tc>
                <a:tc>
                  <a:txBody>
                    <a:bodyPr/>
                    <a:lstStyle/>
                    <a:p>
                      <a:r>
                        <a:rPr sz="1100" b="0">
                          <a:solidFill>
                            <a:srgbClr val="0F8A4C"/>
                          </a:solidFill>
                          <a:latin typeface="Segoe UI"/>
                        </a:rPr>
                        <a:t>Time to first sound: 7.6 s → ~1.5–2 s</a:t>
                      </a:r>
                    </a:p>
                  </a:txBody>
                  <a:tcPr marL="82296" marR="64008" marT="27432" marB="27432" anchor="ctr">
                    <a:solidFill>
                      <a:srgbClr val="FFFFFF"/>
                    </a:solidFill>
                  </a:tcPr>
                </a:tc>
                <a:tc>
                  <a:txBody>
                    <a:bodyPr/>
                    <a:lstStyle/>
                    <a:p>
                      <a:r>
                        <a:rPr sz="1100" b="0">
                          <a:solidFill>
                            <a:srgbClr val="14171A"/>
                          </a:solidFill>
                          <a:latin typeface="Segoe UI"/>
                        </a:rPr>
                        <a:t>1–2 weeks</a:t>
                      </a:r>
                    </a:p>
                  </a:txBody>
                  <a:tcPr marL="82296" marR="64008" marT="27432" marB="27432" anchor="ctr">
                    <a:solidFill>
                      <a:srgbClr val="FFFFFF"/>
                    </a:solidFill>
                  </a:tcPr>
                </a:tc>
                <a:extLst>
                  <a:ext uri="{0D108BD9-81ED-4DB2-BD59-A6C34878D82A}">
                    <a16:rowId xmlns:a16="http://schemas.microsoft.com/office/drawing/2014/main" val="10001"/>
                  </a:ext>
                </a:extLst>
              </a:tr>
              <a:tr h="585216">
                <a:tc>
                  <a:txBody>
                    <a:bodyPr/>
                    <a:lstStyle/>
                    <a:p>
                      <a:r>
                        <a:rPr sz="1100" b="0">
                          <a:solidFill>
                            <a:srgbClr val="14171A"/>
                          </a:solidFill>
                          <a:latin typeface="Segoe UI"/>
                        </a:rPr>
                        <a:t>2</a:t>
                      </a:r>
                    </a:p>
                  </a:txBody>
                  <a:tcPr marL="82296" marR="64008" marT="27432" marB="27432" anchor="ctr">
                    <a:solidFill>
                      <a:srgbClr val="F2F4F7"/>
                    </a:solidFill>
                  </a:tcPr>
                </a:tc>
                <a:tc>
                  <a:txBody>
                    <a:bodyPr/>
                    <a:lstStyle/>
                    <a:p>
                      <a:r>
                        <a:rPr sz="1100" b="0">
                          <a:solidFill>
                            <a:srgbClr val="14171A"/>
                          </a:solidFill>
                          <a:latin typeface="Segoe UI"/>
                        </a:rPr>
                        <a:t>Feed the model's output into speech as it is written, at the first full stop</a:t>
                      </a:r>
                    </a:p>
                  </a:txBody>
                  <a:tcPr marL="82296" marR="64008" marT="27432" marB="27432" anchor="ctr">
                    <a:solidFill>
                      <a:srgbClr val="F2F4F7"/>
                    </a:solidFill>
                  </a:tcPr>
                </a:tc>
                <a:tc>
                  <a:txBody>
                    <a:bodyPr/>
                    <a:lstStyle/>
                    <a:p>
                      <a:r>
                        <a:rPr sz="1100" b="0">
                          <a:solidFill>
                            <a:srgbClr val="14171A"/>
                          </a:solidFill>
                          <a:latin typeface="Segoe UI"/>
                        </a:rPr>
                        <a:t>Removes most of the remaining thinking time</a:t>
                      </a:r>
                    </a:p>
                  </a:txBody>
                  <a:tcPr marL="82296" marR="64008" marT="27432" marB="27432" anchor="ctr">
                    <a:solidFill>
                      <a:srgbClr val="F2F4F7"/>
                    </a:solidFill>
                  </a:tcPr>
                </a:tc>
                <a:tc>
                  <a:txBody>
                    <a:bodyPr/>
                    <a:lstStyle/>
                    <a:p>
                      <a:r>
                        <a:rPr sz="1100" b="0">
                          <a:solidFill>
                            <a:srgbClr val="14171A"/>
                          </a:solidFill>
                          <a:latin typeface="Segoe UI"/>
                        </a:rPr>
                        <a:t>same work</a:t>
                      </a:r>
                    </a:p>
                  </a:txBody>
                  <a:tcPr marL="82296" marR="64008" marT="27432" marB="27432" anchor="ctr">
                    <a:solidFill>
                      <a:srgbClr val="F2F4F7"/>
                    </a:solidFill>
                  </a:tcPr>
                </a:tc>
                <a:extLst>
                  <a:ext uri="{0D108BD9-81ED-4DB2-BD59-A6C34878D82A}">
                    <a16:rowId xmlns:a16="http://schemas.microsoft.com/office/drawing/2014/main" val="10002"/>
                  </a:ext>
                </a:extLst>
              </a:tr>
              <a:tr h="585216">
                <a:tc>
                  <a:txBody>
                    <a:bodyPr/>
                    <a:lstStyle/>
                    <a:p>
                      <a:r>
                        <a:rPr sz="1100" b="0">
                          <a:solidFill>
                            <a:srgbClr val="14171A"/>
                          </a:solidFill>
                          <a:latin typeface="Segoe UI"/>
                        </a:rPr>
                        <a:t>3</a:t>
                      </a:r>
                    </a:p>
                  </a:txBody>
                  <a:tcPr marL="82296" marR="64008" marT="27432" marB="27432" anchor="ctr">
                    <a:solidFill>
                      <a:srgbClr val="FFFFFF"/>
                    </a:solidFill>
                  </a:tcPr>
                </a:tc>
                <a:tc>
                  <a:txBody>
                    <a:bodyPr/>
                    <a:lstStyle/>
                    <a:p>
                      <a:r>
                        <a:rPr sz="1100" b="0">
                          <a:solidFill>
                            <a:srgbClr val="14171A"/>
                          </a:solidFill>
                          <a:latin typeface="Segoe UI"/>
                        </a:rPr>
                        <a:t>Merge the two retry passes into one, checking the draft as it streams</a:t>
                      </a:r>
                    </a:p>
                  </a:txBody>
                  <a:tcPr marL="82296" marR="64008" marT="27432" marB="27432" anchor="ctr">
                    <a:solidFill>
                      <a:srgbClr val="FFFFFF"/>
                    </a:solidFill>
                  </a:tcPr>
                </a:tc>
                <a:tc>
                  <a:txBody>
                    <a:bodyPr/>
                    <a:lstStyle/>
                    <a:p>
                      <a:r>
                        <a:rPr sz="1100" b="0">
                          <a:solidFill>
                            <a:srgbClr val="14171A"/>
                          </a:solidFill>
                          <a:latin typeface="Segoe UI"/>
                        </a:rPr>
                        <a:t>Removes the worst-case triple call</a:t>
                      </a:r>
                    </a:p>
                  </a:txBody>
                  <a:tcPr marL="82296" marR="64008" marT="27432" marB="27432" anchor="ctr">
                    <a:solidFill>
                      <a:srgbClr val="FFFFFF"/>
                    </a:solidFill>
                  </a:tcPr>
                </a:tc>
                <a:tc>
                  <a:txBody>
                    <a:bodyPr/>
                    <a:lstStyle/>
                    <a:p>
                      <a:r>
                        <a:rPr sz="1100" b="0">
                          <a:solidFill>
                            <a:srgbClr val="14171A"/>
                          </a:solidFill>
                          <a:latin typeface="Segoe UI"/>
                        </a:rPr>
                        <a:t>a few days</a:t>
                      </a:r>
                    </a:p>
                  </a:txBody>
                  <a:tcPr marL="82296" marR="64008" marT="27432" marB="27432" anchor="ctr">
                    <a:solidFill>
                      <a:srgbClr val="FFFFFF"/>
                    </a:solidFill>
                  </a:tcPr>
                </a:tc>
                <a:extLst>
                  <a:ext uri="{0D108BD9-81ED-4DB2-BD59-A6C34878D82A}">
                    <a16:rowId xmlns:a16="http://schemas.microsoft.com/office/drawing/2014/main" val="10003"/>
                  </a:ext>
                </a:extLst>
              </a:tr>
              <a:tr h="585216">
                <a:tc>
                  <a:txBody>
                    <a:bodyPr/>
                    <a:lstStyle/>
                    <a:p>
                      <a:r>
                        <a:rPr sz="1100" b="0">
                          <a:solidFill>
                            <a:srgbClr val="14171A"/>
                          </a:solidFill>
                          <a:latin typeface="Segoe UI"/>
                        </a:rPr>
                        <a:t>4</a:t>
                      </a:r>
                    </a:p>
                  </a:txBody>
                  <a:tcPr marL="82296" marR="64008" marT="27432" marB="27432" anchor="ctr">
                    <a:solidFill>
                      <a:srgbClr val="F2F4F7"/>
                    </a:solidFill>
                  </a:tcPr>
                </a:tc>
                <a:tc>
                  <a:txBody>
                    <a:bodyPr/>
                    <a:lstStyle/>
                    <a:p>
                      <a:r>
                        <a:rPr sz="1100" b="0">
                          <a:solidFill>
                            <a:srgbClr val="14171A"/>
                          </a:solidFill>
                          <a:latin typeface="Segoe UI"/>
                        </a:rPr>
                        <a:t>Enable fp16 / JIT / TensorRT on the speech engine (all three are off today)</a:t>
                      </a:r>
                    </a:p>
                  </a:txBody>
                  <a:tcPr marL="82296" marR="64008" marT="27432" marB="27432" anchor="ctr">
                    <a:solidFill>
                      <a:srgbClr val="F2F4F7"/>
                    </a:solidFill>
                  </a:tcPr>
                </a:tc>
                <a:tc>
                  <a:txBody>
                    <a:bodyPr/>
                    <a:lstStyle/>
                    <a:p>
                      <a:r>
                        <a:rPr sz="1100" b="0">
                          <a:solidFill>
                            <a:srgbClr val="A86400"/>
                          </a:solidFill>
                          <a:latin typeface="Segoe UI"/>
                        </a:rPr>
                        <a:t>Needs measuring — possibly 1.3–2×</a:t>
                      </a:r>
                    </a:p>
                  </a:txBody>
                  <a:tcPr marL="82296" marR="64008" marT="27432" marB="27432" anchor="ctr">
                    <a:solidFill>
                      <a:srgbClr val="F2F4F7"/>
                    </a:solidFill>
                  </a:tcPr>
                </a:tc>
                <a:tc>
                  <a:txBody>
                    <a:bodyPr/>
                    <a:lstStyle/>
                    <a:p>
                      <a:r>
                        <a:rPr sz="1100" b="0">
                          <a:solidFill>
                            <a:srgbClr val="14171A"/>
                          </a:solidFill>
                          <a:latin typeface="Segoe UI"/>
                        </a:rPr>
                        <a:t>half a day</a:t>
                      </a:r>
                    </a:p>
                  </a:txBody>
                  <a:tcPr marL="82296" marR="64008" marT="27432" marB="27432" anchor="ctr">
                    <a:solidFill>
                      <a:srgbClr val="F2F4F7"/>
                    </a:solidFill>
                  </a:tcPr>
                </a:tc>
                <a:extLst>
                  <a:ext uri="{0D108BD9-81ED-4DB2-BD59-A6C34878D82A}">
                    <a16:rowId xmlns:a16="http://schemas.microsoft.com/office/drawing/2014/main" val="10004"/>
                  </a:ext>
                </a:extLst>
              </a:tr>
              <a:tr h="585216">
                <a:tc>
                  <a:txBody>
                    <a:bodyPr/>
                    <a:lstStyle/>
                    <a:p>
                      <a:r>
                        <a:rPr sz="1100" b="0">
                          <a:solidFill>
                            <a:srgbClr val="14171A"/>
                          </a:solidFill>
                          <a:latin typeface="Segoe UI"/>
                        </a:rPr>
                        <a:t>5</a:t>
                      </a:r>
                    </a:p>
                  </a:txBody>
                  <a:tcPr marL="82296" marR="64008" marT="27432" marB="27432" anchor="ctr">
                    <a:solidFill>
                      <a:srgbClr val="FFFFFF"/>
                    </a:solidFill>
                  </a:tcPr>
                </a:tc>
                <a:tc>
                  <a:txBody>
                    <a:bodyPr/>
                    <a:lstStyle/>
                    <a:p>
                      <a:r>
                        <a:rPr sz="1100" b="0">
                          <a:solidFill>
                            <a:srgbClr val="14171A"/>
                          </a:solidFill>
                          <a:latin typeface="Segoe UI"/>
                        </a:rPr>
                        <a:t>Size the reply to the question — a six-sentence answer is ~10 s of audio</a:t>
                      </a:r>
                    </a:p>
                  </a:txBody>
                  <a:tcPr marL="82296" marR="64008" marT="27432" marB="27432" anchor="ctr">
                    <a:solidFill>
                      <a:srgbClr val="FFFFFF"/>
                    </a:solidFill>
                  </a:tcPr>
                </a:tc>
                <a:tc>
                  <a:txBody>
                    <a:bodyPr/>
                    <a:lstStyle/>
                    <a:p>
                      <a:r>
                        <a:rPr sz="1100" b="0">
                          <a:solidFill>
                            <a:srgbClr val="14171A"/>
                          </a:solidFill>
                          <a:latin typeface="Segoe UI"/>
                        </a:rPr>
                        <a:t>Less waiting, better pacing</a:t>
                      </a:r>
                    </a:p>
                  </a:txBody>
                  <a:tcPr marL="82296" marR="64008" marT="27432" marB="27432" anchor="ctr">
                    <a:solidFill>
                      <a:srgbClr val="FFFFFF"/>
                    </a:solidFill>
                  </a:tcPr>
                </a:tc>
                <a:tc>
                  <a:txBody>
                    <a:bodyPr/>
                    <a:lstStyle/>
                    <a:p>
                      <a:r>
                        <a:rPr sz="1100" b="0">
                          <a:solidFill>
                            <a:srgbClr val="14171A"/>
                          </a:solidFill>
                          <a:latin typeface="Segoe UI"/>
                        </a:rPr>
                        <a:t>a day</a:t>
                      </a:r>
                    </a:p>
                  </a:txBody>
                  <a:tcPr marL="82296" marR="64008"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6" name="TextBox 5"/>
          <p:cNvSpPr txBox="1"/>
          <p:nvPr/>
        </p:nvSpPr>
        <p:spPr>
          <a:xfrm>
            <a:off x="658368" y="5138928"/>
            <a:ext cx="10874959" cy="1280160"/>
          </a:xfrm>
          <a:prstGeom prst="rect">
            <a:avLst/>
          </a:prstGeom>
          <a:noFill/>
        </p:spPr>
        <p:txBody>
          <a:bodyPr wrap="square" lIns="0" tIns="0" rIns="0" bIns="0" anchor="t">
            <a:spAutoFit/>
          </a:bodyPr>
          <a:lstStyle/>
          <a:p>
            <a:pPr algn="l">
              <a:lnSpc>
                <a:spcPct val="115000"/>
              </a:lnSpc>
            </a:pPr>
            <a:r>
              <a:rPr sz="1200" b="0" i="0">
                <a:solidFill>
                  <a:srgbClr val="666E78"/>
                </a:solidFill>
                <a:latin typeface="Segoe UI"/>
              </a:rPr>
              <a:t>Items 1–3 are the certain part; 4 and 5 need measuring before I would promise them. The target is a reply that starts speaking in under two seconds, which is the threshold where a conversation stops feeling like a machine taking its turn.</a:t>
            </a:r>
          </a:p>
          <a:p>
            <a:pPr algn="l">
              <a:lnSpc>
                <a:spcPct val="115000"/>
              </a:lnSpc>
            </a:pPr>
            <a:endParaRPr sz="1200" b="0" i="0">
              <a:solidFill>
                <a:srgbClr val="666E78"/>
              </a:solidFill>
              <a:latin typeface="Segoe UI"/>
            </a:endParaRPr>
          </a:p>
          <a:p>
            <a:pPr algn="l">
              <a:lnSpc>
                <a:spcPct val="115000"/>
              </a:lnSpc>
            </a:pPr>
            <a:r>
              <a:rPr sz="1200" b="0" i="0">
                <a:solidFill>
                  <a:srgbClr val="666E78"/>
                </a:solidFill>
                <a:latin typeface="Segoe UI"/>
              </a:rPr>
              <a:t>Nothing on this slide needs a decision — it is listed so the plan is visible.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420624"/>
            <a:ext cx="10874959" cy="237744"/>
          </a:xfrm>
          <a:prstGeom prst="rect">
            <a:avLst/>
          </a:prstGeom>
          <a:noFill/>
        </p:spPr>
        <p:txBody>
          <a:bodyPr wrap="square" lIns="0" tIns="0" rIns="0" bIns="0" anchor="t">
            <a:spAutoFit/>
          </a:bodyPr>
          <a:lstStyle/>
          <a:p>
            <a:pPr algn="l">
              <a:lnSpc>
                <a:spcPct val="115000"/>
              </a:lnSpc>
            </a:pPr>
            <a:r>
              <a:rPr sz="1100" b="1" i="0">
                <a:solidFill>
                  <a:srgbClr val="2F5FD0"/>
                </a:solidFill>
                <a:latin typeface="Segoe UI"/>
              </a:rPr>
              <a:t>FIX 2 — THE PERSONALITY</a:t>
            </a:r>
          </a:p>
        </p:txBody>
      </p:sp>
      <p:sp>
        <p:nvSpPr>
          <p:cNvPr id="3" name="TextBox 2"/>
          <p:cNvSpPr txBox="1"/>
          <p:nvPr/>
        </p:nvSpPr>
        <p:spPr>
          <a:xfrm>
            <a:off x="658368" y="694944"/>
            <a:ext cx="10874959" cy="502920"/>
          </a:xfrm>
          <a:prstGeom prst="rect">
            <a:avLst/>
          </a:prstGeom>
          <a:noFill/>
        </p:spPr>
        <p:txBody>
          <a:bodyPr wrap="square" lIns="0" tIns="0" rIns="0" bIns="0" anchor="t">
            <a:spAutoFit/>
          </a:bodyPr>
          <a:lstStyle/>
          <a:p>
            <a:pPr algn="l">
              <a:lnSpc>
                <a:spcPct val="115000"/>
              </a:lnSpc>
            </a:pPr>
            <a:r>
              <a:rPr sz="2700" b="1" i="0">
                <a:solidFill>
                  <a:srgbClr val="142244"/>
                </a:solidFill>
                <a:latin typeface="Segoe UI"/>
              </a:rPr>
              <a:t>This is the one that needs help. 4–6 weeks.</a:t>
            </a:r>
          </a:p>
        </p:txBody>
      </p:sp>
      <p:sp>
        <p:nvSpPr>
          <p:cNvPr id="4" name="Rectangle 3"/>
          <p:cNvSpPr/>
          <p:nvPr/>
        </p:nvSpPr>
        <p:spPr>
          <a:xfrm>
            <a:off x="658368" y="1298448"/>
            <a:ext cx="10874959" cy="9525"/>
          </a:xfrm>
          <a:prstGeom prst="rect">
            <a:avLst/>
          </a:prstGeom>
          <a:solidFill>
            <a:srgbClr val="DD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658368" y="1517904"/>
          <a:ext cx="10872216" cy="4169664"/>
        </p:xfrm>
        <a:graphic>
          <a:graphicData uri="http://schemas.openxmlformats.org/drawingml/2006/table">
            <a:tbl>
              <a:tblPr firstRow="1" bandRow="1">
                <a:tableStyleId>{5C22544A-7EE6-4342-B048-85BDC9FD1C3A}</a:tableStyleId>
              </a:tblPr>
              <a:tblGrid>
                <a:gridCol w="45720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gridCol w="2093976">
                  <a:extLst>
                    <a:ext uri="{9D8B030D-6E8A-4147-A177-3AD203B41FA5}">
                      <a16:colId xmlns:a16="http://schemas.microsoft.com/office/drawing/2014/main" val="20003"/>
                    </a:ext>
                  </a:extLst>
                </a:gridCol>
              </a:tblGrid>
              <a:tr h="694944">
                <a:tc>
                  <a:txBody>
                    <a:bodyPr/>
                    <a:lstStyle/>
                    <a:p>
                      <a:r>
                        <a:rPr sz="1050" b="1">
                          <a:solidFill>
                            <a:srgbClr val="FFFFFF"/>
                          </a:solidFill>
                          <a:latin typeface="Segoe UI"/>
                        </a:rPr>
                        <a:t>#</a:t>
                      </a:r>
                    </a:p>
                  </a:txBody>
                  <a:tcPr marL="82296" marR="64008" marT="27432" marB="27432" anchor="ctr">
                    <a:solidFill>
                      <a:srgbClr val="142244"/>
                    </a:solidFill>
                  </a:tcPr>
                </a:tc>
                <a:tc>
                  <a:txBody>
                    <a:bodyPr/>
                    <a:lstStyle/>
                    <a:p>
                      <a:r>
                        <a:rPr sz="1050" b="1">
                          <a:solidFill>
                            <a:srgbClr val="FFFFFF"/>
                          </a:solidFill>
                          <a:latin typeface="Segoe UI"/>
                        </a:rPr>
                        <a:t>Action</a:t>
                      </a:r>
                    </a:p>
                  </a:txBody>
                  <a:tcPr marL="82296" marR="64008" marT="27432" marB="27432" anchor="ctr">
                    <a:solidFill>
                      <a:srgbClr val="142244"/>
                    </a:solidFill>
                  </a:tcPr>
                </a:tc>
                <a:tc>
                  <a:txBody>
                    <a:bodyPr/>
                    <a:lstStyle/>
                    <a:p>
                      <a:r>
                        <a:rPr sz="1050" b="1">
                          <a:solidFill>
                            <a:srgbClr val="FFFFFF"/>
                          </a:solidFill>
                          <a:latin typeface="Segoe UI"/>
                        </a:rPr>
                        <a:t>Why</a:t>
                      </a:r>
                    </a:p>
                  </a:txBody>
                  <a:tcPr marL="82296" marR="64008" marT="27432" marB="27432" anchor="ctr">
                    <a:solidFill>
                      <a:srgbClr val="142244"/>
                    </a:solidFill>
                  </a:tcPr>
                </a:tc>
                <a:tc>
                  <a:txBody>
                    <a:bodyPr/>
                    <a:lstStyle/>
                    <a:p>
                      <a:r>
                        <a:rPr sz="1050" b="1">
                          <a:solidFill>
                            <a:srgbClr val="FFFFFF"/>
                          </a:solidFill>
                          <a:latin typeface="Segoe UI"/>
                        </a:rPr>
                        <a:t>Needs</a:t>
                      </a:r>
                    </a:p>
                  </a:txBody>
                  <a:tcPr marL="82296" marR="64008" marT="27432" marB="27432" anchor="ctr">
                    <a:solidFill>
                      <a:srgbClr val="142244"/>
                    </a:solidFill>
                  </a:tcPr>
                </a:tc>
                <a:extLst>
                  <a:ext uri="{0D108BD9-81ED-4DB2-BD59-A6C34878D82A}">
                    <a16:rowId xmlns:a16="http://schemas.microsoft.com/office/drawing/2014/main" val="10000"/>
                  </a:ext>
                </a:extLst>
              </a:tr>
              <a:tr h="694944">
                <a:tc>
                  <a:txBody>
                    <a:bodyPr/>
                    <a:lstStyle/>
                    <a:p>
                      <a:r>
                        <a:rPr sz="1050" b="0">
                          <a:solidFill>
                            <a:srgbClr val="14171A"/>
                          </a:solidFill>
                          <a:latin typeface="Segoe UI"/>
                        </a:rPr>
                        <a:t>6</a:t>
                      </a:r>
                    </a:p>
                  </a:txBody>
                  <a:tcPr marL="82296" marR="64008" marT="27432" marB="27432" anchor="ctr">
                    <a:solidFill>
                      <a:srgbClr val="FFFFFF"/>
                    </a:solidFill>
                  </a:tcPr>
                </a:tc>
                <a:tc>
                  <a:txBody>
                    <a:bodyPr/>
                    <a:lstStyle/>
                    <a:p>
                      <a:r>
                        <a:rPr sz="1050" b="0">
                          <a:solidFill>
                            <a:srgbClr val="14171A"/>
                          </a:solidFill>
                          <a:latin typeface="Segoe UI"/>
                        </a:rPr>
                        <a:t>Blind A/B test scored by people — 20 questions, 3 scorers. Do this FIRST</a:t>
                      </a:r>
                    </a:p>
                  </a:txBody>
                  <a:tcPr marL="82296" marR="64008" marT="27432" marB="27432" anchor="ctr">
                    <a:solidFill>
                      <a:srgbClr val="FFFFFF"/>
                    </a:solidFill>
                  </a:tcPr>
                </a:tc>
                <a:tc>
                  <a:txBody>
                    <a:bodyPr/>
                    <a:lstStyle/>
                    <a:p>
                      <a:r>
                        <a:rPr sz="1050" b="0">
                          <a:solidFill>
                            <a:srgbClr val="14171A"/>
                          </a:solidFill>
                          <a:latin typeface="Segoe UI"/>
                        </a:rPr>
                        <a:t>Nothing here can be judged by the automatic checker. Without a baseline we cannot tell whether the money bought anything</a:t>
                      </a:r>
                    </a:p>
                  </a:txBody>
                  <a:tcPr marL="82296" marR="64008" marT="27432" marB="27432" anchor="ctr">
                    <a:solidFill>
                      <a:srgbClr val="FFFFFF"/>
                    </a:solidFill>
                  </a:tcPr>
                </a:tc>
                <a:tc>
                  <a:txBody>
                    <a:bodyPr/>
                    <a:lstStyle/>
                    <a:p>
                      <a:r>
                        <a:rPr sz="1050" b="0">
                          <a:solidFill>
                            <a:srgbClr val="A86400"/>
                          </a:solidFill>
                          <a:latin typeface="Segoe UI"/>
                        </a:rPr>
                        <a:t>3 people × half a day</a:t>
                      </a:r>
                    </a:p>
                  </a:txBody>
                  <a:tcPr marL="82296" marR="64008" marT="27432" marB="27432" anchor="ctr">
                    <a:solidFill>
                      <a:srgbClr val="FFFFFF"/>
                    </a:solidFill>
                  </a:tcPr>
                </a:tc>
                <a:extLst>
                  <a:ext uri="{0D108BD9-81ED-4DB2-BD59-A6C34878D82A}">
                    <a16:rowId xmlns:a16="http://schemas.microsoft.com/office/drawing/2014/main" val="10001"/>
                  </a:ext>
                </a:extLst>
              </a:tr>
              <a:tr h="694944">
                <a:tc>
                  <a:txBody>
                    <a:bodyPr/>
                    <a:lstStyle/>
                    <a:p>
                      <a:r>
                        <a:rPr sz="1050" b="0">
                          <a:solidFill>
                            <a:srgbClr val="14171A"/>
                          </a:solidFill>
                          <a:latin typeface="Segoe UI"/>
                        </a:rPr>
                        <a:t>7</a:t>
                      </a:r>
                    </a:p>
                  </a:txBody>
                  <a:tcPr marL="82296" marR="64008" marT="27432" marB="27432" anchor="ctr">
                    <a:solidFill>
                      <a:srgbClr val="F2F4F7"/>
                    </a:solidFill>
                  </a:tcPr>
                </a:tc>
                <a:tc>
                  <a:txBody>
                    <a:bodyPr/>
                    <a:lstStyle/>
                    <a:p>
                      <a:r>
                        <a:rPr sz="1050" b="0">
                          <a:solidFill>
                            <a:srgbClr val="14171A"/>
                          </a:solidFill>
                          <a:latin typeface="Segoe UI"/>
                        </a:rPr>
                        <a:t>Build real training data: 200–300 replies written by a native English speaker, plus a larger model as a teacher, distilled down</a:t>
                      </a:r>
                    </a:p>
                  </a:txBody>
                  <a:tcPr marL="82296" marR="64008" marT="27432" marB="27432" anchor="ctr">
                    <a:solidFill>
                      <a:srgbClr val="F2F4F7"/>
                    </a:solidFill>
                  </a:tcPr>
                </a:tc>
                <a:tc>
                  <a:txBody>
                    <a:bodyPr/>
                    <a:lstStyle/>
                    <a:p>
                      <a:r>
                        <a:rPr sz="1050" b="0">
                          <a:solidFill>
                            <a:srgbClr val="14171A"/>
                          </a:solidFill>
                          <a:latin typeface="Segoe UI"/>
                        </a:rPr>
                        <a:t>Breaks the ceiling in cause (b) — the model can only learn charm it is shown</a:t>
                      </a:r>
                    </a:p>
                  </a:txBody>
                  <a:tcPr marL="82296" marR="64008" marT="27432" marB="27432" anchor="ctr">
                    <a:solidFill>
                      <a:srgbClr val="F2F4F7"/>
                    </a:solidFill>
                  </a:tcPr>
                </a:tc>
                <a:tc>
                  <a:txBody>
                    <a:bodyPr/>
                    <a:lstStyle/>
                    <a:p>
                      <a:r>
                        <a:rPr sz="1050" b="0">
                          <a:solidFill>
                            <a:srgbClr val="C62B2B"/>
                          </a:solidFill>
                          <a:latin typeface="Segoe UI"/>
                        </a:rPr>
                        <a:t>A writer + a small one-off API budget</a:t>
                      </a:r>
                    </a:p>
                  </a:txBody>
                  <a:tcPr marL="82296" marR="64008" marT="27432" marB="27432" anchor="ctr">
                    <a:solidFill>
                      <a:srgbClr val="F2F4F7"/>
                    </a:solidFill>
                  </a:tcPr>
                </a:tc>
                <a:extLst>
                  <a:ext uri="{0D108BD9-81ED-4DB2-BD59-A6C34878D82A}">
                    <a16:rowId xmlns:a16="http://schemas.microsoft.com/office/drawing/2014/main" val="10002"/>
                  </a:ext>
                </a:extLst>
              </a:tr>
              <a:tr h="694944">
                <a:tc>
                  <a:txBody>
                    <a:bodyPr/>
                    <a:lstStyle/>
                    <a:p>
                      <a:r>
                        <a:rPr sz="1050" b="0">
                          <a:solidFill>
                            <a:srgbClr val="14171A"/>
                          </a:solidFill>
                          <a:latin typeface="Segoe UI"/>
                        </a:rPr>
                        <a:t>8</a:t>
                      </a:r>
                    </a:p>
                  </a:txBody>
                  <a:tcPr marL="82296" marR="64008" marT="27432" marB="27432" anchor="ctr">
                    <a:solidFill>
                      <a:srgbClr val="FFFFFF"/>
                    </a:solidFill>
                  </a:tcPr>
                </a:tc>
                <a:tc>
                  <a:txBody>
                    <a:bodyPr/>
                    <a:lstStyle/>
                    <a:p>
                      <a:r>
                        <a:rPr sz="1050" b="0">
                          <a:solidFill>
                            <a:srgbClr val="14171A"/>
                          </a:solidFill>
                          <a:latin typeface="Segoe UI"/>
                        </a:rPr>
                        <a:t>Preference training on the good/bad pairs from the blind test</a:t>
                      </a:r>
                    </a:p>
                  </a:txBody>
                  <a:tcPr marL="82296" marR="64008" marT="27432" marB="27432" anchor="ctr">
                    <a:solidFill>
                      <a:srgbClr val="FFFFFF"/>
                    </a:solidFill>
                  </a:tcPr>
                </a:tc>
                <a:tc>
                  <a:txBody>
                    <a:bodyPr/>
                    <a:lstStyle/>
                    <a:p>
                      <a:r>
                        <a:rPr sz="1050" b="0">
                          <a:solidFill>
                            <a:srgbClr val="14171A"/>
                          </a:solidFill>
                          <a:latin typeface="Segoe UI"/>
                        </a:rPr>
                        <a:t>Teaches the part rules cannot describe</a:t>
                      </a:r>
                    </a:p>
                  </a:txBody>
                  <a:tcPr marL="82296" marR="64008" marT="27432" marB="27432" anchor="ctr">
                    <a:solidFill>
                      <a:srgbClr val="FFFFFF"/>
                    </a:solidFill>
                  </a:tcPr>
                </a:tc>
                <a:tc>
                  <a:txBody>
                    <a:bodyPr/>
                    <a:lstStyle/>
                    <a:p>
                      <a:r>
                        <a:rPr sz="1050" b="0">
                          <a:solidFill>
                            <a:srgbClr val="14171A"/>
                          </a:solidFill>
                          <a:latin typeface="Segoe UI"/>
                        </a:rPr>
                        <a:t>reuses the data from #6</a:t>
                      </a:r>
                    </a:p>
                  </a:txBody>
                  <a:tcPr marL="82296" marR="64008" marT="27432" marB="27432" anchor="ctr">
                    <a:solidFill>
                      <a:srgbClr val="FFFFFF"/>
                    </a:solidFill>
                  </a:tcPr>
                </a:tc>
                <a:extLst>
                  <a:ext uri="{0D108BD9-81ED-4DB2-BD59-A6C34878D82A}">
                    <a16:rowId xmlns:a16="http://schemas.microsoft.com/office/drawing/2014/main" val="10003"/>
                  </a:ext>
                </a:extLst>
              </a:tr>
              <a:tr h="694944">
                <a:tc>
                  <a:txBody>
                    <a:bodyPr/>
                    <a:lstStyle/>
                    <a:p>
                      <a:r>
                        <a:rPr sz="1050" b="0">
                          <a:solidFill>
                            <a:srgbClr val="14171A"/>
                          </a:solidFill>
                          <a:latin typeface="Segoe UI"/>
                        </a:rPr>
                        <a:t>9</a:t>
                      </a:r>
                    </a:p>
                  </a:txBody>
                  <a:tcPr marL="82296" marR="64008" marT="27432" marB="27432" anchor="ctr">
                    <a:solidFill>
                      <a:srgbClr val="F2F4F7"/>
                    </a:solidFill>
                  </a:tcPr>
                </a:tc>
                <a:tc>
                  <a:txBody>
                    <a:bodyPr/>
                    <a:lstStyle/>
                    <a:p>
                      <a:r>
                        <a:rPr sz="1050" b="0">
                          <a:solidFill>
                            <a:srgbClr val="14171A"/>
                          </a:solidFill>
                          <a:latin typeface="Segoe UI"/>
                        </a:rPr>
                        <a:t>A weekly life journal for the character — real specifics she can talk about</a:t>
                      </a:r>
                    </a:p>
                  </a:txBody>
                  <a:tcPr marL="82296" marR="64008" marT="27432" marB="27432" anchor="ctr">
                    <a:solidFill>
                      <a:srgbClr val="F2F4F7"/>
                    </a:solidFill>
                  </a:tcPr>
                </a:tc>
                <a:tc>
                  <a:txBody>
                    <a:bodyPr/>
                    <a:lstStyle/>
                    <a:p>
                      <a:r>
                        <a:rPr sz="1050" b="0">
                          <a:solidFill>
                            <a:srgbClr val="14171A"/>
                          </a:solidFill>
                          <a:latin typeface="Segoe UI"/>
                        </a:rPr>
                        <a:t>Removes the generic sympathy that reads as a machine</a:t>
                      </a:r>
                    </a:p>
                  </a:txBody>
                  <a:tcPr marL="82296" marR="64008" marT="27432" marB="27432" anchor="ctr">
                    <a:solidFill>
                      <a:srgbClr val="F2F4F7"/>
                    </a:solidFill>
                  </a:tcPr>
                </a:tc>
                <a:tc>
                  <a:txBody>
                    <a:bodyPr/>
                    <a:lstStyle/>
                    <a:p>
                      <a:r>
                        <a:rPr sz="1050" b="0">
                          <a:solidFill>
                            <a:srgbClr val="A86400"/>
                          </a:solidFill>
                          <a:latin typeface="Segoe UI"/>
                        </a:rPr>
                        <a:t>1–2 h/week editing</a:t>
                      </a:r>
                    </a:p>
                  </a:txBody>
                  <a:tcPr marL="82296" marR="64008" marT="27432" marB="27432" anchor="ctr">
                    <a:solidFill>
                      <a:srgbClr val="F2F4F7"/>
                    </a:solidFill>
                  </a:tcPr>
                </a:tc>
                <a:extLst>
                  <a:ext uri="{0D108BD9-81ED-4DB2-BD59-A6C34878D82A}">
                    <a16:rowId xmlns:a16="http://schemas.microsoft.com/office/drawing/2014/main" val="10004"/>
                  </a:ext>
                </a:extLst>
              </a:tr>
              <a:tr h="694944">
                <a:tc>
                  <a:txBody>
                    <a:bodyPr/>
                    <a:lstStyle/>
                    <a:p>
                      <a:r>
                        <a:rPr sz="1050" b="0">
                          <a:solidFill>
                            <a:srgbClr val="14171A"/>
                          </a:solidFill>
                          <a:latin typeface="Segoe UI"/>
                        </a:rPr>
                        <a:t>10</a:t>
                      </a:r>
                    </a:p>
                  </a:txBody>
                  <a:tcPr marL="82296" marR="64008" marT="27432" marB="27432" anchor="ctr">
                    <a:solidFill>
                      <a:srgbClr val="FFFFFF"/>
                    </a:solidFill>
                  </a:tcPr>
                </a:tc>
                <a:tc>
                  <a:txBody>
                    <a:bodyPr/>
                    <a:lstStyle/>
                    <a:p>
                      <a:r>
                        <a:rPr sz="1050" b="0">
                          <a:solidFill>
                            <a:srgbClr val="14171A"/>
                          </a:solidFill>
                          <a:latin typeface="Segoe UI"/>
                        </a:rPr>
                        <a:t>Test a 14B model, or a newer generation</a:t>
                      </a:r>
                    </a:p>
                  </a:txBody>
                  <a:tcPr marL="82296" marR="64008" marT="27432" marB="27432" anchor="ctr">
                    <a:solidFill>
                      <a:srgbClr val="FFFFFF"/>
                    </a:solidFill>
                  </a:tcPr>
                </a:tc>
                <a:tc>
                  <a:txBody>
                    <a:bodyPr/>
                    <a:lstStyle/>
                    <a:p>
                      <a:r>
                        <a:rPr sz="1050" b="0">
                          <a:solidFill>
                            <a:srgbClr val="14171A"/>
                          </a:solidFill>
                          <a:latin typeface="Segoe UI"/>
                        </a:rPr>
                        <a:t>Raises the floor everything else sits on</a:t>
                      </a:r>
                    </a:p>
                  </a:txBody>
                  <a:tcPr marL="82296" marR="64008" marT="27432" marB="27432" anchor="ctr">
                    <a:solidFill>
                      <a:srgbClr val="FFFFFF"/>
                    </a:solidFill>
                  </a:tcPr>
                </a:tc>
                <a:tc>
                  <a:txBody>
                    <a:bodyPr/>
                    <a:lstStyle/>
                    <a:p>
                      <a:r>
                        <a:rPr sz="1050" b="0">
                          <a:solidFill>
                            <a:srgbClr val="A86400"/>
                          </a:solidFill>
                          <a:latin typeface="Segoe UI"/>
                        </a:rPr>
                        <a:t>Depends on a 24 GB GPU</a:t>
                      </a:r>
                    </a:p>
                  </a:txBody>
                  <a:tcPr marL="82296" marR="64008"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6" name="TextBox 5"/>
          <p:cNvSpPr txBox="1"/>
          <p:nvPr/>
        </p:nvSpPr>
        <p:spPr>
          <a:xfrm>
            <a:off x="658368" y="5797296"/>
            <a:ext cx="10874959" cy="731520"/>
          </a:xfrm>
          <a:prstGeom prst="rect">
            <a:avLst/>
          </a:prstGeom>
          <a:noFill/>
        </p:spPr>
        <p:txBody>
          <a:bodyPr wrap="square" lIns="0" tIns="0" rIns="0" bIns="0" anchor="t">
            <a:spAutoFit/>
          </a:bodyPr>
          <a:lstStyle/>
          <a:p>
            <a:pPr algn="l">
              <a:lnSpc>
                <a:spcPct val="115000"/>
              </a:lnSpc>
            </a:pPr>
            <a:r>
              <a:rPr sz="1250" b="1" i="0">
                <a:solidFill>
                  <a:srgbClr val="14171A"/>
                </a:solidFill>
                <a:latin typeface="Segoe UI"/>
              </a:rPr>
              <a:t>Order matters: #6 before #7. Measuring first is what turns "it feels better" into a number we can defend — and it costs half a day.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420624"/>
            <a:ext cx="10874959" cy="237744"/>
          </a:xfrm>
          <a:prstGeom prst="rect">
            <a:avLst/>
          </a:prstGeom>
          <a:noFill/>
        </p:spPr>
        <p:txBody>
          <a:bodyPr wrap="square" lIns="0" tIns="0" rIns="0" bIns="0" anchor="t">
            <a:spAutoFit/>
          </a:bodyPr>
          <a:lstStyle/>
          <a:p>
            <a:pPr algn="l">
              <a:lnSpc>
                <a:spcPct val="115000"/>
              </a:lnSpc>
            </a:pPr>
            <a:r>
              <a:rPr sz="1100" b="1" i="0">
                <a:solidFill>
                  <a:srgbClr val="2F5FD0"/>
                </a:solidFill>
                <a:latin typeface="Segoe UI"/>
              </a:rPr>
              <a:t>WHAT I NEED FROM YOU</a:t>
            </a:r>
          </a:p>
        </p:txBody>
      </p:sp>
      <p:sp>
        <p:nvSpPr>
          <p:cNvPr id="3" name="TextBox 2"/>
          <p:cNvSpPr txBox="1"/>
          <p:nvPr/>
        </p:nvSpPr>
        <p:spPr>
          <a:xfrm>
            <a:off x="658368" y="694944"/>
            <a:ext cx="10874959" cy="502920"/>
          </a:xfrm>
          <a:prstGeom prst="rect">
            <a:avLst/>
          </a:prstGeom>
          <a:noFill/>
        </p:spPr>
        <p:txBody>
          <a:bodyPr wrap="square" lIns="0" tIns="0" rIns="0" bIns="0" anchor="t">
            <a:spAutoFit/>
          </a:bodyPr>
          <a:lstStyle/>
          <a:p>
            <a:pPr algn="l">
              <a:lnSpc>
                <a:spcPct val="115000"/>
              </a:lnSpc>
            </a:pPr>
            <a:r>
              <a:rPr sz="2700" b="1" i="0">
                <a:solidFill>
                  <a:srgbClr val="142244"/>
                </a:solidFill>
                <a:latin typeface="Segoe UI"/>
              </a:rPr>
              <a:t>Three decisions. Everything else I can do myself.</a:t>
            </a:r>
          </a:p>
        </p:txBody>
      </p:sp>
      <p:sp>
        <p:nvSpPr>
          <p:cNvPr id="4" name="Rectangle 3"/>
          <p:cNvSpPr/>
          <p:nvPr/>
        </p:nvSpPr>
        <p:spPr>
          <a:xfrm>
            <a:off x="658368" y="1298448"/>
            <a:ext cx="10874959" cy="9525"/>
          </a:xfrm>
          <a:prstGeom prst="rect">
            <a:avLst/>
          </a:prstGeom>
          <a:solidFill>
            <a:srgbClr val="DD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58368" y="1517904"/>
            <a:ext cx="10874959" cy="1298448"/>
          </a:xfrm>
          <a:prstGeom prst="roundRect">
            <a:avLst>
              <a:gd name="adj" fmla="val 6000"/>
            </a:avLst>
          </a:prstGeom>
          <a:solidFill>
            <a:srgbClr val="FFFFFF"/>
          </a:solidFill>
          <a:ln w="9525">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877824" y="1792224"/>
            <a:ext cx="566928" cy="566928"/>
          </a:xfrm>
          <a:prstGeom prst="ellipse">
            <a:avLst/>
          </a:prstGeom>
          <a:solidFill>
            <a:srgbClr val="C62B2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a:solidFill>
                  <a:srgbClr val="FFFFFF"/>
                </a:solidFill>
                <a:latin typeface="Segoe UI"/>
              </a:rPr>
              <a:t>1</a:t>
            </a:r>
          </a:p>
        </p:txBody>
      </p:sp>
      <p:sp>
        <p:nvSpPr>
          <p:cNvPr id="7" name="TextBox 6"/>
          <p:cNvSpPr txBox="1"/>
          <p:nvPr/>
        </p:nvSpPr>
        <p:spPr>
          <a:xfrm>
            <a:off x="1682496" y="1682496"/>
            <a:ext cx="9594799" cy="773545"/>
          </a:xfrm>
          <a:prstGeom prst="rect">
            <a:avLst/>
          </a:prstGeom>
          <a:noFill/>
        </p:spPr>
        <p:txBody>
          <a:bodyPr wrap="square" lIns="0" tIns="0" rIns="0" bIns="0" anchor="t">
            <a:spAutoFit/>
          </a:bodyPr>
          <a:lstStyle/>
          <a:p>
            <a:pPr algn="l">
              <a:lnSpc>
                <a:spcPct val="115000"/>
              </a:lnSpc>
            </a:pPr>
            <a:r>
              <a:rPr lang="en-US" sz="1500" b="1" dirty="0">
                <a:solidFill>
                  <a:srgbClr val="142244"/>
                </a:solidFill>
                <a:latin typeface="Segoe UI"/>
              </a:rPr>
              <a:t>How to make KOL speak naturally? Do we need to scrape data from real livestream (TikTok, IG, Facebook,…), KOL will learn how to speak naturally or maybe we can find real public dataset or model to do this task? </a:t>
            </a:r>
            <a:endParaRPr sz="1500" b="1" i="0" dirty="0">
              <a:solidFill>
                <a:srgbClr val="142244"/>
              </a:solidFill>
              <a:latin typeface="Segoe UI"/>
            </a:endParaRPr>
          </a:p>
        </p:txBody>
      </p:sp>
      <p:sp>
        <p:nvSpPr>
          <p:cNvPr id="10" name="Rounded Rectangle 9"/>
          <p:cNvSpPr/>
          <p:nvPr/>
        </p:nvSpPr>
        <p:spPr>
          <a:xfrm>
            <a:off x="658368" y="2935224"/>
            <a:ext cx="10874959" cy="1298448"/>
          </a:xfrm>
          <a:prstGeom prst="roundRect">
            <a:avLst>
              <a:gd name="adj" fmla="val 6000"/>
            </a:avLst>
          </a:prstGeom>
          <a:solidFill>
            <a:srgbClr val="FFFFFF"/>
          </a:solidFill>
          <a:ln w="9525">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877824" y="3209544"/>
            <a:ext cx="566928" cy="566928"/>
          </a:xfrm>
          <a:prstGeom prst="ellipse">
            <a:avLst/>
          </a:prstGeom>
          <a:solidFill>
            <a:srgbClr val="A864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a:solidFill>
                  <a:srgbClr val="FFFFFF"/>
                </a:solidFill>
                <a:latin typeface="Segoe UI"/>
              </a:rPr>
              <a:t>2</a:t>
            </a:r>
          </a:p>
        </p:txBody>
      </p:sp>
      <p:sp>
        <p:nvSpPr>
          <p:cNvPr id="12" name="TextBox 11"/>
          <p:cNvSpPr txBox="1"/>
          <p:nvPr/>
        </p:nvSpPr>
        <p:spPr>
          <a:xfrm>
            <a:off x="1682496" y="3099816"/>
            <a:ext cx="9594799" cy="292608"/>
          </a:xfrm>
          <a:prstGeom prst="rect">
            <a:avLst/>
          </a:prstGeom>
          <a:noFill/>
        </p:spPr>
        <p:txBody>
          <a:bodyPr wrap="square" lIns="0" tIns="0" rIns="0" bIns="0" anchor="t">
            <a:spAutoFit/>
          </a:bodyPr>
          <a:lstStyle/>
          <a:p>
            <a:pPr algn="l">
              <a:lnSpc>
                <a:spcPct val="115000"/>
              </a:lnSpc>
            </a:pPr>
            <a:r>
              <a:rPr sz="1500" b="1" i="0">
                <a:solidFill>
                  <a:srgbClr val="142244"/>
                </a:solidFill>
                <a:latin typeface="Segoe UI"/>
              </a:rPr>
              <a:t>A small one-off budget for teacher-model API calls</a:t>
            </a:r>
          </a:p>
        </p:txBody>
      </p:sp>
      <p:sp>
        <p:nvSpPr>
          <p:cNvPr id="13" name="TextBox 12"/>
          <p:cNvSpPr txBox="1"/>
          <p:nvPr/>
        </p:nvSpPr>
        <p:spPr>
          <a:xfrm>
            <a:off x="1682496" y="3447288"/>
            <a:ext cx="9549079" cy="457200"/>
          </a:xfrm>
          <a:prstGeom prst="rect">
            <a:avLst/>
          </a:prstGeom>
          <a:noFill/>
        </p:spPr>
        <p:txBody>
          <a:bodyPr wrap="square" lIns="0" tIns="0" rIns="0" bIns="0" anchor="t">
            <a:spAutoFit/>
          </a:bodyPr>
          <a:lstStyle/>
          <a:p>
            <a:pPr algn="l">
              <a:lnSpc>
                <a:spcPct val="115000"/>
              </a:lnSpc>
            </a:pPr>
            <a:r>
              <a:rPr sz="1100" b="0" i="0">
                <a:solidFill>
                  <a:srgbClr val="666E78"/>
                </a:solidFill>
                <a:latin typeface="Segoe UI"/>
              </a:rPr>
              <a:t>Used once, to generate high-quality training data that the local 7B model cannot produce for itself. Small in absolute terms, but it needs approval to spend.</a:t>
            </a:r>
          </a:p>
        </p:txBody>
      </p:sp>
      <p:sp>
        <p:nvSpPr>
          <p:cNvPr id="14" name="TextBox 13"/>
          <p:cNvSpPr txBox="1"/>
          <p:nvPr/>
        </p:nvSpPr>
        <p:spPr>
          <a:xfrm>
            <a:off x="1682496" y="3922776"/>
            <a:ext cx="9549079" cy="237744"/>
          </a:xfrm>
          <a:prstGeom prst="rect">
            <a:avLst/>
          </a:prstGeom>
          <a:noFill/>
        </p:spPr>
        <p:txBody>
          <a:bodyPr wrap="square" lIns="0" tIns="0" rIns="0" bIns="0" anchor="t">
            <a:spAutoFit/>
          </a:bodyPr>
          <a:lstStyle/>
          <a:p>
            <a:pPr algn="l">
              <a:lnSpc>
                <a:spcPct val="115000"/>
              </a:lnSpc>
            </a:pPr>
            <a:r>
              <a:rPr sz="1050" b="1" i="0">
                <a:solidFill>
                  <a:srgbClr val="A86400"/>
                </a:solidFill>
                <a:latin typeface="Segoe UI"/>
              </a:rPr>
              <a:t>One-off. I will report exactly what was spent and what it changed.</a:t>
            </a:r>
          </a:p>
        </p:txBody>
      </p:sp>
      <p:sp>
        <p:nvSpPr>
          <p:cNvPr id="15" name="Rounded Rectangle 14"/>
          <p:cNvSpPr/>
          <p:nvPr/>
        </p:nvSpPr>
        <p:spPr>
          <a:xfrm>
            <a:off x="658368" y="4352544"/>
            <a:ext cx="10874959" cy="1298448"/>
          </a:xfrm>
          <a:prstGeom prst="roundRect">
            <a:avLst>
              <a:gd name="adj" fmla="val 6000"/>
            </a:avLst>
          </a:prstGeom>
          <a:solidFill>
            <a:srgbClr val="FFFFFF"/>
          </a:solidFill>
          <a:ln w="9525">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877824" y="4626864"/>
            <a:ext cx="566928" cy="566928"/>
          </a:xfrm>
          <a:prstGeom prst="ellipse">
            <a:avLst/>
          </a:prstGeom>
          <a:solidFill>
            <a:srgbClr val="A864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a:solidFill>
                  <a:srgbClr val="FFFFFF"/>
                </a:solidFill>
                <a:latin typeface="Segoe UI"/>
              </a:rPr>
              <a:t>3</a:t>
            </a:r>
          </a:p>
        </p:txBody>
      </p:sp>
      <p:sp>
        <p:nvSpPr>
          <p:cNvPr id="17" name="TextBox 16"/>
          <p:cNvSpPr txBox="1"/>
          <p:nvPr/>
        </p:nvSpPr>
        <p:spPr>
          <a:xfrm>
            <a:off x="1682496" y="4517136"/>
            <a:ext cx="9594799" cy="242631"/>
          </a:xfrm>
          <a:prstGeom prst="rect">
            <a:avLst/>
          </a:prstGeom>
          <a:noFill/>
        </p:spPr>
        <p:txBody>
          <a:bodyPr wrap="square" lIns="0" tIns="0" rIns="0" bIns="0" anchor="t">
            <a:spAutoFit/>
          </a:bodyPr>
          <a:lstStyle/>
          <a:p>
            <a:pPr algn="l">
              <a:lnSpc>
                <a:spcPct val="115000"/>
              </a:lnSpc>
            </a:pPr>
            <a:r>
              <a:rPr sz="1500" b="1" i="0" dirty="0">
                <a:solidFill>
                  <a:srgbClr val="142244"/>
                </a:solidFill>
                <a:latin typeface="Segoe UI"/>
              </a:rPr>
              <a:t>A decision on the 24 GB GPU </a:t>
            </a:r>
            <a:r>
              <a:rPr lang="en-US" sz="1500" b="1" i="0" dirty="0">
                <a:solidFill>
                  <a:srgbClr val="142244"/>
                </a:solidFill>
                <a:latin typeface="Segoe UI"/>
              </a:rPr>
              <a:t>:</a:t>
            </a:r>
            <a:r>
              <a:rPr sz="1500" b="1" i="0" dirty="0">
                <a:solidFill>
                  <a:srgbClr val="142244"/>
                </a:solidFill>
                <a:latin typeface="Segoe UI"/>
              </a:rPr>
              <a:t> buy or rent?</a:t>
            </a:r>
          </a:p>
        </p:txBody>
      </p:sp>
      <p:sp>
        <p:nvSpPr>
          <p:cNvPr id="18" name="TextBox 17"/>
          <p:cNvSpPr txBox="1"/>
          <p:nvPr/>
        </p:nvSpPr>
        <p:spPr>
          <a:xfrm>
            <a:off x="1682496" y="4864608"/>
            <a:ext cx="9549079" cy="457200"/>
          </a:xfrm>
          <a:prstGeom prst="rect">
            <a:avLst/>
          </a:prstGeom>
          <a:noFill/>
        </p:spPr>
        <p:txBody>
          <a:bodyPr wrap="square" lIns="0" tIns="0" rIns="0" bIns="0" anchor="t">
            <a:spAutoFit/>
          </a:bodyPr>
          <a:lstStyle/>
          <a:p>
            <a:pPr algn="l">
              <a:lnSpc>
                <a:spcPct val="115000"/>
              </a:lnSpc>
            </a:pPr>
            <a:r>
              <a:rPr sz="1100" b="0" i="0">
                <a:solidFill>
                  <a:srgbClr val="666E78"/>
                </a:solidFill>
                <a:latin typeface="Segoe UI"/>
              </a:rPr>
              <a:t>Unlocks the 14B model, lets all three layers run at once instead of taking turns, and makes training our own lip-sync model possible. The cost model is already in the executive deck.</a:t>
            </a:r>
          </a:p>
        </p:txBody>
      </p:sp>
      <p:sp>
        <p:nvSpPr>
          <p:cNvPr id="19" name="TextBox 18"/>
          <p:cNvSpPr txBox="1"/>
          <p:nvPr/>
        </p:nvSpPr>
        <p:spPr>
          <a:xfrm>
            <a:off x="1682496" y="5340096"/>
            <a:ext cx="9549079" cy="237744"/>
          </a:xfrm>
          <a:prstGeom prst="rect">
            <a:avLst/>
          </a:prstGeom>
          <a:noFill/>
        </p:spPr>
        <p:txBody>
          <a:bodyPr wrap="square" lIns="0" tIns="0" rIns="0" bIns="0" anchor="t">
            <a:spAutoFit/>
          </a:bodyPr>
          <a:lstStyle/>
          <a:p>
            <a:pPr algn="l">
              <a:lnSpc>
                <a:spcPct val="115000"/>
              </a:lnSpc>
            </a:pPr>
            <a:r>
              <a:rPr sz="1050" b="1" i="0" dirty="0">
                <a:solidFill>
                  <a:srgbClr val="A86400"/>
                </a:solidFill>
                <a:latin typeface="Segoe UI"/>
              </a:rPr>
              <a:t>Not blocking today's work; it is the ceiling on everything after it.</a:t>
            </a:r>
          </a:p>
        </p:txBody>
      </p:sp>
      <p:sp>
        <p:nvSpPr>
          <p:cNvPr id="20" name="TextBox 19"/>
          <p:cNvSpPr txBox="1"/>
          <p:nvPr/>
        </p:nvSpPr>
        <p:spPr>
          <a:xfrm>
            <a:off x="658368" y="5870448"/>
            <a:ext cx="10874959" cy="548640"/>
          </a:xfrm>
          <a:prstGeom prst="rect">
            <a:avLst/>
          </a:prstGeom>
          <a:noFill/>
        </p:spPr>
        <p:txBody>
          <a:bodyPr wrap="square" lIns="0" tIns="0" rIns="0" bIns="0" anchor="t">
            <a:spAutoFit/>
          </a:bodyPr>
          <a:lstStyle/>
          <a:p>
            <a:pPr algn="l">
              <a:lnSpc>
                <a:spcPct val="115000"/>
              </a:lnSpc>
            </a:pPr>
            <a:r>
              <a:rPr sz="1150" b="0" i="1">
                <a:solidFill>
                  <a:srgbClr val="666E78"/>
                </a:solidFill>
                <a:latin typeface="Segoe UI"/>
              </a:rPr>
              <a:t>Two more that are not decisions but need someone else's eyes: legal to read the MuseTalk licence (so we can drop the research-licensed model), and a call on how intimate the companion mode is allowed to be — that is a brand question, not a technical one.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420624"/>
            <a:ext cx="10874959" cy="177934"/>
          </a:xfrm>
          <a:prstGeom prst="rect">
            <a:avLst/>
          </a:prstGeom>
          <a:noFill/>
        </p:spPr>
        <p:txBody>
          <a:bodyPr wrap="square" lIns="0" tIns="0" rIns="0" bIns="0" anchor="t">
            <a:spAutoFit/>
          </a:bodyPr>
          <a:lstStyle/>
          <a:p>
            <a:pPr algn="l">
              <a:lnSpc>
                <a:spcPct val="115000"/>
              </a:lnSpc>
            </a:pPr>
            <a:r>
              <a:rPr lang="vi-VN" sz="1100" b="1" dirty="0">
                <a:solidFill>
                  <a:srgbClr val="2F5FD0"/>
                </a:solidFill>
                <a:latin typeface="Segoe UI"/>
              </a:rPr>
              <a:t>FIVE</a:t>
            </a:r>
            <a:r>
              <a:rPr sz="1100" b="1" i="0" dirty="0">
                <a:solidFill>
                  <a:srgbClr val="2F5FD0"/>
                </a:solidFill>
                <a:latin typeface="Segoe UI"/>
              </a:rPr>
              <a:t>-WEEK PLAN</a:t>
            </a:r>
          </a:p>
        </p:txBody>
      </p:sp>
      <p:sp>
        <p:nvSpPr>
          <p:cNvPr id="3" name="TextBox 2"/>
          <p:cNvSpPr txBox="1"/>
          <p:nvPr/>
        </p:nvSpPr>
        <p:spPr>
          <a:xfrm>
            <a:off x="658368" y="694944"/>
            <a:ext cx="10874959" cy="502920"/>
          </a:xfrm>
          <a:prstGeom prst="rect">
            <a:avLst/>
          </a:prstGeom>
          <a:noFill/>
        </p:spPr>
        <p:txBody>
          <a:bodyPr wrap="square" lIns="0" tIns="0" rIns="0" bIns="0" anchor="t">
            <a:spAutoFit/>
          </a:bodyPr>
          <a:lstStyle/>
          <a:p>
            <a:pPr algn="l">
              <a:lnSpc>
                <a:spcPct val="115000"/>
              </a:lnSpc>
            </a:pPr>
            <a:r>
              <a:rPr sz="2700" b="1" i="0">
                <a:solidFill>
                  <a:srgbClr val="142244"/>
                </a:solidFill>
                <a:latin typeface="Segoe UI"/>
              </a:rPr>
              <a:t>Each week ends in something measurable</a:t>
            </a:r>
          </a:p>
        </p:txBody>
      </p:sp>
      <p:sp>
        <p:nvSpPr>
          <p:cNvPr id="4" name="Rectangle 3"/>
          <p:cNvSpPr/>
          <p:nvPr/>
        </p:nvSpPr>
        <p:spPr>
          <a:xfrm>
            <a:off x="658368" y="1298448"/>
            <a:ext cx="10874959" cy="9525"/>
          </a:xfrm>
          <a:prstGeom prst="rect">
            <a:avLst/>
          </a:prstGeom>
          <a:solidFill>
            <a:srgbClr val="DD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extLst>
              <p:ext uri="{D42A27DB-BD31-4B8C-83A1-F6EECF244321}">
                <p14:modId xmlns:p14="http://schemas.microsoft.com/office/powerpoint/2010/main" val="1963296248"/>
              </p:ext>
            </p:extLst>
          </p:nvPr>
        </p:nvGraphicFramePr>
        <p:xfrm>
          <a:off x="658368" y="1554480"/>
          <a:ext cx="10872216" cy="3401568"/>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gridCol w="4654296">
                  <a:extLst>
                    <a:ext uri="{9D8B030D-6E8A-4147-A177-3AD203B41FA5}">
                      <a16:colId xmlns:a16="http://schemas.microsoft.com/office/drawing/2014/main" val="20002"/>
                    </a:ext>
                  </a:extLst>
                </a:gridCol>
              </a:tblGrid>
              <a:tr h="566928">
                <a:tc>
                  <a:txBody>
                    <a:bodyPr/>
                    <a:lstStyle/>
                    <a:p>
                      <a:r>
                        <a:rPr sz="1150" b="1">
                          <a:solidFill>
                            <a:srgbClr val="FFFFFF"/>
                          </a:solidFill>
                          <a:latin typeface="Segoe UI"/>
                        </a:rPr>
                        <a:t>Week</a:t>
                      </a:r>
                    </a:p>
                  </a:txBody>
                  <a:tcPr marL="82296" marR="64008" marT="27432" marB="27432" anchor="ctr">
                    <a:solidFill>
                      <a:srgbClr val="142244"/>
                    </a:solidFill>
                  </a:tcPr>
                </a:tc>
                <a:tc>
                  <a:txBody>
                    <a:bodyPr/>
                    <a:lstStyle/>
                    <a:p>
                      <a:r>
                        <a:rPr sz="1150" b="1">
                          <a:solidFill>
                            <a:srgbClr val="FFFFFF"/>
                          </a:solidFill>
                          <a:latin typeface="Segoe UI"/>
                        </a:rPr>
                        <a:t>Focus</a:t>
                      </a:r>
                    </a:p>
                  </a:txBody>
                  <a:tcPr marL="82296" marR="64008" marT="27432" marB="27432" anchor="ctr">
                    <a:solidFill>
                      <a:srgbClr val="142244"/>
                    </a:solidFill>
                  </a:tcPr>
                </a:tc>
                <a:tc>
                  <a:txBody>
                    <a:bodyPr/>
                    <a:lstStyle/>
                    <a:p>
                      <a:r>
                        <a:rPr sz="1150" b="1">
                          <a:solidFill>
                            <a:srgbClr val="FFFFFF"/>
                          </a:solidFill>
                          <a:latin typeface="Segoe UI"/>
                        </a:rPr>
                        <a:t>How we will know it worked</a:t>
                      </a:r>
                    </a:p>
                  </a:txBody>
                  <a:tcPr marL="82296" marR="64008" marT="27432" marB="27432" anchor="ctr">
                    <a:solidFill>
                      <a:srgbClr val="142244"/>
                    </a:solidFill>
                  </a:tcPr>
                </a:tc>
                <a:extLst>
                  <a:ext uri="{0D108BD9-81ED-4DB2-BD59-A6C34878D82A}">
                    <a16:rowId xmlns:a16="http://schemas.microsoft.com/office/drawing/2014/main" val="10000"/>
                  </a:ext>
                </a:extLst>
              </a:tr>
              <a:tr h="566928">
                <a:tc>
                  <a:txBody>
                    <a:bodyPr/>
                    <a:lstStyle/>
                    <a:p>
                      <a:r>
                        <a:rPr sz="1150" b="0">
                          <a:solidFill>
                            <a:srgbClr val="14171A"/>
                          </a:solidFill>
                          <a:latin typeface="Segoe UI"/>
                        </a:rPr>
                        <a:t>1–2</a:t>
                      </a:r>
                    </a:p>
                  </a:txBody>
                  <a:tcPr marL="82296" marR="64008" marT="27432" marB="27432" anchor="ctr">
                    <a:solidFill>
                      <a:srgbClr val="FFFFFF"/>
                    </a:solidFill>
                  </a:tcPr>
                </a:tc>
                <a:tc>
                  <a:txBody>
                    <a:bodyPr/>
                    <a:lstStyle/>
                    <a:p>
                      <a:r>
                        <a:rPr sz="1150" b="0">
                          <a:solidFill>
                            <a:srgbClr val="14171A"/>
                          </a:solidFill>
                          <a:latin typeface="Segoe UI"/>
                        </a:rPr>
                        <a:t>Stream the speech; merge the retry passes</a:t>
                      </a:r>
                    </a:p>
                  </a:txBody>
                  <a:tcPr marL="82296" marR="64008" marT="27432" marB="27432" anchor="ctr">
                    <a:solidFill>
                      <a:srgbClr val="FFFFFF"/>
                    </a:solidFill>
                  </a:tcPr>
                </a:tc>
                <a:tc>
                  <a:txBody>
                    <a:bodyPr/>
                    <a:lstStyle/>
                    <a:p>
                      <a:r>
                        <a:rPr sz="1150" b="0">
                          <a:solidFill>
                            <a:srgbClr val="0F8A4C"/>
                          </a:solidFill>
                          <a:latin typeface="Segoe UI"/>
                        </a:rPr>
                        <a:t>First sound in under 2 seconds, measured</a:t>
                      </a:r>
                    </a:p>
                  </a:txBody>
                  <a:tcPr marL="82296" marR="64008" marT="27432" marB="27432" anchor="ctr">
                    <a:solidFill>
                      <a:srgbClr val="FFFFFF"/>
                    </a:solidFill>
                  </a:tcPr>
                </a:tc>
                <a:extLst>
                  <a:ext uri="{0D108BD9-81ED-4DB2-BD59-A6C34878D82A}">
                    <a16:rowId xmlns:a16="http://schemas.microsoft.com/office/drawing/2014/main" val="10001"/>
                  </a:ext>
                </a:extLst>
              </a:tr>
              <a:tr h="566928">
                <a:tc>
                  <a:txBody>
                    <a:bodyPr/>
                    <a:lstStyle/>
                    <a:p>
                      <a:r>
                        <a:rPr sz="1150" b="0">
                          <a:solidFill>
                            <a:srgbClr val="14171A"/>
                          </a:solidFill>
                          <a:latin typeface="Segoe UI"/>
                        </a:rPr>
                        <a:t>2</a:t>
                      </a:r>
                    </a:p>
                  </a:txBody>
                  <a:tcPr marL="82296" marR="64008" marT="27432" marB="27432" anchor="ctr">
                    <a:solidFill>
                      <a:srgbClr val="F2F4F7"/>
                    </a:solidFill>
                  </a:tcPr>
                </a:tc>
                <a:tc>
                  <a:txBody>
                    <a:bodyPr/>
                    <a:lstStyle/>
                    <a:p>
                      <a:r>
                        <a:rPr sz="1150" b="0">
                          <a:solidFill>
                            <a:srgbClr val="14171A"/>
                          </a:solidFill>
                          <a:latin typeface="Segoe UI"/>
                        </a:rPr>
                        <a:t>Blind A/B test scored by people</a:t>
                      </a:r>
                    </a:p>
                  </a:txBody>
                  <a:tcPr marL="82296" marR="64008" marT="27432" marB="27432" anchor="ctr">
                    <a:solidFill>
                      <a:srgbClr val="F2F4F7"/>
                    </a:solidFill>
                  </a:tcPr>
                </a:tc>
                <a:tc>
                  <a:txBody>
                    <a:bodyPr/>
                    <a:lstStyle/>
                    <a:p>
                      <a:r>
                        <a:rPr sz="1150" b="0">
                          <a:solidFill>
                            <a:srgbClr val="0F8A4C"/>
                          </a:solidFill>
                          <a:latin typeface="Segoe UI"/>
                        </a:rPr>
                        <a:t>A human baseline for "does she sound natural"</a:t>
                      </a:r>
                    </a:p>
                  </a:txBody>
                  <a:tcPr marL="82296" marR="64008" marT="27432" marB="27432" anchor="ctr">
                    <a:solidFill>
                      <a:srgbClr val="F2F4F7"/>
                    </a:solidFill>
                  </a:tcPr>
                </a:tc>
                <a:extLst>
                  <a:ext uri="{0D108BD9-81ED-4DB2-BD59-A6C34878D82A}">
                    <a16:rowId xmlns:a16="http://schemas.microsoft.com/office/drawing/2014/main" val="10002"/>
                  </a:ext>
                </a:extLst>
              </a:tr>
              <a:tr h="566928">
                <a:tc>
                  <a:txBody>
                    <a:bodyPr/>
                    <a:lstStyle/>
                    <a:p>
                      <a:r>
                        <a:rPr sz="1150" b="0">
                          <a:solidFill>
                            <a:srgbClr val="14171A"/>
                          </a:solidFill>
                          <a:latin typeface="Segoe UI"/>
                        </a:rPr>
                        <a:t>3–4</a:t>
                      </a:r>
                    </a:p>
                  </a:txBody>
                  <a:tcPr marL="82296" marR="64008" marT="27432" marB="27432" anchor="ctr">
                    <a:solidFill>
                      <a:srgbClr val="FFFFFF"/>
                    </a:solidFill>
                  </a:tcPr>
                </a:tc>
                <a:tc>
                  <a:txBody>
                    <a:bodyPr/>
                    <a:lstStyle/>
                    <a:p>
                      <a:r>
                        <a:rPr sz="1150" b="0">
                          <a:solidFill>
                            <a:srgbClr val="14171A"/>
                          </a:solidFill>
                          <a:latin typeface="Segoe UI"/>
                        </a:rPr>
                        <a:t>Native-written replies + teacher-model data + the life journal</a:t>
                      </a:r>
                    </a:p>
                  </a:txBody>
                  <a:tcPr marL="82296" marR="64008" marT="27432" marB="27432" anchor="ctr">
                    <a:solidFill>
                      <a:srgbClr val="FFFFFF"/>
                    </a:solidFill>
                  </a:tcPr>
                </a:tc>
                <a:tc>
                  <a:txBody>
                    <a:bodyPr/>
                    <a:lstStyle/>
                    <a:p>
                      <a:r>
                        <a:rPr sz="1150" b="0">
                          <a:solidFill>
                            <a:srgbClr val="14171A"/>
                          </a:solidFill>
                          <a:latin typeface="Segoe UI"/>
                        </a:rPr>
                        <a:t>300+ reviewed training examples</a:t>
                      </a:r>
                    </a:p>
                  </a:txBody>
                  <a:tcPr marL="82296" marR="64008" marT="27432" marB="27432" anchor="ctr">
                    <a:solidFill>
                      <a:srgbClr val="FFFFFF"/>
                    </a:solidFill>
                  </a:tcPr>
                </a:tc>
                <a:extLst>
                  <a:ext uri="{0D108BD9-81ED-4DB2-BD59-A6C34878D82A}">
                    <a16:rowId xmlns:a16="http://schemas.microsoft.com/office/drawing/2014/main" val="10003"/>
                  </a:ext>
                </a:extLst>
              </a:tr>
              <a:tr h="566928">
                <a:tc>
                  <a:txBody>
                    <a:bodyPr/>
                    <a:lstStyle/>
                    <a:p>
                      <a:r>
                        <a:rPr sz="1150" b="0">
                          <a:solidFill>
                            <a:srgbClr val="14171A"/>
                          </a:solidFill>
                          <a:latin typeface="Segoe UI"/>
                        </a:rPr>
                        <a:t>5</a:t>
                      </a:r>
                    </a:p>
                  </a:txBody>
                  <a:tcPr marL="82296" marR="64008" marT="27432" marB="27432" anchor="ctr">
                    <a:solidFill>
                      <a:srgbClr val="F2F4F7"/>
                    </a:solidFill>
                  </a:tcPr>
                </a:tc>
                <a:tc>
                  <a:txBody>
                    <a:bodyPr/>
                    <a:lstStyle/>
                    <a:p>
                      <a:r>
                        <a:rPr sz="1150" b="0">
                          <a:solidFill>
                            <a:srgbClr val="14171A"/>
                          </a:solidFill>
                          <a:latin typeface="Segoe UI"/>
                        </a:rPr>
                        <a:t>Retrain, then preference-train on the blind-test pairs</a:t>
                      </a:r>
                    </a:p>
                  </a:txBody>
                  <a:tcPr marL="82296" marR="64008" marT="27432" marB="27432" anchor="ctr">
                    <a:solidFill>
                      <a:srgbClr val="F2F4F7"/>
                    </a:solidFill>
                  </a:tcPr>
                </a:tc>
                <a:tc>
                  <a:txBody>
                    <a:bodyPr/>
                    <a:lstStyle/>
                    <a:p>
                      <a:r>
                        <a:rPr sz="1150" b="0">
                          <a:solidFill>
                            <a:srgbClr val="14171A"/>
                          </a:solidFill>
                          <a:latin typeface="Segoe UI"/>
                        </a:rPr>
                        <a:t>Second blind score, compared against week 2</a:t>
                      </a:r>
                    </a:p>
                  </a:txBody>
                  <a:tcPr marL="82296" marR="64008" marT="27432" marB="27432" anchor="ctr">
                    <a:solidFill>
                      <a:srgbClr val="F2F4F7"/>
                    </a:solidFill>
                  </a:tcPr>
                </a:tc>
                <a:extLst>
                  <a:ext uri="{0D108BD9-81ED-4DB2-BD59-A6C34878D82A}">
                    <a16:rowId xmlns:a16="http://schemas.microsoft.com/office/drawing/2014/main" val="10004"/>
                  </a:ext>
                </a:extLst>
              </a:tr>
              <a:tr h="566928">
                <a:tc>
                  <a:txBody>
                    <a:bodyPr/>
                    <a:lstStyle/>
                    <a:p>
                      <a:endParaRPr sz="1150" b="0" dirty="0">
                        <a:solidFill>
                          <a:srgbClr val="14171A"/>
                        </a:solidFill>
                        <a:latin typeface="Segoe UI"/>
                      </a:endParaRPr>
                    </a:p>
                  </a:txBody>
                  <a:tcPr marL="82296" marR="64008" marT="27432" marB="27432" anchor="ctr">
                    <a:solidFill>
                      <a:srgbClr val="FFFFFF"/>
                    </a:solidFill>
                  </a:tcPr>
                </a:tc>
                <a:tc>
                  <a:txBody>
                    <a:bodyPr/>
                    <a:lstStyle/>
                    <a:p>
                      <a:endParaRPr sz="1150" b="0" dirty="0">
                        <a:solidFill>
                          <a:srgbClr val="14171A"/>
                        </a:solidFill>
                        <a:latin typeface="Segoe UI"/>
                      </a:endParaRPr>
                    </a:p>
                  </a:txBody>
                  <a:tcPr marL="82296" marR="64008" marT="27432" marB="27432" anchor="ctr">
                    <a:solidFill>
                      <a:srgbClr val="FFFFFF"/>
                    </a:solidFill>
                  </a:tcPr>
                </a:tc>
                <a:tc>
                  <a:txBody>
                    <a:bodyPr/>
                    <a:lstStyle/>
                    <a:p>
                      <a:endParaRPr sz="1150" b="0" dirty="0">
                        <a:solidFill>
                          <a:srgbClr val="0F8A4C"/>
                        </a:solidFill>
                        <a:latin typeface="Segoe UI"/>
                      </a:endParaRPr>
                    </a:p>
                  </a:txBody>
                  <a:tcPr marL="82296" marR="64008"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6" name="TextBox 5"/>
          <p:cNvSpPr txBox="1"/>
          <p:nvPr/>
        </p:nvSpPr>
        <p:spPr>
          <a:xfrm>
            <a:off x="658368" y="5138928"/>
            <a:ext cx="10874959" cy="406458"/>
          </a:xfrm>
          <a:prstGeom prst="rect">
            <a:avLst/>
          </a:prstGeom>
          <a:noFill/>
        </p:spPr>
        <p:txBody>
          <a:bodyPr wrap="square" lIns="0" tIns="0" rIns="0" bIns="0" anchor="t">
            <a:spAutoFit/>
          </a:bodyPr>
          <a:lstStyle/>
          <a:p>
            <a:pPr algn="l">
              <a:lnSpc>
                <a:spcPct val="115000"/>
              </a:lnSpc>
            </a:pPr>
            <a:r>
              <a:rPr sz="1200" b="0" i="0" dirty="0">
                <a:solidFill>
                  <a:srgbClr val="666E78"/>
                </a:solidFill>
                <a:latin typeface="Segoe UI"/>
              </a:rPr>
              <a:t>The two workstreams are independent: the speed work is mine alone and starts immediately, while the personality work only starts once the writer is available. If the answer on item 1 is no, weeks 3–5 change </a:t>
            </a:r>
            <a:r>
              <a:rPr lang="vi-VN" sz="1200" b="0" i="0" dirty="0">
                <a:solidFill>
                  <a:srgbClr val="666E78"/>
                </a:solidFill>
                <a:latin typeface="Segoe UI"/>
              </a:rPr>
              <a:t>shape:</a:t>
            </a:r>
            <a:r>
              <a:rPr sz="1200" b="0" i="0" dirty="0">
                <a:solidFill>
                  <a:srgbClr val="666E78"/>
                </a:solidFill>
                <a:latin typeface="Segoe UI"/>
              </a:rPr>
              <a:t> I would fall back to teacher-model data alone, which is cheaper and measurably weaker.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420624"/>
            <a:ext cx="10874959" cy="237744"/>
          </a:xfrm>
          <a:prstGeom prst="rect">
            <a:avLst/>
          </a:prstGeom>
          <a:noFill/>
        </p:spPr>
        <p:txBody>
          <a:bodyPr wrap="square" lIns="0" tIns="0" rIns="0" bIns="0" anchor="t">
            <a:spAutoFit/>
          </a:bodyPr>
          <a:lstStyle/>
          <a:p>
            <a:pPr algn="l">
              <a:lnSpc>
                <a:spcPct val="115000"/>
              </a:lnSpc>
            </a:pPr>
            <a:r>
              <a:rPr sz="1100" b="1" i="0">
                <a:solidFill>
                  <a:srgbClr val="2F5FD0"/>
                </a:solidFill>
                <a:latin typeface="Segoe UI"/>
              </a:rPr>
              <a:t>IN ONE PAGE</a:t>
            </a:r>
          </a:p>
        </p:txBody>
      </p:sp>
      <p:sp>
        <p:nvSpPr>
          <p:cNvPr id="3" name="TextBox 2"/>
          <p:cNvSpPr txBox="1"/>
          <p:nvPr/>
        </p:nvSpPr>
        <p:spPr>
          <a:xfrm>
            <a:off x="658368" y="694944"/>
            <a:ext cx="10874959" cy="502920"/>
          </a:xfrm>
          <a:prstGeom prst="rect">
            <a:avLst/>
          </a:prstGeom>
          <a:noFill/>
        </p:spPr>
        <p:txBody>
          <a:bodyPr wrap="square" lIns="0" tIns="0" rIns="0" bIns="0" anchor="t">
            <a:spAutoFit/>
          </a:bodyPr>
          <a:lstStyle/>
          <a:p>
            <a:pPr algn="l">
              <a:lnSpc>
                <a:spcPct val="115000"/>
              </a:lnSpc>
            </a:pPr>
            <a:r>
              <a:rPr sz="2700" b="1" i="0">
                <a:solidFill>
                  <a:srgbClr val="142244"/>
                </a:solidFill>
                <a:latin typeface="Segoe UI"/>
              </a:rPr>
              <a:t>Where this stands</a:t>
            </a:r>
          </a:p>
        </p:txBody>
      </p:sp>
      <p:sp>
        <p:nvSpPr>
          <p:cNvPr id="4" name="Rectangle 3"/>
          <p:cNvSpPr/>
          <p:nvPr/>
        </p:nvSpPr>
        <p:spPr>
          <a:xfrm>
            <a:off x="658368" y="1298448"/>
            <a:ext cx="10874959" cy="9525"/>
          </a:xfrm>
          <a:prstGeom prst="rect">
            <a:avLst/>
          </a:prstGeom>
          <a:solidFill>
            <a:srgbClr val="DD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58368" y="1517904"/>
            <a:ext cx="2609011" cy="932688"/>
          </a:xfrm>
          <a:prstGeom prst="roundRect">
            <a:avLst>
              <a:gd name="adj" fmla="val 6000"/>
            </a:avLst>
          </a:prstGeom>
          <a:solidFill>
            <a:srgbClr val="F2F4F7"/>
          </a:solidFill>
          <a:ln w="9525">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04672" y="1636776"/>
            <a:ext cx="2334691" cy="420624"/>
          </a:xfrm>
          <a:prstGeom prst="rect">
            <a:avLst/>
          </a:prstGeom>
          <a:noFill/>
        </p:spPr>
        <p:txBody>
          <a:bodyPr wrap="square" lIns="0" tIns="0" rIns="0" bIns="0" anchor="t">
            <a:spAutoFit/>
          </a:bodyPr>
          <a:lstStyle/>
          <a:p>
            <a:pPr algn="l">
              <a:lnSpc>
                <a:spcPct val="115000"/>
              </a:lnSpc>
            </a:pPr>
            <a:r>
              <a:rPr sz="2600" b="1" i="0">
                <a:solidFill>
                  <a:srgbClr val="0F8A4C"/>
                </a:solidFill>
                <a:latin typeface="Segoe UI"/>
              </a:rPr>
              <a:t>Works</a:t>
            </a:r>
          </a:p>
        </p:txBody>
      </p:sp>
      <p:sp>
        <p:nvSpPr>
          <p:cNvPr id="7" name="TextBox 6"/>
          <p:cNvSpPr txBox="1"/>
          <p:nvPr/>
        </p:nvSpPr>
        <p:spPr>
          <a:xfrm>
            <a:off x="804672" y="2084832"/>
            <a:ext cx="2334691" cy="274320"/>
          </a:xfrm>
          <a:prstGeom prst="rect">
            <a:avLst/>
          </a:prstGeom>
          <a:noFill/>
        </p:spPr>
        <p:txBody>
          <a:bodyPr wrap="square" lIns="0" tIns="0" rIns="0" bIns="0" anchor="t">
            <a:spAutoFit/>
          </a:bodyPr>
          <a:lstStyle/>
          <a:p>
            <a:pPr algn="l">
              <a:lnSpc>
                <a:spcPct val="115000"/>
              </a:lnSpc>
            </a:pPr>
            <a:r>
              <a:rPr sz="1050" b="0" i="0">
                <a:solidFill>
                  <a:srgbClr val="666E78"/>
                </a:solidFill>
                <a:latin typeface="Segoe UI"/>
              </a:rPr>
              <a:t>all four layers, verified</a:t>
            </a:r>
          </a:p>
        </p:txBody>
      </p:sp>
      <p:sp>
        <p:nvSpPr>
          <p:cNvPr id="8" name="Rounded Rectangle 7"/>
          <p:cNvSpPr/>
          <p:nvPr/>
        </p:nvSpPr>
        <p:spPr>
          <a:xfrm>
            <a:off x="3413683" y="1517904"/>
            <a:ext cx="2609011" cy="932688"/>
          </a:xfrm>
          <a:prstGeom prst="roundRect">
            <a:avLst>
              <a:gd name="adj" fmla="val 6000"/>
            </a:avLst>
          </a:prstGeom>
          <a:solidFill>
            <a:srgbClr val="F2F4F7"/>
          </a:solidFill>
          <a:ln w="9525">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3559987" y="1636776"/>
            <a:ext cx="2334691" cy="420624"/>
          </a:xfrm>
          <a:prstGeom prst="rect">
            <a:avLst/>
          </a:prstGeom>
          <a:noFill/>
        </p:spPr>
        <p:txBody>
          <a:bodyPr wrap="square" lIns="0" tIns="0" rIns="0" bIns="0" anchor="t">
            <a:spAutoFit/>
          </a:bodyPr>
          <a:lstStyle/>
          <a:p>
            <a:pPr algn="l">
              <a:lnSpc>
                <a:spcPct val="115000"/>
              </a:lnSpc>
            </a:pPr>
            <a:r>
              <a:rPr sz="2600" b="1" i="0">
                <a:solidFill>
                  <a:srgbClr val="2F5FD0"/>
                </a:solidFill>
                <a:latin typeface="Segoe UI"/>
              </a:rPr>
              <a:t>7.6 s → 2 s</a:t>
            </a:r>
          </a:p>
        </p:txBody>
      </p:sp>
      <p:sp>
        <p:nvSpPr>
          <p:cNvPr id="10" name="TextBox 9"/>
          <p:cNvSpPr txBox="1"/>
          <p:nvPr/>
        </p:nvSpPr>
        <p:spPr>
          <a:xfrm>
            <a:off x="3559987" y="2084832"/>
            <a:ext cx="2334691" cy="274320"/>
          </a:xfrm>
          <a:prstGeom prst="rect">
            <a:avLst/>
          </a:prstGeom>
          <a:noFill/>
        </p:spPr>
        <p:txBody>
          <a:bodyPr wrap="square" lIns="0" tIns="0" rIns="0" bIns="0" anchor="t">
            <a:spAutoFit/>
          </a:bodyPr>
          <a:lstStyle/>
          <a:p>
            <a:pPr algn="l">
              <a:lnSpc>
                <a:spcPct val="115000"/>
              </a:lnSpc>
            </a:pPr>
            <a:r>
              <a:rPr sz="1050" b="0" i="0">
                <a:solidFill>
                  <a:srgbClr val="666E78"/>
                </a:solidFill>
                <a:latin typeface="Segoe UI"/>
              </a:rPr>
              <a:t>the speed fix, no budget</a:t>
            </a:r>
          </a:p>
        </p:txBody>
      </p:sp>
      <p:sp>
        <p:nvSpPr>
          <p:cNvPr id="11" name="Rounded Rectangle 10"/>
          <p:cNvSpPr/>
          <p:nvPr/>
        </p:nvSpPr>
        <p:spPr>
          <a:xfrm>
            <a:off x="6168998" y="1517904"/>
            <a:ext cx="2609011" cy="932688"/>
          </a:xfrm>
          <a:prstGeom prst="roundRect">
            <a:avLst>
              <a:gd name="adj" fmla="val 6000"/>
            </a:avLst>
          </a:prstGeom>
          <a:solidFill>
            <a:srgbClr val="F2F4F7"/>
          </a:solidFill>
          <a:ln w="9525">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315302" y="1636776"/>
            <a:ext cx="2334691" cy="677493"/>
          </a:xfrm>
          <a:prstGeom prst="rect">
            <a:avLst/>
          </a:prstGeom>
          <a:noFill/>
        </p:spPr>
        <p:txBody>
          <a:bodyPr wrap="square" lIns="0" tIns="0" rIns="0" bIns="0" anchor="t">
            <a:spAutoFit/>
          </a:bodyPr>
          <a:lstStyle/>
          <a:p>
            <a:pPr algn="l">
              <a:lnSpc>
                <a:spcPct val="115000"/>
              </a:lnSpc>
            </a:pPr>
            <a:r>
              <a:rPr lang="en-US" sz="2000" b="1" i="0" dirty="0">
                <a:solidFill>
                  <a:srgbClr val="C62B2B"/>
                </a:solidFill>
                <a:latin typeface="Segoe UI"/>
              </a:rPr>
              <a:t>Answer comment more natural</a:t>
            </a:r>
            <a:endParaRPr sz="2000" b="1" i="0" dirty="0">
              <a:solidFill>
                <a:srgbClr val="C62B2B"/>
              </a:solidFill>
              <a:latin typeface="Segoe UI"/>
            </a:endParaRPr>
          </a:p>
        </p:txBody>
      </p:sp>
      <p:sp>
        <p:nvSpPr>
          <p:cNvPr id="14" name="Rounded Rectangle 13"/>
          <p:cNvSpPr/>
          <p:nvPr/>
        </p:nvSpPr>
        <p:spPr>
          <a:xfrm>
            <a:off x="8924313" y="1517904"/>
            <a:ext cx="2609011" cy="932688"/>
          </a:xfrm>
          <a:prstGeom prst="roundRect">
            <a:avLst>
              <a:gd name="adj" fmla="val 6000"/>
            </a:avLst>
          </a:prstGeom>
          <a:solidFill>
            <a:srgbClr val="F2F4F7"/>
          </a:solidFill>
          <a:ln w="9525">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9070617" y="1636776"/>
            <a:ext cx="2334691" cy="420624"/>
          </a:xfrm>
          <a:prstGeom prst="rect">
            <a:avLst/>
          </a:prstGeom>
          <a:noFill/>
        </p:spPr>
        <p:txBody>
          <a:bodyPr wrap="square" lIns="0" tIns="0" rIns="0" bIns="0" anchor="t">
            <a:spAutoFit/>
          </a:bodyPr>
          <a:lstStyle/>
          <a:p>
            <a:pPr algn="l">
              <a:lnSpc>
                <a:spcPct val="115000"/>
              </a:lnSpc>
            </a:pPr>
            <a:r>
              <a:rPr sz="2600" b="1" i="0">
                <a:solidFill>
                  <a:srgbClr val="0F8A4C"/>
                </a:solidFill>
                <a:latin typeface="Segoe UI"/>
              </a:rPr>
              <a:t>NT$0</a:t>
            </a:r>
          </a:p>
        </p:txBody>
      </p:sp>
      <p:sp>
        <p:nvSpPr>
          <p:cNvPr id="16" name="TextBox 15"/>
          <p:cNvSpPr txBox="1"/>
          <p:nvPr/>
        </p:nvSpPr>
        <p:spPr>
          <a:xfrm>
            <a:off x="9070617" y="2084832"/>
            <a:ext cx="2334691" cy="274320"/>
          </a:xfrm>
          <a:prstGeom prst="rect">
            <a:avLst/>
          </a:prstGeom>
          <a:noFill/>
        </p:spPr>
        <p:txBody>
          <a:bodyPr wrap="square" lIns="0" tIns="0" rIns="0" bIns="0" anchor="t">
            <a:spAutoFit/>
          </a:bodyPr>
          <a:lstStyle/>
          <a:p>
            <a:pPr algn="l">
              <a:lnSpc>
                <a:spcPct val="115000"/>
              </a:lnSpc>
            </a:pPr>
            <a:r>
              <a:rPr sz="1050" b="0" i="0">
                <a:solidFill>
                  <a:srgbClr val="666E78"/>
                </a:solidFill>
                <a:latin typeface="Segoe UI"/>
              </a:rPr>
              <a:t>software licence cost</a:t>
            </a:r>
          </a:p>
        </p:txBody>
      </p:sp>
      <p:sp>
        <p:nvSpPr>
          <p:cNvPr id="17" name="TextBox 16"/>
          <p:cNvSpPr txBox="1"/>
          <p:nvPr/>
        </p:nvSpPr>
        <p:spPr>
          <a:xfrm>
            <a:off x="658368" y="2834640"/>
            <a:ext cx="10874959" cy="658368"/>
          </a:xfrm>
          <a:prstGeom prst="rect">
            <a:avLst/>
          </a:prstGeom>
          <a:noFill/>
        </p:spPr>
        <p:txBody>
          <a:bodyPr wrap="square" lIns="0" tIns="0" rIns="0" bIns="0">
            <a:spAutoFit/>
          </a:bodyPr>
          <a:lstStyle/>
          <a:p>
            <a:pPr>
              <a:lnSpc>
                <a:spcPct val="120000"/>
              </a:lnSpc>
            </a:pPr>
            <a:r>
              <a:rPr sz="1300">
                <a:solidFill>
                  <a:srgbClr val="2F5FD0"/>
                </a:solidFill>
                <a:latin typeface="Segoe UI"/>
              </a:rPr>
              <a:t>▪  </a:t>
            </a:r>
            <a:r>
              <a:rPr sz="1300" b="1">
                <a:solidFill>
                  <a:srgbClr val="14171A"/>
                </a:solidFill>
                <a:latin typeface="Segoe UI"/>
              </a:rPr>
              <a:t>The hard engineering is done and it is measured, not claimed. </a:t>
            </a:r>
            <a:r>
              <a:rPr sz="1300">
                <a:solidFill>
                  <a:srgbClr val="666E78"/>
                </a:solidFill>
                <a:latin typeface="Segoe UI"/>
              </a:rPr>
              <a:t>Voice, safety, avatar and the local brain all have evidence behind them, and the whole thing re-verifies itself with one command.</a:t>
            </a:r>
          </a:p>
        </p:txBody>
      </p:sp>
      <p:sp>
        <p:nvSpPr>
          <p:cNvPr id="18" name="TextBox 17"/>
          <p:cNvSpPr txBox="1"/>
          <p:nvPr/>
        </p:nvSpPr>
        <p:spPr>
          <a:xfrm>
            <a:off x="658368" y="3493008"/>
            <a:ext cx="10874959" cy="658368"/>
          </a:xfrm>
          <a:prstGeom prst="rect">
            <a:avLst/>
          </a:prstGeom>
          <a:noFill/>
        </p:spPr>
        <p:txBody>
          <a:bodyPr wrap="square" lIns="0" tIns="0" rIns="0" bIns="0">
            <a:spAutoFit/>
          </a:bodyPr>
          <a:lstStyle/>
          <a:p>
            <a:pPr>
              <a:lnSpc>
                <a:spcPct val="120000"/>
              </a:lnSpc>
            </a:pPr>
            <a:r>
              <a:rPr sz="1300" dirty="0">
                <a:solidFill>
                  <a:srgbClr val="2F5FD0"/>
                </a:solidFill>
                <a:latin typeface="Segoe UI"/>
              </a:rPr>
              <a:t>▪  </a:t>
            </a:r>
            <a:r>
              <a:rPr sz="1300" b="1" dirty="0">
                <a:solidFill>
                  <a:srgbClr val="14171A"/>
                </a:solidFill>
                <a:latin typeface="Segoe UI"/>
              </a:rPr>
              <a:t>What is left is a quality problem, and quality needs a human in the loop. </a:t>
            </a:r>
            <a:r>
              <a:rPr sz="1300" dirty="0">
                <a:solidFill>
                  <a:srgbClr val="666E78"/>
                </a:solidFill>
                <a:latin typeface="Segoe UI"/>
              </a:rPr>
              <a:t>A model can be taught to stop breaking rules by another model. It cannot be taught to be interesting by one.</a:t>
            </a:r>
          </a:p>
        </p:txBody>
      </p:sp>
      <p:sp>
        <p:nvSpPr>
          <p:cNvPr id="19" name="TextBox 18"/>
          <p:cNvSpPr txBox="1"/>
          <p:nvPr/>
        </p:nvSpPr>
        <p:spPr>
          <a:xfrm>
            <a:off x="658368" y="4151376"/>
            <a:ext cx="10874959" cy="658368"/>
          </a:xfrm>
          <a:prstGeom prst="rect">
            <a:avLst/>
          </a:prstGeom>
          <a:noFill/>
        </p:spPr>
        <p:txBody>
          <a:bodyPr wrap="square" lIns="0" tIns="0" rIns="0" bIns="0">
            <a:spAutoFit/>
          </a:bodyPr>
          <a:lstStyle/>
          <a:p>
            <a:pPr>
              <a:lnSpc>
                <a:spcPct val="120000"/>
              </a:lnSpc>
            </a:pPr>
            <a:r>
              <a:rPr sz="1300" dirty="0">
                <a:solidFill>
                  <a:srgbClr val="2F5FD0"/>
                </a:solidFill>
                <a:latin typeface="Segoe UI"/>
              </a:rPr>
              <a:t>▪  </a:t>
            </a:r>
            <a:r>
              <a:rPr sz="1300" b="1" dirty="0">
                <a:solidFill>
                  <a:srgbClr val="14171A"/>
                </a:solidFill>
                <a:latin typeface="Segoe UI"/>
              </a:rPr>
              <a:t>The speed fix starts this week regardless of any decision. </a:t>
            </a:r>
            <a:r>
              <a:rPr sz="1300" dirty="0">
                <a:solidFill>
                  <a:srgbClr val="666E78"/>
                </a:solidFill>
                <a:latin typeface="Segoe UI"/>
              </a:rPr>
              <a:t>It is the one that changes how the product feels, and it is free.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39</TotalTime>
  <Words>2195</Words>
  <Application>Microsoft Office PowerPoint</Application>
  <PresentationFormat>Widescreen</PresentationFormat>
  <Paragraphs>208</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Tu Le Tu Uyen</cp:lastModifiedBy>
  <cp:revision>3</cp:revision>
  <dcterms:created xsi:type="dcterms:W3CDTF">2013-01-27T09:14:16Z</dcterms:created>
  <dcterms:modified xsi:type="dcterms:W3CDTF">2026-08-17T06:14:57Z</dcterms:modified>
  <cp:category/>
</cp:coreProperties>
</file>