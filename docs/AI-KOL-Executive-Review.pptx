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2212848"/>
            <a:ext cx="1371600" cy="54864"/>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487168"/>
            <a:ext cx="10058400" cy="914400"/>
          </a:xfrm>
          <a:prstGeom prst="rect">
            <a:avLst/>
          </a:prstGeom>
          <a:noFill/>
        </p:spPr>
        <p:txBody>
          <a:bodyPr wrap="square" anchor="t" lIns="0" rIns="0" tIns="0" bIns="0">
            <a:spAutoFit/>
          </a:bodyPr>
          <a:lstStyle/>
          <a:p>
            <a:pPr algn="l">
              <a:lnSpc>
                <a:spcPct val="115000"/>
              </a:lnSpc>
            </a:pPr>
            <a:r>
              <a:rPr sz="4200" b="1" i="0">
                <a:solidFill>
                  <a:srgbClr val="FFFFFF"/>
                </a:solidFill>
                <a:latin typeface="Segoe UI"/>
              </a:rPr>
              <a:t>AI Virtual KOL — Project Review</a:t>
            </a:r>
          </a:p>
        </p:txBody>
      </p:sp>
      <p:sp>
        <p:nvSpPr>
          <p:cNvPr id="5" name="TextBox 4"/>
          <p:cNvSpPr txBox="1"/>
          <p:nvPr/>
        </p:nvSpPr>
        <p:spPr>
          <a:xfrm>
            <a:off x="658368" y="3474720"/>
            <a:ext cx="10058400" cy="548640"/>
          </a:xfrm>
          <a:prstGeom prst="rect">
            <a:avLst/>
          </a:prstGeom>
          <a:noFill/>
        </p:spPr>
        <p:txBody>
          <a:bodyPr wrap="square" anchor="t" lIns="0" rIns="0" tIns="0" bIns="0">
            <a:spAutoFit/>
          </a:bodyPr>
          <a:lstStyle/>
          <a:p>
            <a:pPr algn="l">
              <a:lnSpc>
                <a:spcPct val="115000"/>
              </a:lnSpc>
            </a:pPr>
            <a:r>
              <a:rPr sz="1900" b="0" i="0">
                <a:solidFill>
                  <a:srgbClr val="AEC0E4"/>
                </a:solidFill>
                <a:latin typeface="Segoe UI"/>
              </a:rPr>
              <a:t>Resources · Architecture · Cost · Roadmap</a:t>
            </a:r>
          </a:p>
        </p:txBody>
      </p:sp>
      <p:sp>
        <p:nvSpPr>
          <p:cNvPr id="6" name="TextBox 5"/>
          <p:cNvSpPr txBox="1"/>
          <p:nvPr/>
        </p:nvSpPr>
        <p:spPr>
          <a:xfrm>
            <a:off x="658368" y="4261104"/>
            <a:ext cx="10058400" cy="822960"/>
          </a:xfrm>
          <a:prstGeom prst="rect">
            <a:avLst/>
          </a:prstGeom>
          <a:noFill/>
        </p:spPr>
        <p:txBody>
          <a:bodyPr wrap="square" anchor="t" lIns="0" rIns="0" tIns="0" bIns="0">
            <a:spAutoFit/>
          </a:bodyPr>
          <a:lstStyle/>
          <a:p>
            <a:pPr algn="l">
              <a:lnSpc>
                <a:spcPct val="115000"/>
              </a:lnSpc>
            </a:pPr>
            <a:r>
              <a:rPr sz="1250" b="0" i="0">
                <a:solidFill>
                  <a:srgbClr val="8D9DBE"/>
                </a:solidFill>
                <a:latin typeface="Segoe UI"/>
              </a:rPr>
              <a:t>Prepared by the intern team  ·  2026-07-31  ·  100% local stack, zero software licence cost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EXECUTIVE SUMMARY</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A KOL that speaks with her own voice — working today</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4672" y="1600200"/>
            <a:ext cx="2334691" cy="420624"/>
          </a:xfrm>
          <a:prstGeom prst="rect">
            <a:avLst/>
          </a:prstGeom>
          <a:noFill/>
        </p:spPr>
        <p:txBody>
          <a:bodyPr wrap="square" anchor="t" lIns="0" rIns="0" tIns="0" bIns="0">
            <a:spAutoFit/>
          </a:bodyPr>
          <a:lstStyle/>
          <a:p>
            <a:pPr algn="l">
              <a:lnSpc>
                <a:spcPct val="115000"/>
              </a:lnSpc>
            </a:pPr>
            <a:r>
              <a:rPr sz="2600" b="1" i="0">
                <a:solidFill>
                  <a:srgbClr val="0F8A4C"/>
                </a:solidFill>
                <a:latin typeface="Segoe UI"/>
              </a:rPr>
              <a:t>2 of 4</a:t>
            </a:r>
          </a:p>
        </p:txBody>
      </p:sp>
      <p:sp>
        <p:nvSpPr>
          <p:cNvPr id="7" name="TextBox 6"/>
          <p:cNvSpPr txBox="1"/>
          <p:nvPr/>
        </p:nvSpPr>
        <p:spPr>
          <a:xfrm>
            <a:off x="804672" y="2048256"/>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pipeline layers complete</a:t>
            </a:r>
          </a:p>
        </p:txBody>
      </p:sp>
      <p:sp>
        <p:nvSpPr>
          <p:cNvPr id="8" name="Rounded Rectangle 7"/>
          <p:cNvSpPr/>
          <p:nvPr/>
        </p:nvSpPr>
        <p:spPr>
          <a:xfrm>
            <a:off x="3413683"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9987" y="1600200"/>
            <a:ext cx="2334691" cy="420624"/>
          </a:xfrm>
          <a:prstGeom prst="rect">
            <a:avLst/>
          </a:prstGeom>
          <a:noFill/>
        </p:spPr>
        <p:txBody>
          <a:bodyPr wrap="square" anchor="t" lIns="0" rIns="0" tIns="0" bIns="0">
            <a:spAutoFit/>
          </a:bodyPr>
          <a:lstStyle/>
          <a:p>
            <a:pPr algn="l">
              <a:lnSpc>
                <a:spcPct val="115000"/>
              </a:lnSpc>
            </a:pPr>
            <a:r>
              <a:rPr sz="2600" b="1" i="0">
                <a:solidFill>
                  <a:srgbClr val="0F8A4C"/>
                </a:solidFill>
                <a:latin typeface="Segoe UI"/>
              </a:rPr>
              <a:t>1</a:t>
            </a:r>
          </a:p>
        </p:txBody>
      </p:sp>
      <p:sp>
        <p:nvSpPr>
          <p:cNvPr id="10" name="TextBox 9"/>
          <p:cNvSpPr txBox="1"/>
          <p:nvPr/>
        </p:nvSpPr>
        <p:spPr>
          <a:xfrm>
            <a:off x="3559987" y="2048256"/>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voice built &amp; verified</a:t>
            </a:r>
          </a:p>
        </p:txBody>
      </p:sp>
      <p:sp>
        <p:nvSpPr>
          <p:cNvPr id="11" name="Rounded Rectangle 10"/>
          <p:cNvSpPr/>
          <p:nvPr/>
        </p:nvSpPr>
        <p:spPr>
          <a:xfrm>
            <a:off x="6168998"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15302" y="1600200"/>
            <a:ext cx="2334691" cy="420624"/>
          </a:xfrm>
          <a:prstGeom prst="rect">
            <a:avLst/>
          </a:prstGeom>
          <a:noFill/>
        </p:spPr>
        <p:txBody>
          <a:bodyPr wrap="square" anchor="t" lIns="0" rIns="0" tIns="0" bIns="0">
            <a:spAutoFit/>
          </a:bodyPr>
          <a:lstStyle/>
          <a:p>
            <a:pPr algn="l">
              <a:lnSpc>
                <a:spcPct val="115000"/>
              </a:lnSpc>
            </a:pPr>
            <a:r>
              <a:rPr sz="2600" b="1" i="0">
                <a:solidFill>
                  <a:srgbClr val="0F8A4C"/>
                </a:solidFill>
                <a:latin typeface="Segoe UI"/>
              </a:rPr>
              <a:t>NT$0</a:t>
            </a:r>
          </a:p>
        </p:txBody>
      </p:sp>
      <p:sp>
        <p:nvSpPr>
          <p:cNvPr id="13" name="TextBox 12"/>
          <p:cNvSpPr txBox="1"/>
          <p:nvPr/>
        </p:nvSpPr>
        <p:spPr>
          <a:xfrm>
            <a:off x="6315302" y="2048256"/>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software licence cost</a:t>
            </a:r>
          </a:p>
        </p:txBody>
      </p:sp>
      <p:sp>
        <p:nvSpPr>
          <p:cNvPr id="14" name="Rounded Rectangle 13"/>
          <p:cNvSpPr/>
          <p:nvPr/>
        </p:nvSpPr>
        <p:spPr>
          <a:xfrm>
            <a:off x="8924313" y="1481328"/>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070617" y="1600200"/>
            <a:ext cx="2334691" cy="420624"/>
          </a:xfrm>
          <a:prstGeom prst="rect">
            <a:avLst/>
          </a:prstGeom>
          <a:noFill/>
        </p:spPr>
        <p:txBody>
          <a:bodyPr wrap="square" anchor="t" lIns="0" rIns="0" tIns="0" bIns="0">
            <a:spAutoFit/>
          </a:bodyPr>
          <a:lstStyle/>
          <a:p>
            <a:pPr algn="l">
              <a:lnSpc>
                <a:spcPct val="115000"/>
              </a:lnSpc>
            </a:pPr>
            <a:r>
              <a:rPr sz="2600" b="1" i="0">
                <a:solidFill>
                  <a:srgbClr val="142244"/>
                </a:solidFill>
                <a:latin typeface="Segoe UI"/>
              </a:rPr>
              <a:t>NT$568</a:t>
            </a:r>
          </a:p>
        </p:txBody>
      </p:sp>
      <p:sp>
        <p:nvSpPr>
          <p:cNvPr id="16" name="TextBox 15"/>
          <p:cNvSpPr txBox="1"/>
          <p:nvPr/>
        </p:nvSpPr>
        <p:spPr>
          <a:xfrm>
            <a:off x="9070617" y="2048256"/>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running cost / month</a:t>
            </a:r>
          </a:p>
        </p:txBody>
      </p:sp>
      <p:sp>
        <p:nvSpPr>
          <p:cNvPr id="17" name="TextBox 16"/>
          <p:cNvSpPr txBox="1"/>
          <p:nvPr/>
        </p:nvSpPr>
        <p:spPr>
          <a:xfrm>
            <a:off x="658368" y="2743200"/>
            <a:ext cx="10874959" cy="640080"/>
          </a:xfrm>
          <a:prstGeom prst="rect">
            <a:avLst/>
          </a:prstGeom>
          <a:noFill/>
        </p:spPr>
        <p:txBody>
          <a:bodyPr wrap="square" lIns="0" rIns="0" tIns="0" bIns="0">
            <a:spAutoFit/>
          </a:bodyPr>
          <a:lstStyle/>
          <a:p>
            <a:pPr>
              <a:lnSpc>
                <a:spcPct val="120000"/>
              </a:lnSpc>
            </a:pPr>
            <a:r>
              <a:rPr sz="1300">
                <a:solidFill>
                  <a:srgbClr val="2F5FD0"/>
                </a:solidFill>
                <a:latin typeface="Segoe UI"/>
              </a:rPr>
              <a:t>▪  </a:t>
            </a:r>
            <a:r>
              <a:rPr sz="1300" b="1">
                <a:solidFill>
                  <a:srgbClr val="14171A"/>
                </a:solidFill>
                <a:latin typeface="Segoe UI"/>
              </a:rPr>
              <a:t>What works now: </a:t>
            </a:r>
            <a:r>
              <a:rPr sz="1300">
                <a:solidFill>
                  <a:srgbClr val="666E78"/>
                </a:solidFill>
                <a:latin typeface="Segoe UI"/>
              </a:rPr>
              <a:t>type any sentence and a talking avatar speaks it in a purpose-built voice, in Chinese and English, in real time (0.7 s to first audio).</a:t>
            </a:r>
          </a:p>
        </p:txBody>
      </p:sp>
      <p:sp>
        <p:nvSpPr>
          <p:cNvPr id="18" name="TextBox 17"/>
          <p:cNvSpPr txBox="1"/>
          <p:nvPr/>
        </p:nvSpPr>
        <p:spPr>
          <a:xfrm>
            <a:off x="658368" y="3383280"/>
            <a:ext cx="10874959" cy="640080"/>
          </a:xfrm>
          <a:prstGeom prst="rect">
            <a:avLst/>
          </a:prstGeom>
          <a:noFill/>
        </p:spPr>
        <p:txBody>
          <a:bodyPr wrap="square" lIns="0" rIns="0" tIns="0" bIns="0">
            <a:spAutoFit/>
          </a:bodyPr>
          <a:lstStyle/>
          <a:p>
            <a:pPr>
              <a:lnSpc>
                <a:spcPct val="120000"/>
              </a:lnSpc>
            </a:pPr>
            <a:r>
              <a:rPr sz="1300">
                <a:solidFill>
                  <a:srgbClr val="2F5FD0"/>
                </a:solidFill>
                <a:latin typeface="Segoe UI"/>
              </a:rPr>
              <a:t>▪  </a:t>
            </a:r>
            <a:r>
              <a:rPr sz="1300" b="1">
                <a:solidFill>
                  <a:srgbClr val="14171A"/>
                </a:solidFill>
                <a:latin typeface="Segoe UI"/>
              </a:rPr>
              <a:t>Built entirely on open-source models running locally. </a:t>
            </a:r>
            <a:r>
              <a:rPr sz="1300">
                <a:solidFill>
                  <a:srgbClr val="666E78"/>
                </a:solidFill>
                <a:latin typeface="Segoe UI"/>
              </a:rPr>
              <a:t>No per-minute API fees, no data leaving the machine, no vendor lock-in.</a:t>
            </a:r>
          </a:p>
        </p:txBody>
      </p:sp>
      <p:sp>
        <p:nvSpPr>
          <p:cNvPr id="19" name="TextBox 18"/>
          <p:cNvSpPr txBox="1"/>
          <p:nvPr/>
        </p:nvSpPr>
        <p:spPr>
          <a:xfrm>
            <a:off x="658368" y="4023360"/>
            <a:ext cx="10874959" cy="640080"/>
          </a:xfrm>
          <a:prstGeom prst="rect">
            <a:avLst/>
          </a:prstGeom>
          <a:noFill/>
        </p:spPr>
        <p:txBody>
          <a:bodyPr wrap="square" lIns="0" rIns="0" tIns="0" bIns="0">
            <a:spAutoFit/>
          </a:bodyPr>
          <a:lstStyle/>
          <a:p>
            <a:pPr>
              <a:lnSpc>
                <a:spcPct val="120000"/>
              </a:lnSpc>
            </a:pPr>
            <a:r>
              <a:rPr sz="1300">
                <a:solidFill>
                  <a:srgbClr val="2F5FD0"/>
                </a:solidFill>
                <a:latin typeface="Segoe UI"/>
              </a:rPr>
              <a:t>▪  </a:t>
            </a:r>
            <a:r>
              <a:rPr sz="1300" b="1">
                <a:solidFill>
                  <a:srgbClr val="14171A"/>
                </a:solidFill>
                <a:latin typeface="Segoe UI"/>
              </a:rPr>
              <a:t>The voice is legally clean by design. </a:t>
            </a:r>
            <a:r>
              <a:rPr sz="1300">
                <a:solidFill>
                  <a:srgbClr val="666E78"/>
                </a:solidFill>
                <a:latin typeface="Segoe UI"/>
              </a:rPr>
              <a:t>It is synthesized, then fine-tuned — it never belonged to a real person, so there is no likeness or consent exposure.</a:t>
            </a:r>
          </a:p>
        </p:txBody>
      </p:sp>
      <p:sp>
        <p:nvSpPr>
          <p:cNvPr id="20" name="TextBox 19"/>
          <p:cNvSpPr txBox="1"/>
          <p:nvPr/>
        </p:nvSpPr>
        <p:spPr>
          <a:xfrm>
            <a:off x="658368" y="4663440"/>
            <a:ext cx="10874959" cy="640080"/>
          </a:xfrm>
          <a:prstGeom prst="rect">
            <a:avLst/>
          </a:prstGeom>
          <a:noFill/>
        </p:spPr>
        <p:txBody>
          <a:bodyPr wrap="square" lIns="0" rIns="0" tIns="0" bIns="0">
            <a:spAutoFit/>
          </a:bodyPr>
          <a:lstStyle/>
          <a:p>
            <a:pPr>
              <a:lnSpc>
                <a:spcPct val="120000"/>
              </a:lnSpc>
            </a:pPr>
            <a:r>
              <a:rPr sz="1300">
                <a:solidFill>
                  <a:srgbClr val="2F5FD0"/>
                </a:solidFill>
                <a:latin typeface="Segoe UI"/>
              </a:rPr>
              <a:t>▪  </a:t>
            </a:r>
            <a:r>
              <a:rPr sz="1300" b="1">
                <a:solidFill>
                  <a:srgbClr val="14171A"/>
                </a:solidFill>
                <a:latin typeface="Segoe UI"/>
              </a:rPr>
              <a:t>Remaining gap is the face, not the voice. </a:t>
            </a:r>
            <a:r>
              <a:rPr sz="1300">
                <a:solidFill>
                  <a:srgbClr val="666E78"/>
                </a:solidFill>
                <a:latin typeface="Segoe UI"/>
              </a:rPr>
              <a:t>The avatar currently uses a stock demo face; giving it the KOL's own face is next week's priority.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DELIVERABLES</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What was produced</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6304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4672" y="1581912"/>
            <a:ext cx="2334691" cy="420624"/>
          </a:xfrm>
          <a:prstGeom prst="rect">
            <a:avLst/>
          </a:prstGeom>
          <a:noFill/>
        </p:spPr>
        <p:txBody>
          <a:bodyPr wrap="square" anchor="t" lIns="0" rIns="0" tIns="0" bIns="0">
            <a:spAutoFit/>
          </a:bodyPr>
          <a:lstStyle/>
          <a:p>
            <a:pPr algn="l">
              <a:lnSpc>
                <a:spcPct val="115000"/>
              </a:lnSpc>
            </a:pPr>
            <a:r>
              <a:rPr sz="2600" b="1" i="0">
                <a:solidFill>
                  <a:srgbClr val="142244"/>
                </a:solidFill>
                <a:latin typeface="Segoe UI"/>
              </a:rPr>
              <a:t>3,988</a:t>
            </a:r>
          </a:p>
        </p:txBody>
      </p:sp>
      <p:sp>
        <p:nvSpPr>
          <p:cNvPr id="7" name="TextBox 6"/>
          <p:cNvSpPr txBox="1"/>
          <p:nvPr/>
        </p:nvSpPr>
        <p:spPr>
          <a:xfrm>
            <a:off x="804672" y="202996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lines of code added</a:t>
            </a:r>
          </a:p>
        </p:txBody>
      </p:sp>
      <p:sp>
        <p:nvSpPr>
          <p:cNvPr id="8" name="Rounded Rectangle 7"/>
          <p:cNvSpPr/>
          <p:nvPr/>
        </p:nvSpPr>
        <p:spPr>
          <a:xfrm>
            <a:off x="3413683" y="146304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9987" y="1581912"/>
            <a:ext cx="2334691" cy="420624"/>
          </a:xfrm>
          <a:prstGeom prst="rect">
            <a:avLst/>
          </a:prstGeom>
          <a:noFill/>
        </p:spPr>
        <p:txBody>
          <a:bodyPr wrap="square" anchor="t" lIns="0" rIns="0" tIns="0" bIns="0">
            <a:spAutoFit/>
          </a:bodyPr>
          <a:lstStyle/>
          <a:p>
            <a:pPr algn="l">
              <a:lnSpc>
                <a:spcPct val="115000"/>
              </a:lnSpc>
            </a:pPr>
            <a:r>
              <a:rPr sz="2600" b="1" i="0">
                <a:solidFill>
                  <a:srgbClr val="142244"/>
                </a:solidFill>
                <a:latin typeface="Segoe UI"/>
              </a:rPr>
              <a:t>4</a:t>
            </a:r>
          </a:p>
        </p:txBody>
      </p:sp>
      <p:sp>
        <p:nvSpPr>
          <p:cNvPr id="10" name="TextBox 9"/>
          <p:cNvSpPr txBox="1"/>
          <p:nvPr/>
        </p:nvSpPr>
        <p:spPr>
          <a:xfrm>
            <a:off x="3559987" y="202996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tool suites delivered</a:t>
            </a:r>
          </a:p>
        </p:txBody>
      </p:sp>
      <p:sp>
        <p:nvSpPr>
          <p:cNvPr id="11" name="Rounded Rectangle 10"/>
          <p:cNvSpPr/>
          <p:nvPr/>
        </p:nvSpPr>
        <p:spPr>
          <a:xfrm>
            <a:off x="6168998" y="146304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15302" y="1581912"/>
            <a:ext cx="2334691" cy="420624"/>
          </a:xfrm>
          <a:prstGeom prst="rect">
            <a:avLst/>
          </a:prstGeom>
          <a:noFill/>
        </p:spPr>
        <p:txBody>
          <a:bodyPr wrap="square" anchor="t" lIns="0" rIns="0" tIns="0" bIns="0">
            <a:spAutoFit/>
          </a:bodyPr>
          <a:lstStyle/>
          <a:p>
            <a:pPr algn="l">
              <a:lnSpc>
                <a:spcPct val="115000"/>
              </a:lnSpc>
            </a:pPr>
            <a:r>
              <a:rPr sz="2600" b="1" i="0">
                <a:solidFill>
                  <a:srgbClr val="142244"/>
                </a:solidFill>
                <a:latin typeface="Segoe UI"/>
              </a:rPr>
              <a:t>615</a:t>
            </a:r>
          </a:p>
        </p:txBody>
      </p:sp>
      <p:sp>
        <p:nvSpPr>
          <p:cNvPr id="13" name="TextBox 12"/>
          <p:cNvSpPr txBox="1"/>
          <p:nvPr/>
        </p:nvSpPr>
        <p:spPr>
          <a:xfrm>
            <a:off x="6315302" y="202996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lines of documentation</a:t>
            </a:r>
          </a:p>
        </p:txBody>
      </p:sp>
      <p:sp>
        <p:nvSpPr>
          <p:cNvPr id="14" name="Rounded Rectangle 13"/>
          <p:cNvSpPr/>
          <p:nvPr/>
        </p:nvSpPr>
        <p:spPr>
          <a:xfrm>
            <a:off x="8924313" y="146304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070617" y="1581912"/>
            <a:ext cx="2334691" cy="420624"/>
          </a:xfrm>
          <a:prstGeom prst="rect">
            <a:avLst/>
          </a:prstGeom>
          <a:noFill/>
        </p:spPr>
        <p:txBody>
          <a:bodyPr wrap="square" anchor="t" lIns="0" rIns="0" tIns="0" bIns="0">
            <a:spAutoFit/>
          </a:bodyPr>
          <a:lstStyle/>
          <a:p>
            <a:pPr algn="l">
              <a:lnSpc>
                <a:spcPct val="115000"/>
              </a:lnSpc>
            </a:pPr>
            <a:r>
              <a:rPr sz="2600" b="1" i="0">
                <a:solidFill>
                  <a:srgbClr val="142244"/>
                </a:solidFill>
                <a:latin typeface="Segoe UI"/>
              </a:rPr>
              <a:t>304</a:t>
            </a:r>
          </a:p>
        </p:txBody>
      </p:sp>
      <p:sp>
        <p:nvSpPr>
          <p:cNvPr id="16" name="TextBox 15"/>
          <p:cNvSpPr txBox="1"/>
          <p:nvPr/>
        </p:nvSpPr>
        <p:spPr>
          <a:xfrm>
            <a:off x="9070617" y="202996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training clips generated</a:t>
            </a:r>
          </a:p>
        </p:txBody>
      </p:sp>
      <p:graphicFrame>
        <p:nvGraphicFramePr>
          <p:cNvPr id="17" name="Table 16"/>
          <p:cNvGraphicFramePr>
            <a:graphicFrameLocks noGrp="1"/>
          </p:cNvGraphicFramePr>
          <p:nvPr/>
        </p:nvGraphicFramePr>
        <p:xfrm>
          <a:off x="658368" y="2724912"/>
          <a:ext cx="10872216" cy="2011680"/>
        </p:xfrm>
        <a:graphic>
          <a:graphicData uri="http://schemas.openxmlformats.org/drawingml/2006/table">
            <a:tbl>
              <a:tblPr firstRow="1" bandRow="1">
                <a:tableStyleId>{5C22544A-7EE6-4342-B048-85BDC9FD1C3A}</a:tableStyleId>
              </a:tblPr>
              <a:tblGrid>
                <a:gridCol w="2377440"/>
                <a:gridCol w="7680960"/>
                <a:gridCol w="813816"/>
              </a:tblGrid>
              <a:tr h="402336">
                <a:tc>
                  <a:txBody>
                    <a:bodyPr/>
                    <a:lstStyle/>
                    <a:p>
                      <a:r>
                        <a:rPr sz="1150" b="1">
                          <a:solidFill>
                            <a:srgbClr val="FFFFFF"/>
                          </a:solidFill>
                          <a:latin typeface="Segoe UI"/>
                        </a:rPr>
                        <a:t>Tool suite</a:t>
                      </a:r>
                    </a:p>
                  </a:txBody>
                  <a:tcPr marL="82296" marR="64008" marT="27432" marB="27432" anchor="ctr">
                    <a:solidFill>
                      <a:srgbClr val="142244"/>
                    </a:solidFill>
                  </a:tcPr>
                </a:tc>
                <a:tc>
                  <a:txBody>
                    <a:bodyPr/>
                    <a:lstStyle/>
                    <a:p>
                      <a:r>
                        <a:rPr sz="1150" b="1">
                          <a:solidFill>
                            <a:srgbClr val="FFFFFF"/>
                          </a:solidFill>
                          <a:latin typeface="Segoe UI"/>
                        </a:rPr>
                        <a:t>Purpose</a:t>
                      </a:r>
                    </a:p>
                  </a:txBody>
                  <a:tcPr marL="82296" marR="64008" marT="27432" marB="27432" anchor="ctr">
                    <a:solidFill>
                      <a:srgbClr val="142244"/>
                    </a:solidFill>
                  </a:tcPr>
                </a:tc>
                <a:tc>
                  <a:txBody>
                    <a:bodyPr/>
                    <a:lstStyle/>
                    <a:p>
                      <a:r>
                        <a:rPr sz="1150" b="1">
                          <a:solidFill>
                            <a:srgbClr val="FFFFFF"/>
                          </a:solidFill>
                          <a:latin typeface="Segoe UI"/>
                        </a:rPr>
                        <a:t>Lines</a:t>
                      </a:r>
                    </a:p>
                  </a:txBody>
                  <a:tcPr marL="82296" marR="64008" marT="27432" marB="27432" anchor="ctr">
                    <a:solidFill>
                      <a:srgbClr val="142244"/>
                    </a:solidFill>
                  </a:tcPr>
                </a:tc>
              </a:tr>
              <a:tr h="402336">
                <a:tc>
                  <a:txBody>
                    <a:bodyPr/>
                    <a:lstStyle/>
                    <a:p>
                      <a:r>
                        <a:rPr sz="1150" b="0">
                          <a:solidFill>
                            <a:srgbClr val="14171A"/>
                          </a:solidFill>
                          <a:latin typeface="Segoe UI"/>
                        </a:rPr>
                        <a:t>voice_crawl/</a:t>
                      </a:r>
                    </a:p>
                  </a:txBody>
                  <a:tcPr marL="82296" marR="64008" marT="27432" marB="27432" anchor="ctr">
                    <a:solidFill>
                      <a:srgbClr val="FFFFFF"/>
                    </a:solidFill>
                  </a:tcPr>
                </a:tc>
                <a:tc>
                  <a:txBody>
                    <a:bodyPr/>
                    <a:lstStyle/>
                    <a:p>
                      <a:r>
                        <a:rPr sz="1150" b="0">
                          <a:solidFill>
                            <a:srgbClr val="14171A"/>
                          </a:solidFill>
                          <a:latin typeface="Segoe UI"/>
                        </a:rPr>
                        <a:t>Voice data → training set → fine-tuned voice (7 scripts)</a:t>
                      </a:r>
                    </a:p>
                  </a:txBody>
                  <a:tcPr marL="82296" marR="64008" marT="27432" marB="27432" anchor="ctr">
                    <a:solidFill>
                      <a:srgbClr val="FFFFFF"/>
                    </a:solidFill>
                  </a:tcPr>
                </a:tc>
                <a:tc>
                  <a:txBody>
                    <a:bodyPr/>
                    <a:lstStyle/>
                    <a:p>
                      <a:r>
                        <a:rPr sz="1150" b="0">
                          <a:solidFill>
                            <a:srgbClr val="14171A"/>
                          </a:solidFill>
                          <a:latin typeface="Segoe UI"/>
                        </a:rPr>
                        <a:t>1,829</a:t>
                      </a:r>
                    </a:p>
                  </a:txBody>
                  <a:tcPr marL="82296" marR="64008" marT="27432" marB="27432" anchor="ctr">
                    <a:solidFill>
                      <a:srgbClr val="FFFFFF"/>
                    </a:solidFill>
                  </a:tcPr>
                </a:tc>
              </a:tr>
              <a:tr h="402336">
                <a:tc>
                  <a:txBody>
                    <a:bodyPr/>
                    <a:lstStyle/>
                    <a:p>
                      <a:r>
                        <a:rPr sz="1150" b="0">
                          <a:solidFill>
                            <a:srgbClr val="14171A"/>
                          </a:solidFill>
                          <a:latin typeface="Segoe UI"/>
                        </a:rPr>
                        <a:t>dashboard/</a:t>
                      </a:r>
                    </a:p>
                  </a:txBody>
                  <a:tcPr marL="82296" marR="64008" marT="27432" marB="27432" anchor="ctr">
                    <a:solidFill>
                      <a:srgbClr val="F2F4F7"/>
                    </a:solidFill>
                  </a:tcPr>
                </a:tc>
                <a:tc>
                  <a:txBody>
                    <a:bodyPr/>
                    <a:lstStyle/>
                    <a:p>
                      <a:r>
                        <a:rPr sz="1150" b="0">
                          <a:solidFill>
                            <a:srgbClr val="14171A"/>
                          </a:solidFill>
                          <a:latin typeface="Segoe UI"/>
                        </a:rPr>
                        <a:t>Live project tracker, data browser, avatar demo</a:t>
                      </a:r>
                    </a:p>
                  </a:txBody>
                  <a:tcPr marL="82296" marR="64008" marT="27432" marB="27432" anchor="ctr">
                    <a:solidFill>
                      <a:srgbClr val="F2F4F7"/>
                    </a:solidFill>
                  </a:tcPr>
                </a:tc>
                <a:tc>
                  <a:txBody>
                    <a:bodyPr/>
                    <a:lstStyle/>
                    <a:p>
                      <a:r>
                        <a:rPr sz="1150" b="0">
                          <a:solidFill>
                            <a:srgbClr val="14171A"/>
                          </a:solidFill>
                          <a:latin typeface="Segoe UI"/>
                        </a:rPr>
                        <a:t>843</a:t>
                      </a:r>
                    </a:p>
                  </a:txBody>
                  <a:tcPr marL="82296" marR="64008" marT="27432" marB="27432" anchor="ctr">
                    <a:solidFill>
                      <a:srgbClr val="F2F4F7"/>
                    </a:solidFill>
                  </a:tcPr>
                </a:tc>
              </a:tr>
              <a:tr h="402336">
                <a:tc>
                  <a:txBody>
                    <a:bodyPr/>
                    <a:lstStyle/>
                    <a:p>
                      <a:r>
                        <a:rPr sz="1150" b="0">
                          <a:solidFill>
                            <a:srgbClr val="14171A"/>
                          </a:solidFill>
                          <a:latin typeface="Segoe UI"/>
                        </a:rPr>
                        <a:t>report/</a:t>
                      </a:r>
                    </a:p>
                  </a:txBody>
                  <a:tcPr marL="82296" marR="64008" marT="27432" marB="27432" anchor="ctr">
                    <a:solidFill>
                      <a:srgbClr val="FFFFFF"/>
                    </a:solidFill>
                  </a:tcPr>
                </a:tc>
                <a:tc>
                  <a:txBody>
                    <a:bodyPr/>
                    <a:lstStyle/>
                    <a:p>
                      <a:r>
                        <a:rPr sz="1150" b="0">
                          <a:solidFill>
                            <a:srgbClr val="14171A"/>
                          </a:solidFill>
                          <a:latin typeface="Segoe UI"/>
                        </a:rPr>
                        <a:t>Regenerates these decks from live project state</a:t>
                      </a:r>
                    </a:p>
                  </a:txBody>
                  <a:tcPr marL="82296" marR="64008" marT="27432" marB="27432" anchor="ctr">
                    <a:solidFill>
                      <a:srgbClr val="FFFFFF"/>
                    </a:solidFill>
                  </a:tcPr>
                </a:tc>
                <a:tc>
                  <a:txBody>
                    <a:bodyPr/>
                    <a:lstStyle/>
                    <a:p>
                      <a:r>
                        <a:rPr sz="1150" b="0">
                          <a:solidFill>
                            <a:srgbClr val="14171A"/>
                          </a:solidFill>
                          <a:latin typeface="Segoe UI"/>
                        </a:rPr>
                        <a:t>505</a:t>
                      </a:r>
                    </a:p>
                  </a:txBody>
                  <a:tcPr marL="82296" marR="64008" marT="27432" marB="27432" anchor="ctr">
                    <a:solidFill>
                      <a:srgbClr val="FFFFFF"/>
                    </a:solidFill>
                  </a:tcPr>
                </a:tc>
              </a:tr>
              <a:tr h="402336">
                <a:tc>
                  <a:txBody>
                    <a:bodyPr/>
                    <a:lstStyle/>
                    <a:p>
                      <a:r>
                        <a:rPr sz="1150" b="0">
                          <a:solidFill>
                            <a:srgbClr val="14171A"/>
                          </a:solidFill>
                          <a:latin typeface="Segoe UI"/>
                        </a:rPr>
                        <a:t>livetalking/</a:t>
                      </a:r>
                    </a:p>
                  </a:txBody>
                  <a:tcPr marL="82296" marR="64008" marT="27432" marB="27432" anchor="ctr">
                    <a:solidFill>
                      <a:srgbClr val="F2F4F7"/>
                    </a:solidFill>
                  </a:tcPr>
                </a:tc>
                <a:tc>
                  <a:txBody>
                    <a:bodyPr/>
                    <a:lstStyle/>
                    <a:p>
                      <a:r>
                        <a:rPr sz="1150" b="0">
                          <a:solidFill>
                            <a:srgbClr val="14171A"/>
                          </a:solidFill>
                          <a:latin typeface="Segoe UI"/>
                        </a:rPr>
                        <a:t>Avatar launcher + headless lip-sync verifier</a:t>
                      </a:r>
                    </a:p>
                  </a:txBody>
                  <a:tcPr marL="82296" marR="64008" marT="27432" marB="27432" anchor="ctr">
                    <a:solidFill>
                      <a:srgbClr val="F2F4F7"/>
                    </a:solidFill>
                  </a:tcPr>
                </a:tc>
                <a:tc>
                  <a:txBody>
                    <a:bodyPr/>
                    <a:lstStyle/>
                    <a:p>
                      <a:r>
                        <a:rPr sz="1150" b="0">
                          <a:solidFill>
                            <a:srgbClr val="14171A"/>
                          </a:solidFill>
                          <a:latin typeface="Segoe UI"/>
                        </a:rPr>
                        <a:t>215</a:t>
                      </a:r>
                    </a:p>
                  </a:txBody>
                  <a:tcPr marL="82296" marR="64008" marT="27432" marB="27432" anchor="ctr">
                    <a:solidFill>
                      <a:srgbClr val="F2F4F7"/>
                    </a:solidFill>
                  </a:tcPr>
                </a:tc>
              </a:tr>
            </a:tbl>
          </a:graphicData>
        </a:graphic>
      </p:graphicFrame>
      <p:sp>
        <p:nvSpPr>
          <p:cNvPr id="18" name="TextBox 17"/>
          <p:cNvSpPr txBox="1"/>
          <p:nvPr/>
        </p:nvSpPr>
        <p:spPr>
          <a:xfrm>
            <a:off x="658368" y="4846320"/>
            <a:ext cx="10874959" cy="1188720"/>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Everything is reproducible and documented: one command builds a voice corpus, one command fine-tunes it, one command launches the avatar. A new KOL voice no longer requires any of the investigation this first one did.</a:t>
            </a:r>
          </a:p>
          <a:p>
            <a:pPr algn="l">
              <a:lnSpc>
                <a:spcPct val="115000"/>
              </a:lnSpc>
            </a:pPr>
            <a:r>
              <a:rPr sz="1200" b="0" i="0">
                <a:solidFill>
                  <a:srgbClr val="666E78"/>
                </a:solidFill>
                <a:latin typeface="Segoe UI"/>
              </a:rPr>
              <a:t/>
            </a:r>
          </a:p>
          <a:p>
            <a:pPr algn="l">
              <a:lnSpc>
                <a:spcPct val="115000"/>
              </a:lnSpc>
            </a:pPr>
            <a:r>
              <a:rPr sz="1200" b="0" i="0">
                <a:solidFill>
                  <a:srgbClr val="666E78"/>
                </a:solidFill>
                <a:latin typeface="Segoe UI"/>
              </a:rPr>
              <a:t>Two long-standing bugs were also fixed that had made the existing voice client unusable on Windows.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ARCHITECTURE</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Four layers, loosely coupled over HTTP</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700784"/>
            <a:ext cx="2266111" cy="274320"/>
          </a:xfrm>
          <a:prstGeom prst="rect">
            <a:avLst/>
          </a:prstGeom>
          <a:noFill/>
        </p:spPr>
        <p:txBody>
          <a:bodyPr wrap="square" anchor="t" lIns="0" rIns="0" tIns="0" bIns="0">
            <a:spAutoFit/>
          </a:bodyPr>
          <a:lstStyle/>
          <a:p>
            <a:pPr algn="l">
              <a:lnSpc>
                <a:spcPct val="115000"/>
              </a:lnSpc>
            </a:pPr>
            <a:r>
              <a:rPr sz="1400" b="1" i="0">
                <a:solidFill>
                  <a:srgbClr val="142244"/>
                </a:solidFill>
                <a:latin typeface="Segoe UI"/>
              </a:rPr>
              <a:t>1 · Persona</a:t>
            </a:r>
          </a:p>
        </p:txBody>
      </p:sp>
      <p:sp>
        <p:nvSpPr>
          <p:cNvPr id="7" name="TextBox 6"/>
          <p:cNvSpPr txBox="1"/>
          <p:nvPr/>
        </p:nvSpPr>
        <p:spPr>
          <a:xfrm>
            <a:off x="822960" y="2011680"/>
            <a:ext cx="2266111" cy="237744"/>
          </a:xfrm>
          <a:prstGeom prst="rect">
            <a:avLst/>
          </a:prstGeom>
          <a:noFill/>
        </p:spPr>
        <p:txBody>
          <a:bodyPr wrap="square" anchor="t" lIns="0" rIns="0" tIns="0" bIns="0">
            <a:spAutoFit/>
          </a:bodyPr>
          <a:lstStyle/>
          <a:p>
            <a:pPr algn="l">
              <a:lnSpc>
                <a:spcPct val="115000"/>
              </a:lnSpc>
            </a:pPr>
            <a:r>
              <a:rPr sz="950" b="1" i="0">
                <a:solidFill>
                  <a:srgbClr val="0F8A4C"/>
                </a:solidFill>
                <a:latin typeface="Segoe UI"/>
              </a:rPr>
              <a:t>COMPLETE</a:t>
            </a:r>
          </a:p>
        </p:txBody>
      </p:sp>
      <p:sp>
        <p:nvSpPr>
          <p:cNvPr id="8" name="TextBox 7"/>
          <p:cNvSpPr txBox="1"/>
          <p:nvPr/>
        </p:nvSpPr>
        <p:spPr>
          <a:xfrm>
            <a:off x="822960" y="2340864"/>
            <a:ext cx="2266111" cy="731520"/>
          </a:xfrm>
          <a:prstGeom prst="rect">
            <a:avLst/>
          </a:prstGeom>
          <a:noFill/>
        </p:spPr>
        <p:txBody>
          <a:bodyPr wrap="square" anchor="t" lIns="0" rIns="0" tIns="0" bIns="0">
            <a:spAutoFit/>
          </a:bodyPr>
          <a:lstStyle/>
          <a:p>
            <a:pPr algn="l">
              <a:lnSpc>
                <a:spcPct val="115000"/>
              </a:lnSpc>
            </a:pPr>
            <a:r>
              <a:rPr sz="1100" b="0" i="0">
                <a:solidFill>
                  <a:srgbClr val="666E78"/>
                </a:solidFill>
                <a:latin typeface="Segoe UI"/>
              </a:rPr>
              <a:t>Structured character data:</a:t>
            </a:r>
          </a:p>
          <a:p>
            <a:pPr algn="l">
              <a:lnSpc>
                <a:spcPct val="115000"/>
              </a:lnSpc>
            </a:pPr>
            <a:r>
              <a:rPr sz="1100" b="0" i="0">
                <a:solidFill>
                  <a:srgbClr val="666E78"/>
                </a:solidFill>
                <a:latin typeface="Segoe UI"/>
              </a:rPr>
              <a:t>bio, voice, content rules</a:t>
            </a:r>
          </a:p>
        </p:txBody>
      </p:sp>
      <p:sp>
        <p:nvSpPr>
          <p:cNvPr id="9" name="TextBox 8"/>
          <p:cNvSpPr txBox="1"/>
          <p:nvPr/>
        </p:nvSpPr>
        <p:spPr>
          <a:xfrm>
            <a:off x="822960" y="3145536"/>
            <a:ext cx="2266111" cy="274320"/>
          </a:xfrm>
          <a:prstGeom prst="rect">
            <a:avLst/>
          </a:prstGeom>
          <a:noFill/>
        </p:spPr>
        <p:txBody>
          <a:bodyPr wrap="square" anchor="t" lIns="0" rIns="0" tIns="0" bIns="0">
            <a:spAutoFit/>
          </a:bodyPr>
          <a:lstStyle/>
          <a:p>
            <a:pPr algn="l">
              <a:lnSpc>
                <a:spcPct val="115000"/>
              </a:lnSpc>
            </a:pPr>
            <a:r>
              <a:rPr sz="1050" b="1" i="0">
                <a:solidFill>
                  <a:srgbClr val="0F8A4C"/>
                </a:solidFill>
                <a:latin typeface="Segoe UI"/>
              </a:rPr>
              <a:t>10 defined</a:t>
            </a:r>
          </a:p>
        </p:txBody>
      </p:sp>
      <p:sp>
        <p:nvSpPr>
          <p:cNvPr id="10" name="Rounded Rectangle 9"/>
          <p:cNvSpPr/>
          <p:nvPr/>
        </p:nvSpPr>
        <p:spPr>
          <a:xfrm>
            <a:off x="3418255"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582847" y="1700784"/>
            <a:ext cx="2266111" cy="274320"/>
          </a:xfrm>
          <a:prstGeom prst="rect">
            <a:avLst/>
          </a:prstGeom>
          <a:noFill/>
        </p:spPr>
        <p:txBody>
          <a:bodyPr wrap="square" anchor="t" lIns="0" rIns="0" tIns="0" bIns="0">
            <a:spAutoFit/>
          </a:bodyPr>
          <a:lstStyle/>
          <a:p>
            <a:pPr algn="l">
              <a:lnSpc>
                <a:spcPct val="115000"/>
              </a:lnSpc>
            </a:pPr>
            <a:r>
              <a:rPr sz="1400" b="1" i="0">
                <a:solidFill>
                  <a:srgbClr val="142244"/>
                </a:solidFill>
                <a:latin typeface="Segoe UI"/>
              </a:rPr>
              <a:t>2 · Appearance</a:t>
            </a:r>
          </a:p>
        </p:txBody>
      </p:sp>
      <p:sp>
        <p:nvSpPr>
          <p:cNvPr id="12" name="TextBox 11"/>
          <p:cNvSpPr txBox="1"/>
          <p:nvPr/>
        </p:nvSpPr>
        <p:spPr>
          <a:xfrm>
            <a:off x="3582847" y="2011680"/>
            <a:ext cx="2266111" cy="237744"/>
          </a:xfrm>
          <a:prstGeom prst="rect">
            <a:avLst/>
          </a:prstGeom>
          <a:noFill/>
        </p:spPr>
        <p:txBody>
          <a:bodyPr wrap="square" anchor="t" lIns="0" rIns="0" tIns="0" bIns="0">
            <a:spAutoFit/>
          </a:bodyPr>
          <a:lstStyle/>
          <a:p>
            <a:pPr algn="l">
              <a:lnSpc>
                <a:spcPct val="115000"/>
              </a:lnSpc>
            </a:pPr>
            <a:r>
              <a:rPr sz="950" b="1" i="0">
                <a:solidFill>
                  <a:srgbClr val="A86400"/>
                </a:solidFill>
                <a:latin typeface="Segoe UI"/>
              </a:rPr>
              <a:t>IN PROGRESS</a:t>
            </a:r>
          </a:p>
        </p:txBody>
      </p:sp>
      <p:sp>
        <p:nvSpPr>
          <p:cNvPr id="13" name="TextBox 12"/>
          <p:cNvSpPr txBox="1"/>
          <p:nvPr/>
        </p:nvSpPr>
        <p:spPr>
          <a:xfrm>
            <a:off x="3582847" y="2340864"/>
            <a:ext cx="2266111" cy="731520"/>
          </a:xfrm>
          <a:prstGeom prst="rect">
            <a:avLst/>
          </a:prstGeom>
          <a:noFill/>
        </p:spPr>
        <p:txBody>
          <a:bodyPr wrap="square" anchor="t" lIns="0" rIns="0" tIns="0" bIns="0">
            <a:spAutoFit/>
          </a:bodyPr>
          <a:lstStyle/>
          <a:p>
            <a:pPr algn="l">
              <a:lnSpc>
                <a:spcPct val="115000"/>
              </a:lnSpc>
            </a:pPr>
            <a:r>
              <a:rPr sz="1100" b="0" i="0">
                <a:solidFill>
                  <a:srgbClr val="666E78"/>
                </a:solidFill>
                <a:latin typeface="Segoe UI"/>
              </a:rPr>
              <a:t>Seed images per KOL;</a:t>
            </a:r>
          </a:p>
          <a:p>
            <a:pPr algn="l">
              <a:lnSpc>
                <a:spcPct val="115000"/>
              </a:lnSpc>
            </a:pPr>
            <a:r>
              <a:rPr sz="1100" b="0" i="0">
                <a:solidFill>
                  <a:srgbClr val="666E78"/>
                </a:solidFill>
                <a:latin typeface="Segoe UI"/>
              </a:rPr>
              <a:t>consistent face not yet locked</a:t>
            </a:r>
          </a:p>
        </p:txBody>
      </p:sp>
      <p:sp>
        <p:nvSpPr>
          <p:cNvPr id="14" name="TextBox 13"/>
          <p:cNvSpPr txBox="1"/>
          <p:nvPr/>
        </p:nvSpPr>
        <p:spPr>
          <a:xfrm>
            <a:off x="3582847" y="3145536"/>
            <a:ext cx="2266111" cy="274320"/>
          </a:xfrm>
          <a:prstGeom prst="rect">
            <a:avLst/>
          </a:prstGeom>
          <a:noFill/>
        </p:spPr>
        <p:txBody>
          <a:bodyPr wrap="square" anchor="t" lIns="0" rIns="0" tIns="0" bIns="0">
            <a:spAutoFit/>
          </a:bodyPr>
          <a:lstStyle/>
          <a:p>
            <a:pPr algn="l">
              <a:lnSpc>
                <a:spcPct val="115000"/>
              </a:lnSpc>
            </a:pPr>
            <a:r>
              <a:rPr sz="1050" b="1" i="0">
                <a:solidFill>
                  <a:srgbClr val="A86400"/>
                </a:solidFill>
                <a:latin typeface="Segoe UI"/>
              </a:rPr>
              <a:t>6/10 started</a:t>
            </a:r>
          </a:p>
        </p:txBody>
      </p:sp>
      <p:sp>
        <p:nvSpPr>
          <p:cNvPr id="15" name="Rounded Rectangle 14"/>
          <p:cNvSpPr/>
          <p:nvPr/>
        </p:nvSpPr>
        <p:spPr>
          <a:xfrm>
            <a:off x="6178142"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42734" y="1700784"/>
            <a:ext cx="2266111" cy="274320"/>
          </a:xfrm>
          <a:prstGeom prst="rect">
            <a:avLst/>
          </a:prstGeom>
          <a:noFill/>
        </p:spPr>
        <p:txBody>
          <a:bodyPr wrap="square" anchor="t" lIns="0" rIns="0" tIns="0" bIns="0">
            <a:spAutoFit/>
          </a:bodyPr>
          <a:lstStyle/>
          <a:p>
            <a:pPr algn="l">
              <a:lnSpc>
                <a:spcPct val="115000"/>
              </a:lnSpc>
            </a:pPr>
            <a:r>
              <a:rPr sz="1400" b="1" i="0">
                <a:solidFill>
                  <a:srgbClr val="142244"/>
                </a:solidFill>
                <a:latin typeface="Segoe UI"/>
              </a:rPr>
              <a:t>3 · Voice</a:t>
            </a:r>
          </a:p>
        </p:txBody>
      </p:sp>
      <p:sp>
        <p:nvSpPr>
          <p:cNvPr id="17" name="TextBox 16"/>
          <p:cNvSpPr txBox="1"/>
          <p:nvPr/>
        </p:nvSpPr>
        <p:spPr>
          <a:xfrm>
            <a:off x="6342734" y="2011680"/>
            <a:ext cx="2266111" cy="237744"/>
          </a:xfrm>
          <a:prstGeom prst="rect">
            <a:avLst/>
          </a:prstGeom>
          <a:noFill/>
        </p:spPr>
        <p:txBody>
          <a:bodyPr wrap="square" anchor="t" lIns="0" rIns="0" tIns="0" bIns="0">
            <a:spAutoFit/>
          </a:bodyPr>
          <a:lstStyle/>
          <a:p>
            <a:pPr algn="l">
              <a:lnSpc>
                <a:spcPct val="115000"/>
              </a:lnSpc>
            </a:pPr>
            <a:r>
              <a:rPr sz="950" b="1" i="0">
                <a:solidFill>
                  <a:srgbClr val="0F8A4C"/>
                </a:solidFill>
                <a:latin typeface="Segoe UI"/>
              </a:rPr>
              <a:t>COMPLETE</a:t>
            </a:r>
          </a:p>
        </p:txBody>
      </p:sp>
      <p:sp>
        <p:nvSpPr>
          <p:cNvPr id="18" name="TextBox 17"/>
          <p:cNvSpPr txBox="1"/>
          <p:nvPr/>
        </p:nvSpPr>
        <p:spPr>
          <a:xfrm>
            <a:off x="6342734" y="2340864"/>
            <a:ext cx="2266111" cy="731520"/>
          </a:xfrm>
          <a:prstGeom prst="rect">
            <a:avLst/>
          </a:prstGeom>
          <a:noFill/>
        </p:spPr>
        <p:txBody>
          <a:bodyPr wrap="square" anchor="t" lIns="0" rIns="0" tIns="0" bIns="0">
            <a:spAutoFit/>
          </a:bodyPr>
          <a:lstStyle/>
          <a:p>
            <a:pPr algn="l">
              <a:lnSpc>
                <a:spcPct val="115000"/>
              </a:lnSpc>
            </a:pPr>
            <a:r>
              <a:rPr sz="1100" b="0" i="0">
                <a:solidFill>
                  <a:srgbClr val="666E78"/>
                </a:solidFill>
                <a:latin typeface="Segoe UI"/>
              </a:rPr>
              <a:t>Cloned voice served as</a:t>
            </a:r>
          </a:p>
          <a:p>
            <a:pPr algn="l">
              <a:lnSpc>
                <a:spcPct val="115000"/>
              </a:lnSpc>
            </a:pPr>
            <a:r>
              <a:rPr sz="1100" b="0" i="0">
                <a:solidFill>
                  <a:srgbClr val="666E78"/>
                </a:solidFill>
                <a:latin typeface="Segoe UI"/>
              </a:rPr>
              <a:t>an internal API</a:t>
            </a:r>
          </a:p>
        </p:txBody>
      </p:sp>
      <p:sp>
        <p:nvSpPr>
          <p:cNvPr id="19" name="TextBox 18"/>
          <p:cNvSpPr txBox="1"/>
          <p:nvPr/>
        </p:nvSpPr>
        <p:spPr>
          <a:xfrm>
            <a:off x="6342734" y="3145536"/>
            <a:ext cx="2266111" cy="274320"/>
          </a:xfrm>
          <a:prstGeom prst="rect">
            <a:avLst/>
          </a:prstGeom>
          <a:noFill/>
        </p:spPr>
        <p:txBody>
          <a:bodyPr wrap="square" anchor="t" lIns="0" rIns="0" tIns="0" bIns="0">
            <a:spAutoFit/>
          </a:bodyPr>
          <a:lstStyle/>
          <a:p>
            <a:pPr algn="l">
              <a:lnSpc>
                <a:spcPct val="115000"/>
              </a:lnSpc>
            </a:pPr>
            <a:r>
              <a:rPr sz="1050" b="1" i="0">
                <a:solidFill>
                  <a:srgbClr val="0F8A4C"/>
                </a:solidFill>
                <a:latin typeface="Segoe UI"/>
              </a:rPr>
              <a:t>verified ZH + EN</a:t>
            </a:r>
          </a:p>
        </p:txBody>
      </p:sp>
      <p:sp>
        <p:nvSpPr>
          <p:cNvPr id="20" name="Rounded Rectangle 19"/>
          <p:cNvSpPr/>
          <p:nvPr/>
        </p:nvSpPr>
        <p:spPr>
          <a:xfrm>
            <a:off x="8938029" y="1554480"/>
            <a:ext cx="2595295" cy="2011680"/>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02621" y="1700784"/>
            <a:ext cx="2266111" cy="274320"/>
          </a:xfrm>
          <a:prstGeom prst="rect">
            <a:avLst/>
          </a:prstGeom>
          <a:noFill/>
        </p:spPr>
        <p:txBody>
          <a:bodyPr wrap="square" anchor="t" lIns="0" rIns="0" tIns="0" bIns="0">
            <a:spAutoFit/>
          </a:bodyPr>
          <a:lstStyle/>
          <a:p>
            <a:pPr algn="l">
              <a:lnSpc>
                <a:spcPct val="115000"/>
              </a:lnSpc>
            </a:pPr>
            <a:r>
              <a:rPr sz="1400" b="1" i="0">
                <a:solidFill>
                  <a:srgbClr val="142244"/>
                </a:solidFill>
                <a:latin typeface="Segoe UI"/>
              </a:rPr>
              <a:t>4 · Presence</a:t>
            </a:r>
          </a:p>
        </p:txBody>
      </p:sp>
      <p:sp>
        <p:nvSpPr>
          <p:cNvPr id="22" name="TextBox 21"/>
          <p:cNvSpPr txBox="1"/>
          <p:nvPr/>
        </p:nvSpPr>
        <p:spPr>
          <a:xfrm>
            <a:off x="9102621" y="2011680"/>
            <a:ext cx="2266111" cy="237744"/>
          </a:xfrm>
          <a:prstGeom prst="rect">
            <a:avLst/>
          </a:prstGeom>
          <a:noFill/>
        </p:spPr>
        <p:txBody>
          <a:bodyPr wrap="square" anchor="t" lIns="0" rIns="0" tIns="0" bIns="0">
            <a:spAutoFit/>
          </a:bodyPr>
          <a:lstStyle/>
          <a:p>
            <a:pPr algn="l">
              <a:lnSpc>
                <a:spcPct val="115000"/>
              </a:lnSpc>
            </a:pPr>
            <a:r>
              <a:rPr sz="950" b="1" i="0">
                <a:solidFill>
                  <a:srgbClr val="A86400"/>
                </a:solidFill>
                <a:latin typeface="Segoe UI"/>
              </a:rPr>
              <a:t>IN PROGRESS</a:t>
            </a:r>
          </a:p>
        </p:txBody>
      </p:sp>
      <p:sp>
        <p:nvSpPr>
          <p:cNvPr id="23" name="TextBox 22"/>
          <p:cNvSpPr txBox="1"/>
          <p:nvPr/>
        </p:nvSpPr>
        <p:spPr>
          <a:xfrm>
            <a:off x="9102621" y="2340864"/>
            <a:ext cx="2266111" cy="731520"/>
          </a:xfrm>
          <a:prstGeom prst="rect">
            <a:avLst/>
          </a:prstGeom>
          <a:noFill/>
        </p:spPr>
        <p:txBody>
          <a:bodyPr wrap="square" anchor="t" lIns="0" rIns="0" tIns="0" bIns="0">
            <a:spAutoFit/>
          </a:bodyPr>
          <a:lstStyle/>
          <a:p>
            <a:pPr algn="l">
              <a:lnSpc>
                <a:spcPct val="115000"/>
              </a:lnSpc>
            </a:pPr>
            <a:r>
              <a:rPr sz="1100" b="0" i="0">
                <a:solidFill>
                  <a:srgbClr val="666E78"/>
                </a:solidFill>
                <a:latin typeface="Segoe UI"/>
              </a:rPr>
              <a:t>Lip-synced talking avatar,</a:t>
            </a:r>
          </a:p>
          <a:p>
            <a:pPr algn="l">
              <a:lnSpc>
                <a:spcPct val="115000"/>
              </a:lnSpc>
            </a:pPr>
            <a:r>
              <a:rPr sz="1100" b="0" i="0">
                <a:solidFill>
                  <a:srgbClr val="666E78"/>
                </a:solidFill>
                <a:latin typeface="Segoe UI"/>
              </a:rPr>
              <a:t>streamable to OBS</a:t>
            </a:r>
          </a:p>
        </p:txBody>
      </p:sp>
      <p:sp>
        <p:nvSpPr>
          <p:cNvPr id="24" name="TextBox 23"/>
          <p:cNvSpPr txBox="1"/>
          <p:nvPr/>
        </p:nvSpPr>
        <p:spPr>
          <a:xfrm>
            <a:off x="9102621" y="3145536"/>
            <a:ext cx="2266111" cy="274320"/>
          </a:xfrm>
          <a:prstGeom prst="rect">
            <a:avLst/>
          </a:prstGeom>
          <a:noFill/>
        </p:spPr>
        <p:txBody>
          <a:bodyPr wrap="square" anchor="t" lIns="0" rIns="0" tIns="0" bIns="0">
            <a:spAutoFit/>
          </a:bodyPr>
          <a:lstStyle/>
          <a:p>
            <a:pPr algn="l">
              <a:lnSpc>
                <a:spcPct val="115000"/>
              </a:lnSpc>
            </a:pPr>
            <a:r>
              <a:rPr sz="1050" b="1" i="0">
                <a:solidFill>
                  <a:srgbClr val="A86400"/>
                </a:solidFill>
                <a:latin typeface="Segoe UI"/>
              </a:rPr>
              <a:t>stock face only</a:t>
            </a:r>
          </a:p>
        </p:txBody>
      </p:sp>
      <p:sp>
        <p:nvSpPr>
          <p:cNvPr id="25" name="Rounded Rectangle 24"/>
          <p:cNvSpPr/>
          <p:nvPr/>
        </p:nvSpPr>
        <p:spPr>
          <a:xfrm>
            <a:off x="658368" y="3840480"/>
            <a:ext cx="10874959" cy="1005840"/>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77824" y="4005072"/>
            <a:ext cx="10417759" cy="685800"/>
          </a:xfrm>
          <a:prstGeom prst="rect">
            <a:avLst/>
          </a:prstGeom>
          <a:noFill/>
        </p:spPr>
        <p:txBody>
          <a:bodyPr wrap="square" anchor="t" lIns="0" rIns="0" tIns="0" bIns="0">
            <a:spAutoFit/>
          </a:bodyPr>
          <a:lstStyle/>
          <a:p>
            <a:pPr algn="l">
              <a:lnSpc>
                <a:spcPct val="115000"/>
              </a:lnSpc>
            </a:pPr>
            <a:r>
              <a:rPr sz="1250" b="0" i="0">
                <a:solidFill>
                  <a:srgbClr val="14171A"/>
                </a:solidFill>
                <a:latin typeface="Segoe UI"/>
              </a:rPr>
              <a:t>text  →  Avatar server  →  Voice server (cloned voice)  →  audio</a:t>
            </a:r>
          </a:p>
          <a:p>
            <a:pPr algn="l">
              <a:lnSpc>
                <a:spcPct val="115000"/>
              </a:lnSpc>
            </a:pPr>
            <a:r>
              <a:rPr sz="1250" b="0" i="0">
                <a:solidFill>
                  <a:srgbClr val="14171A"/>
                </a:solidFill>
                <a:latin typeface="Segoe UI"/>
              </a:rPr>
              <a:t>                    ↳  lip-sync model  →  video 30 fps  →  WebRTC / OBS / RTMP</a:t>
            </a:r>
          </a:p>
        </p:txBody>
      </p:sp>
      <p:sp>
        <p:nvSpPr>
          <p:cNvPr id="27" name="TextBox 26"/>
          <p:cNvSpPr txBox="1"/>
          <p:nvPr/>
        </p:nvSpPr>
        <p:spPr>
          <a:xfrm>
            <a:off x="658368" y="5029200"/>
            <a:ext cx="10874959" cy="1005840"/>
          </a:xfrm>
          <a:prstGeom prst="rect">
            <a:avLst/>
          </a:prstGeom>
          <a:noFill/>
        </p:spPr>
        <p:txBody>
          <a:bodyPr wrap="square" anchor="t" lIns="0" rIns="0" tIns="0" bIns="0">
            <a:spAutoFit/>
          </a:bodyPr>
          <a:lstStyle/>
          <a:p>
            <a:pPr algn="l">
              <a:lnSpc>
                <a:spcPct val="115000"/>
              </a:lnSpc>
            </a:pPr>
            <a:r>
              <a:rPr sz="1150" b="0" i="0">
                <a:solidFill>
                  <a:srgbClr val="666E78"/>
                </a:solidFill>
                <a:latin typeface="Segoe UI"/>
              </a:rPr>
              <a:t>Why HTTP between layers: each engine pins conflicting library versions, so they run in separate isolated environments. Talking over HTTP means any layer can be upgraded or swapped — a better voice or lip-sync model later is a config change, not a rebuild. It also means the voice can be reused by other products (video voiceover, chat) without touching the avatar.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MODELS</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What each one does, in plain terms</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517904"/>
          <a:ext cx="10881360" cy="3657600"/>
        </p:xfrm>
        <a:graphic>
          <a:graphicData uri="http://schemas.openxmlformats.org/drawingml/2006/table">
            <a:tbl>
              <a:tblPr firstRow="1" bandRow="1">
                <a:tableStyleId>{5C22544A-7EE6-4342-B048-85BDC9FD1C3A}</a:tableStyleId>
              </a:tblPr>
              <a:tblGrid>
                <a:gridCol w="2286000"/>
                <a:gridCol w="3200400"/>
                <a:gridCol w="4480560"/>
                <a:gridCol w="914400"/>
              </a:tblGrid>
              <a:tr h="457200">
                <a:tc>
                  <a:txBody>
                    <a:bodyPr/>
                    <a:lstStyle/>
                    <a:p>
                      <a:r>
                        <a:rPr sz="1000" b="1">
                          <a:solidFill>
                            <a:srgbClr val="FFFFFF"/>
                          </a:solidFill>
                          <a:latin typeface="Segoe UI"/>
                        </a:rPr>
                        <a:t>Model</a:t>
                      </a:r>
                    </a:p>
                  </a:txBody>
                  <a:tcPr marL="82296" marR="64008" marT="27432" marB="27432" anchor="ctr">
                    <a:solidFill>
                      <a:srgbClr val="142244"/>
                    </a:solidFill>
                  </a:tcPr>
                </a:tc>
                <a:tc>
                  <a:txBody>
                    <a:bodyPr/>
                    <a:lstStyle/>
                    <a:p>
                      <a:r>
                        <a:rPr sz="1000" b="1">
                          <a:solidFill>
                            <a:srgbClr val="FFFFFF"/>
                          </a:solidFill>
                          <a:latin typeface="Segoe UI"/>
                        </a:rPr>
                        <a:t>Role</a:t>
                      </a:r>
                    </a:p>
                  </a:txBody>
                  <a:tcPr marL="82296" marR="64008" marT="27432" marB="27432" anchor="ctr">
                    <a:solidFill>
                      <a:srgbClr val="142244"/>
                    </a:solidFill>
                  </a:tcPr>
                </a:tc>
                <a:tc>
                  <a:txBody>
                    <a:bodyPr/>
                    <a:lstStyle/>
                    <a:p>
                      <a:r>
                        <a:rPr sz="1000" b="1">
                          <a:solidFill>
                            <a:srgbClr val="FFFFFF"/>
                          </a:solidFill>
                          <a:latin typeface="Segoe UI"/>
                        </a:rPr>
                        <a:t>Why chosen</a:t>
                      </a:r>
                    </a:p>
                  </a:txBody>
                  <a:tcPr marL="82296" marR="64008" marT="27432" marB="27432" anchor="ctr">
                    <a:solidFill>
                      <a:srgbClr val="142244"/>
                    </a:solidFill>
                  </a:tcPr>
                </a:tc>
                <a:tc>
                  <a:txBody>
                    <a:bodyPr/>
                    <a:lstStyle/>
                    <a:p>
                      <a:r>
                        <a:rPr sz="1000" b="1">
                          <a:solidFill>
                            <a:srgbClr val="FFFFFF"/>
                          </a:solidFill>
                          <a:latin typeface="Segoe UI"/>
                        </a:rPr>
                        <a:t>Licence</a:t>
                      </a:r>
                    </a:p>
                  </a:txBody>
                  <a:tcPr marL="82296" marR="64008" marT="27432" marB="27432" anchor="ctr">
                    <a:solidFill>
                      <a:srgbClr val="142244"/>
                    </a:solidFill>
                  </a:tcPr>
                </a:tc>
              </a:tr>
              <a:tr h="457200">
                <a:tc>
                  <a:txBody>
                    <a:bodyPr/>
                    <a:lstStyle/>
                    <a:p>
                      <a:r>
                        <a:rPr sz="1000" b="0">
                          <a:solidFill>
                            <a:srgbClr val="14171A"/>
                          </a:solidFill>
                          <a:latin typeface="Segoe UI"/>
                        </a:rPr>
                        <a:t>GPT-SoVITS v2Pro</a:t>
                      </a:r>
                    </a:p>
                  </a:txBody>
                  <a:tcPr marL="82296" marR="64008" marT="27432" marB="27432" anchor="ctr">
                    <a:solidFill>
                      <a:srgbClr val="FFFFFF"/>
                    </a:solidFill>
                  </a:tcPr>
                </a:tc>
                <a:tc>
                  <a:txBody>
                    <a:bodyPr/>
                    <a:lstStyle/>
                    <a:p>
                      <a:r>
                        <a:rPr sz="1000" b="0">
                          <a:solidFill>
                            <a:srgbClr val="14171A"/>
                          </a:solidFill>
                          <a:latin typeface="Segoe UI"/>
                        </a:rPr>
                        <a:t>Voice cloning + speech synthesis</a:t>
                      </a:r>
                    </a:p>
                  </a:txBody>
                  <a:tcPr marL="82296" marR="64008" marT="27432" marB="27432" anchor="ctr">
                    <a:solidFill>
                      <a:srgbClr val="FFFFFF"/>
                    </a:solidFill>
                  </a:tcPr>
                </a:tc>
                <a:tc>
                  <a:txBody>
                    <a:bodyPr/>
                    <a:lstStyle/>
                    <a:p>
                      <a:r>
                        <a:rPr sz="1000" b="0">
                          <a:solidFill>
                            <a:srgbClr val="14171A"/>
                          </a:solidFill>
                          <a:latin typeface="Segoe UI"/>
                        </a:rPr>
                        <a:t>Best voice likeness from little data; native ZH+EN from one voice</a:t>
                      </a:r>
                    </a:p>
                  </a:txBody>
                  <a:tcPr marL="82296" marR="64008" marT="27432" marB="27432" anchor="ctr">
                    <a:solidFill>
                      <a:srgbClr val="FFFFFF"/>
                    </a:solidFill>
                  </a:tcPr>
                </a:tc>
                <a:tc>
                  <a:txBody>
                    <a:bodyPr/>
                    <a:lstStyle/>
                    <a:p>
                      <a:r>
                        <a:rPr sz="1000" b="0">
                          <a:solidFill>
                            <a:srgbClr val="14171A"/>
                          </a:solidFill>
                          <a:latin typeface="Segoe UI"/>
                        </a:rPr>
                        <a:t>Open (MIT)</a:t>
                      </a:r>
                    </a:p>
                  </a:txBody>
                  <a:tcPr marL="82296" marR="64008" marT="27432" marB="27432" anchor="ctr">
                    <a:solidFill>
                      <a:srgbClr val="FFFFFF"/>
                    </a:solidFill>
                  </a:tcPr>
                </a:tc>
              </a:tr>
              <a:tr h="457200">
                <a:tc>
                  <a:txBody>
                    <a:bodyPr/>
                    <a:lstStyle/>
                    <a:p>
                      <a:r>
                        <a:rPr sz="1000" b="0">
                          <a:solidFill>
                            <a:srgbClr val="14171A"/>
                          </a:solidFill>
                          <a:latin typeface="Segoe UI"/>
                        </a:rPr>
                        <a:t>wav2lip</a:t>
                      </a:r>
                    </a:p>
                  </a:txBody>
                  <a:tcPr marL="82296" marR="64008" marT="27432" marB="27432" anchor="ctr">
                    <a:solidFill>
                      <a:srgbClr val="F2F4F7"/>
                    </a:solidFill>
                  </a:tcPr>
                </a:tc>
                <a:tc>
                  <a:txBody>
                    <a:bodyPr/>
                    <a:lstStyle/>
                    <a:p>
                      <a:r>
                        <a:rPr sz="1000" b="0">
                          <a:solidFill>
                            <a:srgbClr val="14171A"/>
                          </a:solidFill>
                          <a:latin typeface="Segoe UI"/>
                        </a:rPr>
                        <a:t>Lip-sync — drives the mouth from audio</a:t>
                      </a:r>
                    </a:p>
                  </a:txBody>
                  <a:tcPr marL="82296" marR="64008" marT="27432" marB="27432" anchor="ctr">
                    <a:solidFill>
                      <a:srgbClr val="F2F4F7"/>
                    </a:solidFill>
                  </a:tcPr>
                </a:tc>
                <a:tc>
                  <a:txBody>
                    <a:bodyPr/>
                    <a:lstStyle/>
                    <a:p>
                      <a:r>
                        <a:rPr sz="1000" b="0">
                          <a:solidFill>
                            <a:srgbClr val="14171A"/>
                          </a:solidFill>
                          <a:latin typeface="Segoe UI"/>
                        </a:rPr>
                        <a:t>Light enough for realtime on our GPU; proven</a:t>
                      </a:r>
                    </a:p>
                  </a:txBody>
                  <a:tcPr marL="82296" marR="64008" marT="27432" marB="27432" anchor="ctr">
                    <a:solidFill>
                      <a:srgbClr val="F2F4F7"/>
                    </a:solidFill>
                  </a:tcPr>
                </a:tc>
                <a:tc>
                  <a:txBody>
                    <a:bodyPr/>
                    <a:lstStyle/>
                    <a:p>
                      <a:r>
                        <a:rPr sz="1000" b="0">
                          <a:solidFill>
                            <a:srgbClr val="14171A"/>
                          </a:solidFill>
                          <a:latin typeface="Segoe UI"/>
                        </a:rPr>
                        <a:t>Open (research)</a:t>
                      </a:r>
                    </a:p>
                  </a:txBody>
                  <a:tcPr marL="82296" marR="64008" marT="27432" marB="27432" anchor="ctr">
                    <a:solidFill>
                      <a:srgbClr val="F2F4F7"/>
                    </a:solidFill>
                  </a:tcPr>
                </a:tc>
              </a:tr>
              <a:tr h="457200">
                <a:tc>
                  <a:txBody>
                    <a:bodyPr/>
                    <a:lstStyle/>
                    <a:p>
                      <a:r>
                        <a:rPr sz="1000" b="0">
                          <a:solidFill>
                            <a:srgbClr val="14171A"/>
                          </a:solidFill>
                          <a:latin typeface="Segoe UI"/>
                        </a:rPr>
                        <a:t>faster-whisper</a:t>
                      </a:r>
                    </a:p>
                  </a:txBody>
                  <a:tcPr marL="82296" marR="64008" marT="27432" marB="27432" anchor="ctr">
                    <a:solidFill>
                      <a:srgbClr val="FFFFFF"/>
                    </a:solidFill>
                  </a:tcPr>
                </a:tc>
                <a:tc>
                  <a:txBody>
                    <a:bodyPr/>
                    <a:lstStyle/>
                    <a:p>
                      <a:r>
                        <a:rPr sz="1000" b="0">
                          <a:solidFill>
                            <a:srgbClr val="14171A"/>
                          </a:solidFill>
                          <a:latin typeface="Segoe UI"/>
                        </a:rPr>
                        <a:t>Speech→text, used to auto-label training data</a:t>
                      </a:r>
                    </a:p>
                  </a:txBody>
                  <a:tcPr marL="82296" marR="64008" marT="27432" marB="27432" anchor="ctr">
                    <a:solidFill>
                      <a:srgbClr val="FFFFFF"/>
                    </a:solidFill>
                  </a:tcPr>
                </a:tc>
                <a:tc>
                  <a:txBody>
                    <a:bodyPr/>
                    <a:lstStyle/>
                    <a:p>
                      <a:r>
                        <a:rPr sz="1000" b="0">
                          <a:solidFill>
                            <a:srgbClr val="14171A"/>
                          </a:solidFill>
                          <a:latin typeface="Segoe UI"/>
                        </a:rPr>
                        <a:t>Word-level timing lets us cut clean sentences</a:t>
                      </a:r>
                    </a:p>
                  </a:txBody>
                  <a:tcPr marL="82296" marR="64008" marT="27432" marB="27432" anchor="ctr">
                    <a:solidFill>
                      <a:srgbClr val="FFFFFF"/>
                    </a:solidFill>
                  </a:tcPr>
                </a:tc>
                <a:tc>
                  <a:txBody>
                    <a:bodyPr/>
                    <a:lstStyle/>
                    <a:p>
                      <a:r>
                        <a:rPr sz="1000" b="0">
                          <a:solidFill>
                            <a:srgbClr val="14171A"/>
                          </a:solidFill>
                          <a:latin typeface="Segoe UI"/>
                        </a:rPr>
                        <a:t>Open (MIT)</a:t>
                      </a:r>
                    </a:p>
                  </a:txBody>
                  <a:tcPr marL="82296" marR="64008" marT="27432" marB="27432" anchor="ctr">
                    <a:solidFill>
                      <a:srgbClr val="FFFFFF"/>
                    </a:solidFill>
                  </a:tcPr>
                </a:tc>
              </a:tr>
              <a:tr h="457200">
                <a:tc>
                  <a:txBody>
                    <a:bodyPr/>
                    <a:lstStyle/>
                    <a:p>
                      <a:r>
                        <a:rPr sz="1000" b="0">
                          <a:solidFill>
                            <a:srgbClr val="14171A"/>
                          </a:solidFill>
                          <a:latin typeface="Segoe UI"/>
                        </a:rPr>
                        <a:t>Demucs</a:t>
                      </a:r>
                    </a:p>
                  </a:txBody>
                  <a:tcPr marL="82296" marR="64008" marT="27432" marB="27432" anchor="ctr">
                    <a:solidFill>
                      <a:srgbClr val="F2F4F7"/>
                    </a:solidFill>
                  </a:tcPr>
                </a:tc>
                <a:tc>
                  <a:txBody>
                    <a:bodyPr/>
                    <a:lstStyle/>
                    <a:p>
                      <a:r>
                        <a:rPr sz="1000" b="0">
                          <a:solidFill>
                            <a:srgbClr val="14171A"/>
                          </a:solidFill>
                          <a:latin typeface="Segoe UI"/>
                        </a:rPr>
                        <a:t>Separates voice from background music</a:t>
                      </a:r>
                    </a:p>
                  </a:txBody>
                  <a:tcPr marL="82296" marR="64008" marT="27432" marB="27432" anchor="ctr">
                    <a:solidFill>
                      <a:srgbClr val="F2F4F7"/>
                    </a:solidFill>
                  </a:tcPr>
                </a:tc>
                <a:tc>
                  <a:txBody>
                    <a:bodyPr/>
                    <a:lstStyle/>
                    <a:p>
                      <a:r>
                        <a:rPr sz="1000" b="0">
                          <a:solidFill>
                            <a:srgbClr val="14171A"/>
                          </a:solidFill>
                          <a:latin typeface="Segoe UI"/>
                        </a:rPr>
                        <a:t>Makes noisy source audio usable</a:t>
                      </a:r>
                    </a:p>
                  </a:txBody>
                  <a:tcPr marL="82296" marR="64008" marT="27432" marB="27432" anchor="ctr">
                    <a:solidFill>
                      <a:srgbClr val="F2F4F7"/>
                    </a:solidFill>
                  </a:tcPr>
                </a:tc>
                <a:tc>
                  <a:txBody>
                    <a:bodyPr/>
                    <a:lstStyle/>
                    <a:p>
                      <a:r>
                        <a:rPr sz="1000" b="0">
                          <a:solidFill>
                            <a:srgbClr val="14171A"/>
                          </a:solidFill>
                          <a:latin typeface="Segoe UI"/>
                        </a:rPr>
                        <a:t>Open (MIT)</a:t>
                      </a:r>
                    </a:p>
                  </a:txBody>
                  <a:tcPr marL="82296" marR="64008" marT="27432" marB="27432" anchor="ctr">
                    <a:solidFill>
                      <a:srgbClr val="F2F4F7"/>
                    </a:solidFill>
                  </a:tcPr>
                </a:tc>
              </a:tr>
              <a:tr h="457200">
                <a:tc>
                  <a:txBody>
                    <a:bodyPr/>
                    <a:lstStyle/>
                    <a:p>
                      <a:r>
                        <a:rPr sz="1000" b="0">
                          <a:solidFill>
                            <a:srgbClr val="14171A"/>
                          </a:solidFill>
                          <a:latin typeface="Segoe UI"/>
                        </a:rPr>
                        <a:t>Edge TTS</a:t>
                      </a:r>
                    </a:p>
                  </a:txBody>
                  <a:tcPr marL="82296" marR="64008" marT="27432" marB="27432" anchor="ctr">
                    <a:solidFill>
                      <a:srgbClr val="FFFFFF"/>
                    </a:solidFill>
                  </a:tcPr>
                </a:tc>
                <a:tc>
                  <a:txBody>
                    <a:bodyPr/>
                    <a:lstStyle/>
                    <a:p>
                      <a:r>
                        <a:rPr sz="1000" b="0">
                          <a:solidFill>
                            <a:srgbClr val="14171A"/>
                          </a:solidFill>
                          <a:latin typeface="Segoe UI"/>
                        </a:rPr>
                        <a:t>Generates the initial synthetic timbre</a:t>
                      </a:r>
                    </a:p>
                  </a:txBody>
                  <a:tcPr marL="82296" marR="64008" marT="27432" marB="27432" anchor="ctr">
                    <a:solidFill>
                      <a:srgbClr val="FFFFFF"/>
                    </a:solidFill>
                  </a:tcPr>
                </a:tc>
                <a:tc>
                  <a:txBody>
                    <a:bodyPr/>
                    <a:lstStyle/>
                    <a:p>
                      <a:r>
                        <a:rPr sz="1000" b="0">
                          <a:solidFill>
                            <a:srgbClr val="14171A"/>
                          </a:solidFill>
                          <a:latin typeface="Segoe UI"/>
                        </a:rPr>
                        <a:t>Free, natural, bilingual — no real person needed</a:t>
                      </a:r>
                    </a:p>
                  </a:txBody>
                  <a:tcPr marL="82296" marR="64008" marT="27432" marB="27432" anchor="ctr">
                    <a:solidFill>
                      <a:srgbClr val="FFFFFF"/>
                    </a:solidFill>
                  </a:tcPr>
                </a:tc>
                <a:tc>
                  <a:txBody>
                    <a:bodyPr/>
                    <a:lstStyle/>
                    <a:p>
                      <a:r>
                        <a:rPr sz="1000" b="0">
                          <a:solidFill>
                            <a:srgbClr val="14171A"/>
                          </a:solidFill>
                          <a:latin typeface="Segoe UI"/>
                        </a:rPr>
                        <a:t>Free service</a:t>
                      </a:r>
                    </a:p>
                  </a:txBody>
                  <a:tcPr marL="82296" marR="64008" marT="27432" marB="27432" anchor="ctr">
                    <a:solidFill>
                      <a:srgbClr val="FFFFFF"/>
                    </a:solidFill>
                  </a:tcPr>
                </a:tc>
              </a:tr>
              <a:tr h="457200">
                <a:tc>
                  <a:txBody>
                    <a:bodyPr/>
                    <a:lstStyle/>
                    <a:p>
                      <a:r>
                        <a:rPr sz="1000" b="0">
                          <a:solidFill>
                            <a:srgbClr val="14171A"/>
                          </a:solidFill>
                          <a:latin typeface="Segoe UI"/>
                        </a:rPr>
                        <a:t>Wan2.x / LTX  (next)</a:t>
                      </a:r>
                    </a:p>
                  </a:txBody>
                  <a:tcPr marL="82296" marR="64008" marT="27432" marB="27432" anchor="ctr">
                    <a:solidFill>
                      <a:srgbClr val="F2F4F7"/>
                    </a:solidFill>
                  </a:tcPr>
                </a:tc>
                <a:tc>
                  <a:txBody>
                    <a:bodyPr/>
                    <a:lstStyle/>
                    <a:p>
                      <a:r>
                        <a:rPr sz="1000" b="0">
                          <a:solidFill>
                            <a:srgbClr val="14171A"/>
                          </a:solidFill>
                          <a:latin typeface="Segoe UI"/>
                        </a:rPr>
                        <a:t>Turns a still photo into a short video</a:t>
                      </a:r>
                    </a:p>
                  </a:txBody>
                  <a:tcPr marL="82296" marR="64008" marT="27432" marB="27432" anchor="ctr">
                    <a:solidFill>
                      <a:srgbClr val="F2F4F7"/>
                    </a:solidFill>
                  </a:tcPr>
                </a:tc>
                <a:tc>
                  <a:txBody>
                    <a:bodyPr/>
                    <a:lstStyle/>
                    <a:p>
                      <a:r>
                        <a:rPr sz="1000" b="0">
                          <a:solidFill>
                            <a:srgbClr val="14171A"/>
                          </a:solidFill>
                          <a:latin typeface="Segoe UI"/>
                        </a:rPr>
                        <a:t>Required to give the avatar the KOL's own face</a:t>
                      </a:r>
                    </a:p>
                  </a:txBody>
                  <a:tcPr marL="82296" marR="64008" marT="27432" marB="27432" anchor="ctr">
                    <a:solidFill>
                      <a:srgbClr val="F2F4F7"/>
                    </a:solidFill>
                  </a:tcPr>
                </a:tc>
                <a:tc>
                  <a:txBody>
                    <a:bodyPr/>
                    <a:lstStyle/>
                    <a:p>
                      <a:r>
                        <a:rPr sz="1000" b="0">
                          <a:solidFill>
                            <a:srgbClr val="14171A"/>
                          </a:solidFill>
                          <a:latin typeface="Segoe UI"/>
                        </a:rPr>
                        <a:t>Open</a:t>
                      </a:r>
                    </a:p>
                  </a:txBody>
                  <a:tcPr marL="82296" marR="64008" marT="27432" marB="27432" anchor="ctr">
                    <a:solidFill>
                      <a:srgbClr val="F2F4F7"/>
                    </a:solidFill>
                  </a:tcPr>
                </a:tc>
              </a:tr>
              <a:tr h="457200">
                <a:tc>
                  <a:txBody>
                    <a:bodyPr/>
                    <a:lstStyle/>
                    <a:p>
                      <a:r>
                        <a:rPr sz="1000" b="0">
                          <a:solidFill>
                            <a:srgbClr val="14171A"/>
                          </a:solidFill>
                          <a:latin typeface="Segoe UI"/>
                        </a:rPr>
                        <a:t>Qwen2.5  (next)</a:t>
                      </a:r>
                    </a:p>
                  </a:txBody>
                  <a:tcPr marL="82296" marR="64008" marT="27432" marB="27432" anchor="ctr">
                    <a:solidFill>
                      <a:srgbClr val="FFFFFF"/>
                    </a:solidFill>
                  </a:tcPr>
                </a:tc>
                <a:tc>
                  <a:txBody>
                    <a:bodyPr/>
                    <a:lstStyle/>
                    <a:p>
                      <a:r>
                        <a:rPr sz="1000" b="0">
                          <a:solidFill>
                            <a:srgbClr val="14171A"/>
                          </a:solidFill>
                          <a:latin typeface="Segoe UI"/>
                        </a:rPr>
                        <a:t>The 'brain' — writes replies in persona</a:t>
                      </a:r>
                    </a:p>
                  </a:txBody>
                  <a:tcPr marL="82296" marR="64008" marT="27432" marB="27432" anchor="ctr">
                    <a:solidFill>
                      <a:srgbClr val="FFFFFF"/>
                    </a:solidFill>
                  </a:tcPr>
                </a:tc>
                <a:tc>
                  <a:txBody>
                    <a:bodyPr/>
                    <a:lstStyle/>
                    <a:p>
                      <a:r>
                        <a:rPr sz="1000" b="0">
                          <a:solidFill>
                            <a:srgbClr val="14171A"/>
                          </a:solidFill>
                          <a:latin typeface="Segoe UI"/>
                        </a:rPr>
                        <a:t>Strong Chinese + English; runs locally</a:t>
                      </a:r>
                    </a:p>
                  </a:txBody>
                  <a:tcPr marL="82296" marR="64008" marT="27432" marB="27432" anchor="ctr">
                    <a:solidFill>
                      <a:srgbClr val="FFFFFF"/>
                    </a:solidFill>
                  </a:tcPr>
                </a:tc>
                <a:tc>
                  <a:txBody>
                    <a:bodyPr/>
                    <a:lstStyle/>
                    <a:p>
                      <a:r>
                        <a:rPr sz="1000" b="0">
                          <a:solidFill>
                            <a:srgbClr val="14171A"/>
                          </a:solidFill>
                          <a:latin typeface="Segoe UI"/>
                        </a:rPr>
                        <a:t>Open (Apache)</a:t>
                      </a:r>
                    </a:p>
                  </a:txBody>
                  <a:tcPr marL="82296" marR="64008" marT="27432" marB="27432" anchor="ctr">
                    <a:solidFill>
                      <a:srgbClr val="FFFFFF"/>
                    </a:solidFill>
                  </a:tcPr>
                </a:tc>
              </a:tr>
            </a:tbl>
          </a:graphicData>
        </a:graphic>
      </p:graphicFrame>
      <p:sp>
        <p:nvSpPr>
          <p:cNvPr id="6" name="TextBox 5"/>
          <p:cNvSpPr txBox="1"/>
          <p:nvPr/>
        </p:nvSpPr>
        <p:spPr>
          <a:xfrm>
            <a:off x="658368" y="5257800"/>
            <a:ext cx="10874959" cy="822960"/>
          </a:xfrm>
          <a:prstGeom prst="rect">
            <a:avLst/>
          </a:prstGeom>
          <a:noFill/>
        </p:spPr>
        <p:txBody>
          <a:bodyPr wrap="square" anchor="t" lIns="0" rIns="0" tIns="0" bIns="0">
            <a:spAutoFit/>
          </a:bodyPr>
          <a:lstStyle/>
          <a:p>
            <a:pPr algn="l">
              <a:lnSpc>
                <a:spcPct val="115000"/>
              </a:lnSpc>
            </a:pPr>
            <a:r>
              <a:rPr sz="1150" b="0" i="0">
                <a:solidFill>
                  <a:srgbClr val="666E78"/>
                </a:solidFill>
                <a:latin typeface="Segoe UI"/>
              </a:rPr>
              <a:t>All models run on our own hardware. Nothing is sent to a third party, which matters both for cost and for keeping unreleased campaign material confidential. Licences are open — but should be re-checked by legal before any commercial launch.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RESOURCES USED</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One workstation, no cloud spend</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517904"/>
          <a:ext cx="10881360" cy="3072384"/>
        </p:xfrm>
        <a:graphic>
          <a:graphicData uri="http://schemas.openxmlformats.org/drawingml/2006/table">
            <a:tbl>
              <a:tblPr firstRow="1" bandRow="1">
                <a:tableStyleId>{5C22544A-7EE6-4342-B048-85BDC9FD1C3A}</a:tableStyleId>
              </a:tblPr>
              <a:tblGrid>
                <a:gridCol w="2651760"/>
                <a:gridCol w="4206240"/>
                <a:gridCol w="4023360"/>
              </a:tblGrid>
              <a:tr h="438912">
                <a:tc>
                  <a:txBody>
                    <a:bodyPr/>
                    <a:lstStyle/>
                    <a:p>
                      <a:r>
                        <a:rPr sz="1100" b="1">
                          <a:solidFill>
                            <a:srgbClr val="FFFFFF"/>
                          </a:solidFill>
                          <a:latin typeface="Segoe UI"/>
                        </a:rPr>
                        <a:t>Resource</a:t>
                      </a:r>
                    </a:p>
                  </a:txBody>
                  <a:tcPr marL="82296" marR="64008" marT="27432" marB="27432" anchor="ctr">
                    <a:solidFill>
                      <a:srgbClr val="142244"/>
                    </a:solidFill>
                  </a:tcPr>
                </a:tc>
                <a:tc>
                  <a:txBody>
                    <a:bodyPr/>
                    <a:lstStyle/>
                    <a:p>
                      <a:r>
                        <a:rPr sz="1100" b="1">
                          <a:solidFill>
                            <a:srgbClr val="FFFFFF"/>
                          </a:solidFill>
                          <a:latin typeface="Segoe UI"/>
                        </a:rPr>
                        <a:t>Detail</a:t>
                      </a:r>
                    </a:p>
                  </a:txBody>
                  <a:tcPr marL="82296" marR="64008" marT="27432" marB="27432" anchor="ctr">
                    <a:solidFill>
                      <a:srgbClr val="142244"/>
                    </a:solidFill>
                  </a:tcPr>
                </a:tc>
                <a:tc>
                  <a:txBody>
                    <a:bodyPr/>
                    <a:lstStyle/>
                    <a:p>
                      <a:r>
                        <a:rPr sz="1100" b="1">
                          <a:solidFill>
                            <a:srgbClr val="FFFFFF"/>
                          </a:solidFill>
                          <a:latin typeface="Segoe UI"/>
                        </a:rPr>
                        <a:t>Note</a:t>
                      </a:r>
                    </a:p>
                  </a:txBody>
                  <a:tcPr marL="82296" marR="64008" marT="27432" marB="27432" anchor="ctr">
                    <a:solidFill>
                      <a:srgbClr val="142244"/>
                    </a:solidFill>
                  </a:tcPr>
                </a:tc>
              </a:tr>
              <a:tr h="438912">
                <a:tc>
                  <a:txBody>
                    <a:bodyPr/>
                    <a:lstStyle/>
                    <a:p>
                      <a:r>
                        <a:rPr sz="1100" b="0">
                          <a:solidFill>
                            <a:srgbClr val="14171A"/>
                          </a:solidFill>
                          <a:latin typeface="Segoe UI"/>
                        </a:rPr>
                        <a:t>GPU</a:t>
                      </a:r>
                    </a:p>
                  </a:txBody>
                  <a:tcPr marL="82296" marR="64008" marT="27432" marB="27432" anchor="ctr">
                    <a:solidFill>
                      <a:srgbClr val="FFFFFF"/>
                    </a:solidFill>
                  </a:tcPr>
                </a:tc>
                <a:tc>
                  <a:txBody>
                    <a:bodyPr/>
                    <a:lstStyle/>
                    <a:p>
                      <a:r>
                        <a:rPr sz="1100" b="0">
                          <a:solidFill>
                            <a:srgbClr val="14171A"/>
                          </a:solidFill>
                          <a:latin typeface="Segoe UI"/>
                        </a:rPr>
                        <a:t>NVIDIA GeForce RTX 5070 · 12 GB VRAM</a:t>
                      </a:r>
                    </a:p>
                  </a:txBody>
                  <a:tcPr marL="82296" marR="64008" marT="27432" marB="27432" anchor="ctr">
                    <a:solidFill>
                      <a:srgbClr val="FFFFFF"/>
                    </a:solidFill>
                  </a:tcPr>
                </a:tc>
                <a:tc>
                  <a:txBody>
                    <a:bodyPr/>
                    <a:lstStyle/>
                    <a:p>
                      <a:r>
                        <a:rPr sz="1100" b="0">
                          <a:solidFill>
                            <a:srgbClr val="14171A"/>
                          </a:solidFill>
                          <a:latin typeface="Segoe UI"/>
                        </a:rPr>
                        <a:t>Voice + avatar together use 5.3 GB — 6.9 GB spare</a:t>
                      </a:r>
                    </a:p>
                  </a:txBody>
                  <a:tcPr marL="82296" marR="64008" marT="27432" marB="27432" anchor="ctr">
                    <a:solidFill>
                      <a:srgbClr val="FFFFFF"/>
                    </a:solidFill>
                  </a:tcPr>
                </a:tc>
              </a:tr>
              <a:tr h="438912">
                <a:tc>
                  <a:txBody>
                    <a:bodyPr/>
                    <a:lstStyle/>
                    <a:p>
                      <a:r>
                        <a:rPr sz="1100" b="0">
                          <a:solidFill>
                            <a:srgbClr val="14171A"/>
                          </a:solidFill>
                          <a:latin typeface="Segoe UI"/>
                        </a:rPr>
                        <a:t>Power draw (measured)</a:t>
                      </a:r>
                    </a:p>
                  </a:txBody>
                  <a:tcPr marL="82296" marR="64008" marT="27432" marB="27432" anchor="ctr">
                    <a:solidFill>
                      <a:srgbClr val="F2F4F7"/>
                    </a:solidFill>
                  </a:tcPr>
                </a:tc>
                <a:tc>
                  <a:txBody>
                    <a:bodyPr/>
                    <a:lstStyle/>
                    <a:p>
                      <a:r>
                        <a:rPr sz="1100" b="0">
                          <a:solidFill>
                            <a:srgbClr val="14171A"/>
                          </a:solidFill>
                          <a:latin typeface="Segoe UI"/>
                        </a:rPr>
                        <a:t>13 W serving · ~100 W training</a:t>
                      </a:r>
                    </a:p>
                  </a:txBody>
                  <a:tcPr marL="82296" marR="64008" marT="27432" marB="27432" anchor="ctr">
                    <a:solidFill>
                      <a:srgbClr val="F2F4F7"/>
                    </a:solidFill>
                  </a:tcPr>
                </a:tc>
                <a:tc>
                  <a:txBody>
                    <a:bodyPr/>
                    <a:lstStyle/>
                    <a:p>
                      <a:r>
                        <a:rPr sz="1100" b="0">
                          <a:solidFill>
                            <a:srgbClr val="14171A"/>
                          </a:solidFill>
                          <a:latin typeface="Segoe UI"/>
                        </a:rPr>
                        <a:t>Comparable to a light bulb while serving</a:t>
                      </a:r>
                    </a:p>
                  </a:txBody>
                  <a:tcPr marL="82296" marR="64008" marT="27432" marB="27432" anchor="ctr">
                    <a:solidFill>
                      <a:srgbClr val="F2F4F7"/>
                    </a:solidFill>
                  </a:tcPr>
                </a:tc>
              </a:tr>
              <a:tr h="438912">
                <a:tc>
                  <a:txBody>
                    <a:bodyPr/>
                    <a:lstStyle/>
                    <a:p>
                      <a:r>
                        <a:rPr sz="1100" b="0">
                          <a:solidFill>
                            <a:srgbClr val="14171A"/>
                          </a:solidFill>
                          <a:latin typeface="Segoe UI"/>
                        </a:rPr>
                        <a:t>Disk</a:t>
                      </a:r>
                    </a:p>
                  </a:txBody>
                  <a:tcPr marL="82296" marR="64008" marT="27432" marB="27432" anchor="ctr">
                    <a:solidFill>
                      <a:srgbClr val="FFFFFF"/>
                    </a:solidFill>
                  </a:tcPr>
                </a:tc>
                <a:tc>
                  <a:txBody>
                    <a:bodyPr/>
                    <a:lstStyle/>
                    <a:p>
                      <a:r>
                        <a:rPr sz="1100" b="0">
                          <a:solidFill>
                            <a:srgbClr val="14171A"/>
                          </a:solidFill>
                          <a:latin typeface="Segoe UI"/>
                        </a:rPr>
                        <a:t>~27 GB total (models 5.8 GB, environments 5 GB)</a:t>
                      </a:r>
                    </a:p>
                  </a:txBody>
                  <a:tcPr marL="82296" marR="64008" marT="27432" marB="27432" anchor="ctr">
                    <a:solidFill>
                      <a:srgbClr val="FFFFFF"/>
                    </a:solidFill>
                  </a:tcPr>
                </a:tc>
                <a:tc>
                  <a:txBody>
                    <a:bodyPr/>
                    <a:lstStyle/>
                    <a:p>
                      <a:r>
                        <a:rPr sz="1100" b="0">
                          <a:solidFill>
                            <a:srgbClr val="14171A"/>
                          </a:solidFill>
                          <a:latin typeface="Segoe UI"/>
                        </a:rPr>
                        <a:t>One-off; shared by all KOLs</a:t>
                      </a:r>
                    </a:p>
                  </a:txBody>
                  <a:tcPr marL="82296" marR="64008" marT="27432" marB="27432" anchor="ctr">
                    <a:solidFill>
                      <a:srgbClr val="FFFFFF"/>
                    </a:solidFill>
                  </a:tcPr>
                </a:tc>
              </a:tr>
              <a:tr h="438912">
                <a:tc>
                  <a:txBody>
                    <a:bodyPr/>
                    <a:lstStyle/>
                    <a:p>
                      <a:r>
                        <a:rPr sz="1100" b="0">
                          <a:solidFill>
                            <a:srgbClr val="14171A"/>
                          </a:solidFill>
                          <a:latin typeface="Segoe UI"/>
                        </a:rPr>
                        <a:t>Software</a:t>
                      </a:r>
                    </a:p>
                  </a:txBody>
                  <a:tcPr marL="82296" marR="64008" marT="27432" marB="27432" anchor="ctr">
                    <a:solidFill>
                      <a:srgbClr val="F2F4F7"/>
                    </a:solidFill>
                  </a:tcPr>
                </a:tc>
                <a:tc>
                  <a:txBody>
                    <a:bodyPr/>
                    <a:lstStyle/>
                    <a:p>
                      <a:r>
                        <a:rPr sz="1100" b="0">
                          <a:solidFill>
                            <a:srgbClr val="14171A"/>
                          </a:solidFill>
                          <a:latin typeface="Segoe UI"/>
                        </a:rPr>
                        <a:t>All open-source + free services</a:t>
                      </a:r>
                    </a:p>
                  </a:txBody>
                  <a:tcPr marL="82296" marR="64008" marT="27432" marB="27432" anchor="ctr">
                    <a:solidFill>
                      <a:srgbClr val="F2F4F7"/>
                    </a:solidFill>
                  </a:tcPr>
                </a:tc>
                <a:tc>
                  <a:txBody>
                    <a:bodyPr/>
                    <a:lstStyle/>
                    <a:p>
                      <a:r>
                        <a:rPr sz="1100" b="0">
                          <a:solidFill>
                            <a:srgbClr val="14171A"/>
                          </a:solidFill>
                          <a:latin typeface="Segoe UI"/>
                        </a:rPr>
                        <a:t>NT$0 licence cost</a:t>
                      </a:r>
                    </a:p>
                  </a:txBody>
                  <a:tcPr marL="82296" marR="64008" marT="27432" marB="27432" anchor="ctr">
                    <a:solidFill>
                      <a:srgbClr val="F2F4F7"/>
                    </a:solidFill>
                  </a:tcPr>
                </a:tc>
              </a:tr>
              <a:tr h="438912">
                <a:tc>
                  <a:txBody>
                    <a:bodyPr/>
                    <a:lstStyle/>
                    <a:p>
                      <a:r>
                        <a:rPr sz="1100" b="0">
                          <a:solidFill>
                            <a:srgbClr val="14171A"/>
                          </a:solidFill>
                          <a:latin typeface="Segoe UI"/>
                        </a:rPr>
                        <a:t>Cloud / API spend</a:t>
                      </a:r>
                    </a:p>
                  </a:txBody>
                  <a:tcPr marL="82296" marR="64008" marT="27432" marB="27432" anchor="ctr">
                    <a:solidFill>
                      <a:srgbClr val="FFFFFF"/>
                    </a:solidFill>
                  </a:tcPr>
                </a:tc>
                <a:tc>
                  <a:txBody>
                    <a:bodyPr/>
                    <a:lstStyle/>
                    <a:p>
                      <a:r>
                        <a:rPr sz="1100" b="0">
                          <a:solidFill>
                            <a:srgbClr val="14171A"/>
                          </a:solidFill>
                          <a:latin typeface="Segoe UI"/>
                        </a:rPr>
                        <a:t>None</a:t>
                      </a:r>
                    </a:p>
                  </a:txBody>
                  <a:tcPr marL="82296" marR="64008" marT="27432" marB="27432" anchor="ctr">
                    <a:solidFill>
                      <a:srgbClr val="FFFFFF"/>
                    </a:solidFill>
                  </a:tcPr>
                </a:tc>
                <a:tc>
                  <a:txBody>
                    <a:bodyPr/>
                    <a:lstStyle/>
                    <a:p>
                      <a:r>
                        <a:rPr sz="1100" b="0">
                          <a:solidFill>
                            <a:srgbClr val="14171A"/>
                          </a:solidFill>
                          <a:latin typeface="Segoe UI"/>
                        </a:rPr>
                        <a:t>Fully offline capable</a:t>
                      </a:r>
                    </a:p>
                  </a:txBody>
                  <a:tcPr marL="82296" marR="64008" marT="27432" marB="27432" anchor="ctr">
                    <a:solidFill>
                      <a:srgbClr val="FFFFFF"/>
                    </a:solidFill>
                  </a:tcPr>
                </a:tc>
              </a:tr>
              <a:tr h="438912">
                <a:tc>
                  <a:txBody>
                    <a:bodyPr/>
                    <a:lstStyle/>
                    <a:p>
                      <a:r>
                        <a:rPr sz="1100" b="0">
                          <a:solidFill>
                            <a:srgbClr val="14171A"/>
                          </a:solidFill>
                          <a:latin typeface="Segoe UI"/>
                        </a:rPr>
                        <a:t>People</a:t>
                      </a:r>
                    </a:p>
                  </a:txBody>
                  <a:tcPr marL="82296" marR="64008" marT="27432" marB="27432" anchor="ctr">
                    <a:solidFill>
                      <a:srgbClr val="F2F4F7"/>
                    </a:solidFill>
                  </a:tcPr>
                </a:tc>
                <a:tc>
                  <a:txBody>
                    <a:bodyPr/>
                    <a:lstStyle/>
                    <a:p>
                      <a:r>
                        <a:rPr sz="1100" b="0">
                          <a:solidFill>
                            <a:srgbClr val="14171A"/>
                          </a:solidFill>
                          <a:latin typeface="Segoe UI"/>
                        </a:rPr>
                        <a:t>1 intern · 4 h/day</a:t>
                      </a:r>
                    </a:p>
                  </a:txBody>
                  <a:tcPr marL="82296" marR="64008" marT="27432" marB="27432" anchor="ctr">
                    <a:solidFill>
                      <a:srgbClr val="F2F4F7"/>
                    </a:solidFill>
                  </a:tcPr>
                </a:tc>
                <a:tc>
                  <a:txBody>
                    <a:bodyPr/>
                    <a:lstStyle/>
                    <a:p>
                      <a:r>
                        <a:rPr sz="1100" b="0">
                          <a:solidFill>
                            <a:srgbClr val="14171A"/>
                          </a:solidFill>
                          <a:latin typeface="Segoe UI"/>
                        </a:rPr>
                        <a:t>No other staff time consumed</a:t>
                      </a:r>
                    </a:p>
                  </a:txBody>
                  <a:tcPr marL="82296" marR="64008" marT="27432" marB="27432" anchor="ctr">
                    <a:solidFill>
                      <a:srgbClr val="F2F4F7"/>
                    </a:solidFill>
                  </a:tcPr>
                </a:tc>
              </a:tr>
            </a:tbl>
          </a:graphicData>
        </a:graphic>
      </p:graphicFrame>
      <p:sp>
        <p:nvSpPr>
          <p:cNvPr id="6" name="TextBox 5"/>
          <p:cNvSpPr txBox="1"/>
          <p:nvPr/>
        </p:nvSpPr>
        <p:spPr>
          <a:xfrm>
            <a:off x="658368" y="4480560"/>
            <a:ext cx="10874959" cy="1371600"/>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Capacity headroom: building one voice takes about 20 minutes of GPU time, so the remaining 9 KOLs could all be voiced in roughly 3 hours of compute — the limit is reviewing the output, not the hardware.</a:t>
            </a:r>
          </a:p>
          <a:p>
            <a:pPr algn="l">
              <a:lnSpc>
                <a:spcPct val="115000"/>
              </a:lnSpc>
            </a:pPr>
            <a:r>
              <a:rPr sz="1200" b="0" i="0">
                <a:solidFill>
                  <a:srgbClr val="666E78"/>
                </a:solidFill>
                <a:latin typeface="Segoe UI"/>
              </a:rPr>
              <a:t/>
            </a:r>
          </a:p>
          <a:p>
            <a:pPr algn="l">
              <a:lnSpc>
                <a:spcPct val="115000"/>
              </a:lnSpc>
            </a:pPr>
            <a:r>
              <a:rPr sz="1200" b="0" i="0">
                <a:solidFill>
                  <a:srgbClr val="666E78"/>
                </a:solidFill>
                <a:latin typeface="Segoe UI"/>
              </a:rPr>
              <a:t>The one real ceiling: image generation and the LLM brain cannot run at the same time as voice + avatar on a 12 GB card. They must be staged, or a 24 GB card would remove the constraint.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EVIDENCE</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How we know it actually works</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63040"/>
            <a:ext cx="10874959" cy="402336"/>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Rather than judging by ear, synthesized speech was transcribed back by a separate speech-recognition model and compared word-for-word to the input:</a:t>
            </a:r>
          </a:p>
        </p:txBody>
      </p:sp>
      <p:graphicFrame>
        <p:nvGraphicFramePr>
          <p:cNvPr id="6" name="Table 5"/>
          <p:cNvGraphicFramePr>
            <a:graphicFrameLocks noGrp="1"/>
          </p:cNvGraphicFramePr>
          <p:nvPr/>
        </p:nvGraphicFramePr>
        <p:xfrm>
          <a:off x="658368" y="1975104"/>
          <a:ext cx="10872216" cy="1371600"/>
        </p:xfrm>
        <a:graphic>
          <a:graphicData uri="http://schemas.openxmlformats.org/drawingml/2006/table">
            <a:tbl>
              <a:tblPr firstRow="1" bandRow="1">
                <a:tableStyleId>{5C22544A-7EE6-4342-B048-85BDC9FD1C3A}</a:tableStyleId>
              </a:tblPr>
              <a:tblGrid>
                <a:gridCol w="731520"/>
                <a:gridCol w="5029200"/>
                <a:gridCol w="5111496"/>
              </a:tblGrid>
              <a:tr h="457200">
                <a:tc>
                  <a:txBody>
                    <a:bodyPr/>
                    <a:lstStyle/>
                    <a:p>
                      <a:r>
                        <a:rPr sz="1100" b="1">
                          <a:solidFill>
                            <a:srgbClr val="FFFFFF"/>
                          </a:solidFill>
                          <a:latin typeface="Segoe UI"/>
                        </a:rPr>
                        <a:t>Lang</a:t>
                      </a:r>
                    </a:p>
                  </a:txBody>
                  <a:tcPr marL="82296" marR="64008" marT="27432" marB="27432" anchor="ctr">
                    <a:solidFill>
                      <a:srgbClr val="142244"/>
                    </a:solidFill>
                  </a:tcPr>
                </a:tc>
                <a:tc>
                  <a:txBody>
                    <a:bodyPr/>
                    <a:lstStyle/>
                    <a:p>
                      <a:r>
                        <a:rPr sz="1100" b="1">
                          <a:solidFill>
                            <a:srgbClr val="FFFFFF"/>
                          </a:solidFill>
                          <a:latin typeface="Segoe UI"/>
                        </a:rPr>
                        <a:t>Text we asked for</a:t>
                      </a:r>
                    </a:p>
                  </a:txBody>
                  <a:tcPr marL="82296" marR="64008" marT="27432" marB="27432" anchor="ctr">
                    <a:solidFill>
                      <a:srgbClr val="142244"/>
                    </a:solidFill>
                  </a:tcPr>
                </a:tc>
                <a:tc>
                  <a:txBody>
                    <a:bodyPr/>
                    <a:lstStyle/>
                    <a:p>
                      <a:r>
                        <a:rPr sz="1100" b="1">
                          <a:solidFill>
                            <a:srgbClr val="FFFFFF"/>
                          </a:solidFill>
                          <a:latin typeface="Segoe UI"/>
                        </a:rPr>
                        <a:t>Text the recognizer heard back</a:t>
                      </a:r>
                    </a:p>
                  </a:txBody>
                  <a:tcPr marL="82296" marR="64008" marT="27432" marB="27432" anchor="ctr">
                    <a:solidFill>
                      <a:srgbClr val="142244"/>
                    </a:solidFill>
                  </a:tcPr>
                </a:tc>
              </a:tr>
              <a:tr h="457200">
                <a:tc>
                  <a:txBody>
                    <a:bodyPr/>
                    <a:lstStyle/>
                    <a:p>
                      <a:r>
                        <a:rPr sz="1100" b="0">
                          <a:solidFill>
                            <a:srgbClr val="14171A"/>
                          </a:solidFill>
                          <a:latin typeface="Segoe UI"/>
                        </a:rPr>
                        <a:t>ZH</a:t>
                      </a:r>
                    </a:p>
                  </a:txBody>
                  <a:tcPr marL="82296" marR="64008" marT="27432" marB="27432" anchor="ctr">
                    <a:solidFill>
                      <a:srgbClr val="FFFFFF"/>
                    </a:solidFill>
                  </a:tcPr>
                </a:tc>
                <a:tc>
                  <a:txBody>
                    <a:bodyPr/>
                    <a:lstStyle/>
                    <a:p>
                      <a:r>
                        <a:rPr sz="1100" b="0">
                          <a:solidFill>
                            <a:srgbClr val="14171A"/>
                          </a:solidFill>
                          <a:latin typeface="Segoe UI"/>
                        </a:rPr>
                        <a:t>大家好，今天分享一個好物，這罐精華我用了三週。</a:t>
                      </a:r>
                    </a:p>
                  </a:txBody>
                  <a:tcPr marL="82296" marR="64008" marT="27432" marB="27432" anchor="ctr">
                    <a:solidFill>
                      <a:srgbClr val="FFFFFF"/>
                    </a:solidFill>
                  </a:tcPr>
                </a:tc>
                <a:tc>
                  <a:txBody>
                    <a:bodyPr/>
                    <a:lstStyle/>
                    <a:p>
                      <a:r>
                        <a:rPr sz="1100" b="0">
                          <a:solidFill>
                            <a:srgbClr val="14171A"/>
                          </a:solidFill>
                          <a:latin typeface="Segoe UI"/>
                        </a:rPr>
                        <a:t>大家好,今天分享一個好物這罐精華我用了三周</a:t>
                      </a:r>
                    </a:p>
                  </a:txBody>
                  <a:tcPr marL="82296" marR="64008" marT="27432" marB="27432" anchor="ctr">
                    <a:solidFill>
                      <a:srgbClr val="FFFFFF"/>
                    </a:solidFill>
                  </a:tcPr>
                </a:tc>
              </a:tr>
              <a:tr h="457200">
                <a:tc>
                  <a:txBody>
                    <a:bodyPr/>
                    <a:lstStyle/>
                    <a:p>
                      <a:r>
                        <a:rPr sz="1100" b="0">
                          <a:solidFill>
                            <a:srgbClr val="14171A"/>
                          </a:solidFill>
                          <a:latin typeface="Segoe UI"/>
                        </a:rPr>
                        <a:t>EN</a:t>
                      </a:r>
                    </a:p>
                  </a:txBody>
                  <a:tcPr marL="82296" marR="64008" marT="27432" marB="27432" anchor="ctr">
                    <a:solidFill>
                      <a:srgbClr val="F2F4F7"/>
                    </a:solidFill>
                  </a:tcPr>
                </a:tc>
                <a:tc>
                  <a:txBody>
                    <a:bodyPr/>
                    <a:lstStyle/>
                    <a:p>
                      <a:r>
                        <a:rPr sz="1100" b="0">
                          <a:solidFill>
                            <a:srgbClr val="14171A"/>
                          </a:solidFill>
                          <a:latin typeface="Segoe UI"/>
                        </a:rPr>
                        <a:t>Honestly, this is my favourite thing I have tried all month.</a:t>
                      </a:r>
                    </a:p>
                  </a:txBody>
                  <a:tcPr marL="82296" marR="64008" marT="27432" marB="27432" anchor="ctr">
                    <a:solidFill>
                      <a:srgbClr val="F2F4F7"/>
                    </a:solidFill>
                  </a:tcPr>
                </a:tc>
                <a:tc>
                  <a:txBody>
                    <a:bodyPr/>
                    <a:lstStyle/>
                    <a:p>
                      <a:r>
                        <a:rPr sz="1100" b="0">
                          <a:solidFill>
                            <a:srgbClr val="14171A"/>
                          </a:solidFill>
                          <a:latin typeface="Segoe UI"/>
                        </a:rPr>
                        <a:t>Honestly, this is my favorite thing I have tried all month.</a:t>
                      </a:r>
                    </a:p>
                  </a:txBody>
                  <a:tcPr marL="82296" marR="64008" marT="27432" marB="27432" anchor="ctr">
                    <a:solidFill>
                      <a:srgbClr val="F2F4F7"/>
                    </a:solidFill>
                  </a:tcPr>
                </a:tc>
              </a:tr>
            </a:tbl>
          </a:graphicData>
        </a:graphic>
      </p:graphicFrame>
      <p:sp>
        <p:nvSpPr>
          <p:cNvPr id="7" name="TextBox 6"/>
          <p:cNvSpPr txBox="1"/>
          <p:nvPr/>
        </p:nvSpPr>
        <p:spPr>
          <a:xfrm>
            <a:off x="658368" y="3529584"/>
            <a:ext cx="10874959" cy="402336"/>
          </a:xfrm>
          <a:prstGeom prst="rect">
            <a:avLst/>
          </a:prstGeom>
          <a:noFill/>
        </p:spPr>
        <p:txBody>
          <a:bodyPr wrap="square" anchor="t" lIns="0" rIns="0" tIns="0" bIns="0">
            <a:spAutoFit/>
          </a:bodyPr>
          <a:lstStyle/>
          <a:p>
            <a:pPr algn="l">
              <a:lnSpc>
                <a:spcPct val="115000"/>
              </a:lnSpc>
            </a:pPr>
            <a:r>
              <a:rPr sz="1150" b="0" i="1">
                <a:solidFill>
                  <a:srgbClr val="666E78"/>
                </a:solidFill>
                <a:latin typeface="Segoe UI"/>
              </a:rPr>
              <a:t>Word-for-word match. The only differences are punctuation and regional spelling introduced by the recognizer itself.</a:t>
            </a:r>
          </a:p>
        </p:txBody>
      </p:sp>
      <p:sp>
        <p:nvSpPr>
          <p:cNvPr id="8" name="Rounded Rectangle 7"/>
          <p:cNvSpPr/>
          <p:nvPr/>
        </p:nvSpPr>
        <p:spPr>
          <a:xfrm>
            <a:off x="658368" y="411480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4233672"/>
            <a:ext cx="2334691" cy="420624"/>
          </a:xfrm>
          <a:prstGeom prst="rect">
            <a:avLst/>
          </a:prstGeom>
          <a:noFill/>
        </p:spPr>
        <p:txBody>
          <a:bodyPr wrap="square" anchor="t" lIns="0" rIns="0" tIns="0" bIns="0">
            <a:spAutoFit/>
          </a:bodyPr>
          <a:lstStyle/>
          <a:p>
            <a:pPr algn="l">
              <a:lnSpc>
                <a:spcPct val="115000"/>
              </a:lnSpc>
            </a:pPr>
            <a:r>
              <a:rPr sz="2600" b="1" i="0">
                <a:solidFill>
                  <a:srgbClr val="0F8A4C"/>
                </a:solidFill>
                <a:latin typeface="Segoe UI"/>
              </a:rPr>
              <a:t>707 ms</a:t>
            </a:r>
          </a:p>
        </p:txBody>
      </p:sp>
      <p:sp>
        <p:nvSpPr>
          <p:cNvPr id="10" name="TextBox 9"/>
          <p:cNvSpPr txBox="1"/>
          <p:nvPr/>
        </p:nvSpPr>
        <p:spPr>
          <a:xfrm>
            <a:off x="804672" y="468172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to first audio — realtime viable</a:t>
            </a:r>
          </a:p>
        </p:txBody>
      </p:sp>
      <p:sp>
        <p:nvSpPr>
          <p:cNvPr id="11" name="Rounded Rectangle 10"/>
          <p:cNvSpPr/>
          <p:nvPr/>
        </p:nvSpPr>
        <p:spPr>
          <a:xfrm>
            <a:off x="3413683" y="411480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59987" y="4233672"/>
            <a:ext cx="2334691" cy="420624"/>
          </a:xfrm>
          <a:prstGeom prst="rect">
            <a:avLst/>
          </a:prstGeom>
          <a:noFill/>
        </p:spPr>
        <p:txBody>
          <a:bodyPr wrap="square" anchor="t" lIns="0" rIns="0" tIns="0" bIns="0">
            <a:spAutoFit/>
          </a:bodyPr>
          <a:lstStyle/>
          <a:p>
            <a:pPr algn="l">
              <a:lnSpc>
                <a:spcPct val="115000"/>
              </a:lnSpc>
            </a:pPr>
            <a:r>
              <a:rPr sz="2600" b="1" i="0">
                <a:solidFill>
                  <a:srgbClr val="0F8A4C"/>
                </a:solidFill>
                <a:latin typeface="Segoe UI"/>
              </a:rPr>
              <a:t>in sync</a:t>
            </a:r>
          </a:p>
        </p:txBody>
      </p:sp>
      <p:sp>
        <p:nvSpPr>
          <p:cNvPr id="13" name="TextBox 12"/>
          <p:cNvSpPr txBox="1"/>
          <p:nvPr/>
        </p:nvSpPr>
        <p:spPr>
          <a:xfrm>
            <a:off x="3559987" y="468172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video 5.967 s vs audio 5.940 s</a:t>
            </a:r>
          </a:p>
        </p:txBody>
      </p:sp>
      <p:sp>
        <p:nvSpPr>
          <p:cNvPr id="14" name="Rounded Rectangle 13"/>
          <p:cNvSpPr/>
          <p:nvPr/>
        </p:nvSpPr>
        <p:spPr>
          <a:xfrm>
            <a:off x="6168998" y="411480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15302" y="4233672"/>
            <a:ext cx="2334691" cy="420624"/>
          </a:xfrm>
          <a:prstGeom prst="rect">
            <a:avLst/>
          </a:prstGeom>
          <a:noFill/>
        </p:spPr>
        <p:txBody>
          <a:bodyPr wrap="square" anchor="t" lIns="0" rIns="0" tIns="0" bIns="0">
            <a:spAutoFit/>
          </a:bodyPr>
          <a:lstStyle/>
          <a:p>
            <a:pPr algn="l">
              <a:lnSpc>
                <a:spcPct val="115000"/>
              </a:lnSpc>
            </a:pPr>
            <a:r>
              <a:rPr sz="2600" b="1" i="0">
                <a:solidFill>
                  <a:srgbClr val="142244"/>
                </a:solidFill>
                <a:latin typeface="Segoe UI"/>
              </a:rPr>
              <a:t>28.7 min</a:t>
            </a:r>
          </a:p>
        </p:txBody>
      </p:sp>
      <p:sp>
        <p:nvSpPr>
          <p:cNvPr id="16" name="TextBox 15"/>
          <p:cNvSpPr txBox="1"/>
          <p:nvPr/>
        </p:nvSpPr>
        <p:spPr>
          <a:xfrm>
            <a:off x="6315302" y="468172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training data, 100% accepted</a:t>
            </a:r>
          </a:p>
        </p:txBody>
      </p:sp>
      <p:sp>
        <p:nvSpPr>
          <p:cNvPr id="17" name="Rounded Rectangle 16"/>
          <p:cNvSpPr/>
          <p:nvPr/>
        </p:nvSpPr>
        <p:spPr>
          <a:xfrm>
            <a:off x="8924313" y="4114800"/>
            <a:ext cx="2609011" cy="932688"/>
          </a:xfrm>
          <a:prstGeom prst="roundRect">
            <a:avLst>
              <a:gd name="adj" fmla="val 6000"/>
            </a:avLst>
          </a:prstGeom>
          <a:solidFill>
            <a:srgbClr val="F2F4F7"/>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70617" y="4233672"/>
            <a:ext cx="2334691" cy="420624"/>
          </a:xfrm>
          <a:prstGeom prst="rect">
            <a:avLst/>
          </a:prstGeom>
          <a:noFill/>
        </p:spPr>
        <p:txBody>
          <a:bodyPr wrap="square" anchor="t" lIns="0" rIns="0" tIns="0" bIns="0">
            <a:spAutoFit/>
          </a:bodyPr>
          <a:lstStyle/>
          <a:p>
            <a:pPr algn="l">
              <a:lnSpc>
                <a:spcPct val="115000"/>
              </a:lnSpc>
            </a:pPr>
            <a:r>
              <a:rPr sz="2600" b="1" i="0">
                <a:solidFill>
                  <a:srgbClr val="0F8A4C"/>
                </a:solidFill>
                <a:latin typeface="Segoe UI"/>
              </a:rPr>
              <a:t>5.3 / 12 GB</a:t>
            </a:r>
          </a:p>
        </p:txBody>
      </p:sp>
      <p:sp>
        <p:nvSpPr>
          <p:cNvPr id="19" name="TextBox 18"/>
          <p:cNvSpPr txBox="1"/>
          <p:nvPr/>
        </p:nvSpPr>
        <p:spPr>
          <a:xfrm>
            <a:off x="9070617" y="4681728"/>
            <a:ext cx="2334691" cy="274320"/>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VRAM used by both services</a:t>
            </a:r>
          </a:p>
        </p:txBody>
      </p:sp>
      <p:sp>
        <p:nvSpPr>
          <p:cNvPr id="20" name="TextBox 19"/>
          <p:cNvSpPr txBox="1"/>
          <p:nvPr/>
        </p:nvSpPr>
        <p:spPr>
          <a:xfrm>
            <a:off x="658368" y="5358384"/>
            <a:ext cx="10874959" cy="731520"/>
          </a:xfrm>
          <a:prstGeom prst="rect">
            <a:avLst/>
          </a:prstGeom>
          <a:noFill/>
        </p:spPr>
        <p:txBody>
          <a:bodyPr wrap="square" anchor="t" lIns="0" rIns="0" tIns="0" bIns="0">
            <a:spAutoFit/>
          </a:bodyPr>
          <a:lstStyle/>
          <a:p>
            <a:pPr algn="l">
              <a:lnSpc>
                <a:spcPct val="115000"/>
              </a:lnSpc>
            </a:pPr>
            <a:r>
              <a:rPr sz="1150" b="0" i="0">
                <a:solidFill>
                  <a:srgbClr val="666E78"/>
                </a:solidFill>
                <a:latin typeface="Segoe UI"/>
              </a:rPr>
              <a:t>A quality gate rejects bad training clips automatically. It proved its value during development by catching mislabelled audio that would have silently degraded the voice — the kind of fault that is very hard to diagnose after 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COST — OPERATING</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Marginal cost of running this is near zero</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517904"/>
          <a:ext cx="10881360" cy="3200400"/>
        </p:xfrm>
        <a:graphic>
          <a:graphicData uri="http://schemas.openxmlformats.org/drawingml/2006/table">
            <a:tbl>
              <a:tblPr firstRow="1" bandRow="1">
                <a:tableStyleId>{5C22544A-7EE6-4342-B048-85BDC9FD1C3A}</a:tableStyleId>
              </a:tblPr>
              <a:tblGrid>
                <a:gridCol w="3840480"/>
                <a:gridCol w="5212080"/>
                <a:gridCol w="1828800"/>
              </a:tblGrid>
              <a:tr h="457200">
                <a:tc>
                  <a:txBody>
                    <a:bodyPr/>
                    <a:lstStyle/>
                    <a:p>
                      <a:r>
                        <a:rPr sz="1150" b="1">
                          <a:solidFill>
                            <a:srgbClr val="FFFFFF"/>
                          </a:solidFill>
                          <a:latin typeface="Segoe UI"/>
                        </a:rPr>
                        <a:t>Item</a:t>
                      </a:r>
                    </a:p>
                  </a:txBody>
                  <a:tcPr marL="82296" marR="64008" marT="27432" marB="27432" anchor="ctr">
                    <a:solidFill>
                      <a:srgbClr val="142244"/>
                    </a:solidFill>
                  </a:tcPr>
                </a:tc>
                <a:tc>
                  <a:txBody>
                    <a:bodyPr/>
                    <a:lstStyle/>
                    <a:p>
                      <a:r>
                        <a:rPr sz="1150" b="1">
                          <a:solidFill>
                            <a:srgbClr val="FFFFFF"/>
                          </a:solidFill>
                          <a:latin typeface="Segoe UI"/>
                        </a:rPr>
                        <a:t>Basis</a:t>
                      </a:r>
                    </a:p>
                  </a:txBody>
                  <a:tcPr marL="82296" marR="64008" marT="27432" marB="27432" anchor="ctr">
                    <a:solidFill>
                      <a:srgbClr val="142244"/>
                    </a:solidFill>
                  </a:tcPr>
                </a:tc>
                <a:tc>
                  <a:txBody>
                    <a:bodyPr/>
                    <a:lstStyle/>
                    <a:p>
                      <a:r>
                        <a:rPr sz="1150" b="1">
                          <a:solidFill>
                            <a:srgbClr val="FFFFFF"/>
                          </a:solidFill>
                          <a:latin typeface="Segoe UI"/>
                        </a:rPr>
                        <a:t>Cost</a:t>
                      </a:r>
                    </a:p>
                  </a:txBody>
                  <a:tcPr marL="82296" marR="64008" marT="27432" marB="27432" anchor="ctr">
                    <a:solidFill>
                      <a:srgbClr val="142244"/>
                    </a:solidFill>
                  </a:tcPr>
                </a:tc>
              </a:tr>
              <a:tr h="457200">
                <a:tc>
                  <a:txBody>
                    <a:bodyPr/>
                    <a:lstStyle/>
                    <a:p>
                      <a:r>
                        <a:rPr sz="1150" b="0">
                          <a:solidFill>
                            <a:srgbClr val="14171A"/>
                          </a:solidFill>
                          <a:latin typeface="Segoe UI"/>
                        </a:rPr>
                        <a:t>Build one KOL voice</a:t>
                      </a:r>
                    </a:p>
                  </a:txBody>
                  <a:tcPr marL="82296" marR="64008" marT="27432" marB="27432" anchor="ctr">
                    <a:solidFill>
                      <a:srgbClr val="FFFFFF"/>
                    </a:solidFill>
                  </a:tcPr>
                </a:tc>
                <a:tc>
                  <a:txBody>
                    <a:bodyPr/>
                    <a:lstStyle/>
                    <a:p>
                      <a:r>
                        <a:rPr sz="1150" b="0">
                          <a:solidFill>
                            <a:srgbClr val="14171A"/>
                          </a:solidFill>
                          <a:latin typeface="Segoe UI"/>
                        </a:rPr>
                        <a:t>20 min GPU @ 100 W = 0.03 kWh</a:t>
                      </a:r>
                    </a:p>
                  </a:txBody>
                  <a:tcPr marL="82296" marR="64008" marT="27432" marB="27432" anchor="ctr">
                    <a:solidFill>
                      <a:srgbClr val="FFFFFF"/>
                    </a:solidFill>
                  </a:tcPr>
                </a:tc>
                <a:tc>
                  <a:txBody>
                    <a:bodyPr/>
                    <a:lstStyle/>
                    <a:p>
                      <a:r>
                        <a:rPr sz="1150" b="0">
                          <a:solidFill>
                            <a:srgbClr val="0F8A4C"/>
                          </a:solidFill>
                          <a:latin typeface="Segoe UI"/>
                        </a:rPr>
                        <a:t>NT$0.13</a:t>
                      </a:r>
                    </a:p>
                  </a:txBody>
                  <a:tcPr marL="82296" marR="64008" marT="27432" marB="27432" anchor="ctr">
                    <a:solidFill>
                      <a:srgbClr val="FFFFFF"/>
                    </a:solidFill>
                  </a:tcPr>
                </a:tc>
              </a:tr>
              <a:tr h="457200">
                <a:tc>
                  <a:txBody>
                    <a:bodyPr/>
                    <a:lstStyle/>
                    <a:p>
                      <a:r>
                        <a:rPr sz="1150" b="0">
                          <a:solidFill>
                            <a:srgbClr val="14171A"/>
                          </a:solidFill>
                          <a:latin typeface="Segoe UI"/>
                        </a:rPr>
                        <a:t>Run voice + avatar, per month</a:t>
                      </a:r>
                    </a:p>
                  </a:txBody>
                  <a:tcPr marL="82296" marR="64008" marT="27432" marB="27432" anchor="ctr">
                    <a:solidFill>
                      <a:srgbClr val="F2F4F7"/>
                    </a:solidFill>
                  </a:tcPr>
                </a:tc>
                <a:tc>
                  <a:txBody>
                    <a:bodyPr/>
                    <a:lstStyle/>
                    <a:p>
                      <a:r>
                        <a:rPr sz="1150" b="0">
                          <a:solidFill>
                            <a:srgbClr val="14171A"/>
                          </a:solidFill>
                          <a:latin typeface="Segoe UI"/>
                        </a:rPr>
                        <a:t>13 W × 8 h/day × 30 = 3.1 kWh</a:t>
                      </a:r>
                    </a:p>
                  </a:txBody>
                  <a:tcPr marL="82296" marR="64008" marT="27432" marB="27432" anchor="ctr">
                    <a:solidFill>
                      <a:srgbClr val="F2F4F7"/>
                    </a:solidFill>
                  </a:tcPr>
                </a:tc>
                <a:tc>
                  <a:txBody>
                    <a:bodyPr/>
                    <a:lstStyle/>
                    <a:p>
                      <a:r>
                        <a:rPr sz="1150" b="0">
                          <a:solidFill>
                            <a:srgbClr val="0F8A4C"/>
                          </a:solidFill>
                          <a:latin typeface="Segoe UI"/>
                        </a:rPr>
                        <a:t>NT$12</a:t>
                      </a:r>
                    </a:p>
                  </a:txBody>
                  <a:tcPr marL="82296" marR="64008" marT="27432" marB="27432" anchor="ctr">
                    <a:solidFill>
                      <a:srgbClr val="F2F4F7"/>
                    </a:solidFill>
                  </a:tcPr>
                </a:tc>
              </a:tr>
              <a:tr h="457200">
                <a:tc>
                  <a:txBody>
                    <a:bodyPr/>
                    <a:lstStyle/>
                    <a:p>
                      <a:r>
                        <a:rPr sz="1150" b="0">
                          <a:solidFill>
                            <a:srgbClr val="14171A"/>
                          </a:solidFill>
                          <a:latin typeface="Segoe UI"/>
                        </a:rPr>
                        <a:t>GPU amortisation, per month</a:t>
                      </a:r>
                    </a:p>
                  </a:txBody>
                  <a:tcPr marL="82296" marR="64008" marT="27432" marB="27432" anchor="ctr">
                    <a:solidFill>
                      <a:srgbClr val="FFFFFF"/>
                    </a:solidFill>
                  </a:tcPr>
                </a:tc>
                <a:tc>
                  <a:txBody>
                    <a:bodyPr/>
                    <a:lstStyle/>
                    <a:p>
                      <a:r>
                        <a:rPr sz="1150" b="0">
                          <a:solidFill>
                            <a:srgbClr val="14171A"/>
                          </a:solidFill>
                          <a:latin typeface="Segoe UI"/>
                        </a:rPr>
                        <a:t>NT$20,000 ÷ 36 months</a:t>
                      </a:r>
                    </a:p>
                  </a:txBody>
                  <a:tcPr marL="82296" marR="64008" marT="27432" marB="27432" anchor="ctr">
                    <a:solidFill>
                      <a:srgbClr val="FFFFFF"/>
                    </a:solidFill>
                  </a:tcPr>
                </a:tc>
                <a:tc>
                  <a:txBody>
                    <a:bodyPr/>
                    <a:lstStyle/>
                    <a:p>
                      <a:r>
                        <a:rPr sz="1150" b="0">
                          <a:solidFill>
                            <a:srgbClr val="14171A"/>
                          </a:solidFill>
                          <a:latin typeface="Segoe UI"/>
                        </a:rPr>
                        <a:t>NT$556</a:t>
                      </a:r>
                    </a:p>
                  </a:txBody>
                  <a:tcPr marL="82296" marR="64008" marT="27432" marB="27432" anchor="ctr">
                    <a:solidFill>
                      <a:srgbClr val="FFFFFF"/>
                    </a:solidFill>
                  </a:tcPr>
                </a:tc>
              </a:tr>
              <a:tr h="457200">
                <a:tc>
                  <a:txBody>
                    <a:bodyPr/>
                    <a:lstStyle/>
                    <a:p>
                      <a:r>
                        <a:rPr sz="1150" b="0">
                          <a:solidFill>
                            <a:srgbClr val="14171A"/>
                          </a:solidFill>
                          <a:latin typeface="Segoe UI"/>
                        </a:rPr>
                        <a:t>Software licences</a:t>
                      </a:r>
                    </a:p>
                  </a:txBody>
                  <a:tcPr marL="82296" marR="64008" marT="27432" marB="27432" anchor="ctr">
                    <a:solidFill>
                      <a:srgbClr val="F2F4F7"/>
                    </a:solidFill>
                  </a:tcPr>
                </a:tc>
                <a:tc>
                  <a:txBody>
                    <a:bodyPr/>
                    <a:lstStyle/>
                    <a:p>
                      <a:r>
                        <a:rPr sz="1150" b="0">
                          <a:solidFill>
                            <a:srgbClr val="14171A"/>
                          </a:solidFill>
                          <a:latin typeface="Segoe UI"/>
                        </a:rPr>
                        <a:t>All open-source / free</a:t>
                      </a:r>
                    </a:p>
                  </a:txBody>
                  <a:tcPr marL="82296" marR="64008" marT="27432" marB="27432" anchor="ctr">
                    <a:solidFill>
                      <a:srgbClr val="F2F4F7"/>
                    </a:solidFill>
                  </a:tcPr>
                </a:tc>
                <a:tc>
                  <a:txBody>
                    <a:bodyPr/>
                    <a:lstStyle/>
                    <a:p>
                      <a:r>
                        <a:rPr sz="1150" b="0">
                          <a:solidFill>
                            <a:srgbClr val="0F8A4C"/>
                          </a:solidFill>
                          <a:latin typeface="Segoe UI"/>
                        </a:rPr>
                        <a:t>NT$0</a:t>
                      </a:r>
                    </a:p>
                  </a:txBody>
                  <a:tcPr marL="82296" marR="64008" marT="27432" marB="27432" anchor="ctr">
                    <a:solidFill>
                      <a:srgbClr val="F2F4F7"/>
                    </a:solidFill>
                  </a:tcPr>
                </a:tc>
              </a:tr>
              <a:tr h="457200">
                <a:tc>
                  <a:txBody>
                    <a:bodyPr/>
                    <a:lstStyle/>
                    <a:p>
                      <a:r>
                        <a:rPr sz="1150" b="0">
                          <a:solidFill>
                            <a:srgbClr val="14171A"/>
                          </a:solidFill>
                          <a:latin typeface="Segoe UI"/>
                        </a:rPr>
                        <a:t>Cloud &amp; API fees</a:t>
                      </a:r>
                    </a:p>
                  </a:txBody>
                  <a:tcPr marL="82296" marR="64008" marT="27432" marB="27432" anchor="ctr">
                    <a:solidFill>
                      <a:srgbClr val="FFFFFF"/>
                    </a:solidFill>
                  </a:tcPr>
                </a:tc>
                <a:tc>
                  <a:txBody>
                    <a:bodyPr/>
                    <a:lstStyle/>
                    <a:p>
                      <a:r>
                        <a:rPr sz="1150" b="0">
                          <a:solidFill>
                            <a:srgbClr val="14171A"/>
                          </a:solidFill>
                          <a:latin typeface="Segoe UI"/>
                        </a:rPr>
                        <a:t>Nothing leaves the machine</a:t>
                      </a:r>
                    </a:p>
                  </a:txBody>
                  <a:tcPr marL="82296" marR="64008" marT="27432" marB="27432" anchor="ctr">
                    <a:solidFill>
                      <a:srgbClr val="FFFFFF"/>
                    </a:solidFill>
                  </a:tcPr>
                </a:tc>
                <a:tc>
                  <a:txBody>
                    <a:bodyPr/>
                    <a:lstStyle/>
                    <a:p>
                      <a:r>
                        <a:rPr sz="1150" b="0">
                          <a:solidFill>
                            <a:srgbClr val="0F8A4C"/>
                          </a:solidFill>
                          <a:latin typeface="Segoe UI"/>
                        </a:rPr>
                        <a:t>NT$0</a:t>
                      </a:r>
                    </a:p>
                  </a:txBody>
                  <a:tcPr marL="82296" marR="64008" marT="27432" marB="27432" anchor="ctr">
                    <a:solidFill>
                      <a:srgbClr val="FFFFFF"/>
                    </a:solidFill>
                  </a:tcPr>
                </a:tc>
              </a:tr>
              <a:tr h="457200">
                <a:tc>
                  <a:txBody>
                    <a:bodyPr/>
                    <a:lstStyle/>
                    <a:p>
                      <a:r>
                        <a:rPr sz="1150" b="0">
                          <a:solidFill>
                            <a:srgbClr val="14171A"/>
                          </a:solidFill>
                          <a:latin typeface="Segoe UI"/>
                        </a:rPr>
                        <a:t>Total recurring, per month</a:t>
                      </a:r>
                    </a:p>
                  </a:txBody>
                  <a:tcPr marL="82296" marR="64008" marT="27432" marB="27432" anchor="ctr">
                    <a:solidFill>
                      <a:srgbClr val="F2F4F7"/>
                    </a:solidFill>
                  </a:tcPr>
                </a:tc>
                <a:tc>
                  <a:txBody>
                    <a:bodyPr/>
                    <a:lstStyle/>
                    <a:p>
                      <a:r>
                        <a:rPr sz="1150" b="0">
                          <a:solidFill>
                            <a:srgbClr val="14171A"/>
                          </a:solidFill>
                          <a:latin typeface="Segoe UI"/>
                        </a:rPr>
                        <a:t>hardware + electricity</a:t>
                      </a:r>
                    </a:p>
                  </a:txBody>
                  <a:tcPr marL="82296" marR="64008" marT="27432" marB="27432" anchor="ctr">
                    <a:solidFill>
                      <a:srgbClr val="F2F4F7"/>
                    </a:solidFill>
                  </a:tcPr>
                </a:tc>
                <a:tc>
                  <a:txBody>
                    <a:bodyPr/>
                    <a:lstStyle/>
                    <a:p>
                      <a:r>
                        <a:rPr sz="1150" b="0">
                          <a:solidFill>
                            <a:srgbClr val="142244"/>
                          </a:solidFill>
                          <a:latin typeface="Segoe UI"/>
                        </a:rPr>
                        <a:t>NT$568</a:t>
                      </a:r>
                    </a:p>
                  </a:txBody>
                  <a:tcPr marL="82296" marR="64008" marT="27432" marB="27432" anchor="ctr">
                    <a:solidFill>
                      <a:srgbClr val="F2F4F7"/>
                    </a:solidFill>
                  </a:tcPr>
                </a:tc>
              </a:tr>
            </a:tbl>
          </a:graphicData>
        </a:graphic>
      </p:graphicFrame>
      <p:sp>
        <p:nvSpPr>
          <p:cNvPr id="6" name="TextBox 5"/>
          <p:cNvSpPr txBox="1"/>
          <p:nvPr/>
        </p:nvSpPr>
        <p:spPr>
          <a:xfrm>
            <a:off x="658368" y="4480560"/>
            <a:ext cx="10874959" cy="1463040"/>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Assumptions (adjustable): electricity NT$4.00/kWh; GPU NT$20,000 over 36 months; serving 8 h/day. Power figures are measured on this machine, not estimated.</a:t>
            </a:r>
          </a:p>
          <a:p>
            <a:pPr algn="l">
              <a:lnSpc>
                <a:spcPct val="115000"/>
              </a:lnSpc>
            </a:pPr>
            <a:r>
              <a:rPr sz="1200" b="0" i="0">
                <a:solidFill>
                  <a:srgbClr val="666E78"/>
                </a:solidFill>
                <a:latin typeface="Segoe UI"/>
              </a:rPr>
              <a:t/>
            </a:r>
          </a:p>
          <a:p>
            <a:pPr algn="l">
              <a:lnSpc>
                <a:spcPct val="115000"/>
              </a:lnSpc>
            </a:pPr>
            <a:r>
              <a:rPr sz="1200" b="0" i="0">
                <a:solidFill>
                  <a:srgbClr val="666E78"/>
                </a:solidFill>
                <a:latin typeface="Segoe UI"/>
              </a:rPr>
              <a:t>The headline: once built, each additional KOL voice costs a few cents of electricity. Cost scales with our time, not with usage — the opposite of a per-minute API.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COST — TOTAL PROJECT</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Where the money actually goes: people, not compute</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517904"/>
          <a:ext cx="10881360" cy="2743200"/>
        </p:xfrm>
        <a:graphic>
          <a:graphicData uri="http://schemas.openxmlformats.org/drawingml/2006/table">
            <a:tbl>
              <a:tblPr firstRow="1" bandRow="1">
                <a:tableStyleId>{5C22544A-7EE6-4342-B048-85BDC9FD1C3A}</a:tableStyleId>
              </a:tblPr>
              <a:tblGrid>
                <a:gridCol w="4206240"/>
                <a:gridCol w="4846320"/>
                <a:gridCol w="1828800"/>
              </a:tblGrid>
              <a:tr h="457200">
                <a:tc>
                  <a:txBody>
                    <a:bodyPr/>
                    <a:lstStyle/>
                    <a:p>
                      <a:r>
                        <a:rPr sz="1150" b="1">
                          <a:solidFill>
                            <a:srgbClr val="FFFFFF"/>
                          </a:solidFill>
                          <a:latin typeface="Segoe UI"/>
                        </a:rPr>
                        <a:t>Cost line</a:t>
                      </a:r>
                    </a:p>
                  </a:txBody>
                  <a:tcPr marL="82296" marR="64008" marT="27432" marB="27432" anchor="ctr">
                    <a:solidFill>
                      <a:srgbClr val="142244"/>
                    </a:solidFill>
                  </a:tcPr>
                </a:tc>
                <a:tc>
                  <a:txBody>
                    <a:bodyPr/>
                    <a:lstStyle/>
                    <a:p>
                      <a:r>
                        <a:rPr sz="1150" b="1">
                          <a:solidFill>
                            <a:srgbClr val="FFFFFF"/>
                          </a:solidFill>
                          <a:latin typeface="Segoe UI"/>
                        </a:rPr>
                        <a:t>Quantity</a:t>
                      </a:r>
                    </a:p>
                  </a:txBody>
                  <a:tcPr marL="82296" marR="64008" marT="27432" marB="27432" anchor="ctr">
                    <a:solidFill>
                      <a:srgbClr val="142244"/>
                    </a:solidFill>
                  </a:tcPr>
                </a:tc>
                <a:tc>
                  <a:txBody>
                    <a:bodyPr/>
                    <a:lstStyle/>
                    <a:p>
                      <a:r>
                        <a:rPr sz="1150" b="1">
                          <a:solidFill>
                            <a:srgbClr val="FFFFFF"/>
                          </a:solidFill>
                          <a:latin typeface="Segoe UI"/>
                        </a:rPr>
                        <a:t>Amount</a:t>
                      </a:r>
                    </a:p>
                  </a:txBody>
                  <a:tcPr marL="82296" marR="64008" marT="27432" marB="27432" anchor="ctr">
                    <a:solidFill>
                      <a:srgbClr val="142244"/>
                    </a:solidFill>
                  </a:tcPr>
                </a:tc>
              </a:tr>
              <a:tr h="457200">
                <a:tc>
                  <a:txBody>
                    <a:bodyPr/>
                    <a:lstStyle/>
                    <a:p>
                      <a:r>
                        <a:rPr sz="1150" b="0">
                          <a:solidFill>
                            <a:srgbClr val="14171A"/>
                          </a:solidFill>
                          <a:latin typeface="Segoe UI"/>
                        </a:rPr>
                        <a:t>Intern time, per week</a:t>
                      </a:r>
                    </a:p>
                  </a:txBody>
                  <a:tcPr marL="82296" marR="64008" marT="27432" marB="27432" anchor="ctr">
                    <a:solidFill>
                      <a:srgbClr val="FFFFFF"/>
                    </a:solidFill>
                  </a:tcPr>
                </a:tc>
                <a:tc>
                  <a:txBody>
                    <a:bodyPr/>
                    <a:lstStyle/>
                    <a:p>
                      <a:r>
                        <a:rPr sz="1150" b="0">
                          <a:solidFill>
                            <a:srgbClr val="14171A"/>
                          </a:solidFill>
                          <a:latin typeface="Segoe UI"/>
                        </a:rPr>
                        <a:t>4 h/day × 5 days @ NT$200/h</a:t>
                      </a:r>
                    </a:p>
                  </a:txBody>
                  <a:tcPr marL="82296" marR="64008" marT="27432" marB="27432" anchor="ctr">
                    <a:solidFill>
                      <a:srgbClr val="FFFFFF"/>
                    </a:solidFill>
                  </a:tcPr>
                </a:tc>
                <a:tc>
                  <a:txBody>
                    <a:bodyPr/>
                    <a:lstStyle/>
                    <a:p>
                      <a:r>
                        <a:rPr sz="1150" b="0">
                          <a:solidFill>
                            <a:srgbClr val="14171A"/>
                          </a:solidFill>
                          <a:latin typeface="Segoe UI"/>
                        </a:rPr>
                        <a:t>NT$4,000</a:t>
                      </a:r>
                    </a:p>
                  </a:txBody>
                  <a:tcPr marL="82296" marR="64008" marT="27432" marB="27432" anchor="ctr">
                    <a:solidFill>
                      <a:srgbClr val="FFFFFF"/>
                    </a:solidFill>
                  </a:tcPr>
                </a:tc>
              </a:tr>
              <a:tr h="457200">
                <a:tc>
                  <a:txBody>
                    <a:bodyPr/>
                    <a:lstStyle/>
                    <a:p>
                      <a:r>
                        <a:rPr sz="1150" b="0">
                          <a:solidFill>
                            <a:srgbClr val="14171A"/>
                          </a:solidFill>
                          <a:latin typeface="Segoe UI"/>
                        </a:rPr>
                        <a:t>Hardware (one-off, already owned)</a:t>
                      </a:r>
                    </a:p>
                  </a:txBody>
                  <a:tcPr marL="82296" marR="64008" marT="27432" marB="27432" anchor="ctr">
                    <a:solidFill>
                      <a:srgbClr val="F2F4F7"/>
                    </a:solidFill>
                  </a:tcPr>
                </a:tc>
                <a:tc>
                  <a:txBody>
                    <a:bodyPr/>
                    <a:lstStyle/>
                    <a:p>
                      <a:r>
                        <a:rPr sz="1150" b="0">
                          <a:solidFill>
                            <a:srgbClr val="14171A"/>
                          </a:solidFill>
                          <a:latin typeface="Segoe UI"/>
                        </a:rPr>
                        <a:t>RTX 5070 12 GB workstation</a:t>
                      </a:r>
                    </a:p>
                  </a:txBody>
                  <a:tcPr marL="82296" marR="64008" marT="27432" marB="27432" anchor="ctr">
                    <a:solidFill>
                      <a:srgbClr val="F2F4F7"/>
                    </a:solidFill>
                  </a:tcPr>
                </a:tc>
                <a:tc>
                  <a:txBody>
                    <a:bodyPr/>
                    <a:lstStyle/>
                    <a:p>
                      <a:r>
                        <a:rPr sz="1150" b="0">
                          <a:solidFill>
                            <a:srgbClr val="14171A"/>
                          </a:solidFill>
                          <a:latin typeface="Segoe UI"/>
                        </a:rPr>
                        <a:t>NT$20,000</a:t>
                      </a:r>
                    </a:p>
                  </a:txBody>
                  <a:tcPr marL="82296" marR="64008" marT="27432" marB="27432" anchor="ctr">
                    <a:solidFill>
                      <a:srgbClr val="F2F4F7"/>
                    </a:solidFill>
                  </a:tcPr>
                </a:tc>
              </a:tr>
              <a:tr h="457200">
                <a:tc>
                  <a:txBody>
                    <a:bodyPr/>
                    <a:lstStyle/>
                    <a:p>
                      <a:r>
                        <a:rPr sz="1150" b="0">
                          <a:solidFill>
                            <a:srgbClr val="14171A"/>
                          </a:solidFill>
                          <a:latin typeface="Segoe UI"/>
                        </a:rPr>
                        <a:t>Electricity to date</a:t>
                      </a:r>
                    </a:p>
                  </a:txBody>
                  <a:tcPr marL="82296" marR="64008" marT="27432" marB="27432" anchor="ctr">
                    <a:solidFill>
                      <a:srgbClr val="FFFFFF"/>
                    </a:solidFill>
                  </a:tcPr>
                </a:tc>
                <a:tc>
                  <a:txBody>
                    <a:bodyPr/>
                    <a:lstStyle/>
                    <a:p>
                      <a:r>
                        <a:rPr sz="1150" b="0">
                          <a:solidFill>
                            <a:srgbClr val="14171A"/>
                          </a:solidFill>
                          <a:latin typeface="Segoe UI"/>
                        </a:rPr>
                        <a:t>~16 h development @ ~180 W workstation</a:t>
                      </a:r>
                    </a:p>
                  </a:txBody>
                  <a:tcPr marL="82296" marR="64008" marT="27432" marB="27432" anchor="ctr">
                    <a:solidFill>
                      <a:srgbClr val="FFFFFF"/>
                    </a:solidFill>
                  </a:tcPr>
                </a:tc>
                <a:tc>
                  <a:txBody>
                    <a:bodyPr/>
                    <a:lstStyle/>
                    <a:p>
                      <a:r>
                        <a:rPr sz="1150" b="0">
                          <a:solidFill>
                            <a:srgbClr val="14171A"/>
                          </a:solidFill>
                          <a:latin typeface="Segoe UI"/>
                        </a:rPr>
                        <a:t>NT$12</a:t>
                      </a:r>
                    </a:p>
                  </a:txBody>
                  <a:tcPr marL="82296" marR="64008" marT="27432" marB="27432" anchor="ctr">
                    <a:solidFill>
                      <a:srgbClr val="FFFFFF"/>
                    </a:solidFill>
                  </a:tcPr>
                </a:tc>
              </a:tr>
              <a:tr h="457200">
                <a:tc>
                  <a:txBody>
                    <a:bodyPr/>
                    <a:lstStyle/>
                    <a:p>
                      <a:r>
                        <a:rPr sz="1150" b="0">
                          <a:solidFill>
                            <a:srgbClr val="14171A"/>
                          </a:solidFill>
                          <a:latin typeface="Segoe UI"/>
                        </a:rPr>
                        <a:t>Software / models / data</a:t>
                      </a:r>
                    </a:p>
                  </a:txBody>
                  <a:tcPr marL="82296" marR="64008" marT="27432" marB="27432" anchor="ctr">
                    <a:solidFill>
                      <a:srgbClr val="F2F4F7"/>
                    </a:solidFill>
                  </a:tcPr>
                </a:tc>
                <a:tc>
                  <a:txBody>
                    <a:bodyPr/>
                    <a:lstStyle/>
                    <a:p>
                      <a:r>
                        <a:rPr sz="1150" b="0">
                          <a:solidFill>
                            <a:srgbClr val="14171A"/>
                          </a:solidFill>
                          <a:latin typeface="Segoe UI"/>
                        </a:rPr>
                        <a:t>open-source, self-generated</a:t>
                      </a:r>
                    </a:p>
                  </a:txBody>
                  <a:tcPr marL="82296" marR="64008" marT="27432" marB="27432" anchor="ctr">
                    <a:solidFill>
                      <a:srgbClr val="F2F4F7"/>
                    </a:solidFill>
                  </a:tcPr>
                </a:tc>
                <a:tc>
                  <a:txBody>
                    <a:bodyPr/>
                    <a:lstStyle/>
                    <a:p>
                      <a:r>
                        <a:rPr sz="1150" b="0">
                          <a:solidFill>
                            <a:srgbClr val="0F8A4C"/>
                          </a:solidFill>
                          <a:latin typeface="Segoe UI"/>
                        </a:rPr>
                        <a:t>NT$0</a:t>
                      </a:r>
                    </a:p>
                  </a:txBody>
                  <a:tcPr marL="82296" marR="64008" marT="27432" marB="27432" anchor="ctr">
                    <a:solidFill>
                      <a:srgbClr val="F2F4F7"/>
                    </a:solidFill>
                  </a:tcPr>
                </a:tc>
              </a:tr>
              <a:tr h="457200">
                <a:tc>
                  <a:txBody>
                    <a:bodyPr/>
                    <a:lstStyle/>
                    <a:p>
                      <a:r>
                        <a:rPr sz="1150" b="0">
                          <a:solidFill>
                            <a:srgbClr val="14171A"/>
                          </a:solidFill>
                          <a:latin typeface="Segoe UI"/>
                        </a:rPr>
                        <a:t>Optional: 24 GB GPU upgrade</a:t>
                      </a:r>
                    </a:p>
                  </a:txBody>
                  <a:tcPr marL="82296" marR="64008" marT="27432" marB="27432" anchor="ctr">
                    <a:solidFill>
                      <a:srgbClr val="FFFFFF"/>
                    </a:solidFill>
                  </a:tcPr>
                </a:tc>
                <a:tc>
                  <a:txBody>
                    <a:bodyPr/>
                    <a:lstStyle/>
                    <a:p>
                      <a:r>
                        <a:rPr sz="1150" b="0">
                          <a:solidFill>
                            <a:srgbClr val="14171A"/>
                          </a:solidFill>
                          <a:latin typeface="Segoe UI"/>
                        </a:rPr>
                        <a:t>removes the staging constraint</a:t>
                      </a:r>
                    </a:p>
                  </a:txBody>
                  <a:tcPr marL="82296" marR="64008" marT="27432" marB="27432" anchor="ctr">
                    <a:solidFill>
                      <a:srgbClr val="FFFFFF"/>
                    </a:solidFill>
                  </a:tcPr>
                </a:tc>
                <a:tc>
                  <a:txBody>
                    <a:bodyPr/>
                    <a:lstStyle/>
                    <a:p>
                      <a:r>
                        <a:rPr sz="1150" b="0">
                          <a:solidFill>
                            <a:srgbClr val="A86400"/>
                          </a:solidFill>
                          <a:latin typeface="Segoe UI"/>
                        </a:rPr>
                        <a:t>NT$50,000 (not required yet)</a:t>
                      </a:r>
                    </a:p>
                  </a:txBody>
                  <a:tcPr marL="82296" marR="64008" marT="27432" marB="27432" anchor="ctr">
                    <a:solidFill>
                      <a:srgbClr val="FFFFFF"/>
                    </a:solidFill>
                  </a:tcPr>
                </a:tc>
              </a:tr>
            </a:tbl>
          </a:graphicData>
        </a:graphic>
      </p:graphicFrame>
      <p:sp>
        <p:nvSpPr>
          <p:cNvPr id="6" name="TextBox 5"/>
          <p:cNvSpPr txBox="1"/>
          <p:nvPr/>
        </p:nvSpPr>
        <p:spPr>
          <a:xfrm>
            <a:off x="658368" y="4041648"/>
            <a:ext cx="10874959" cy="310896"/>
          </a:xfrm>
          <a:prstGeom prst="rect">
            <a:avLst/>
          </a:prstGeom>
          <a:noFill/>
        </p:spPr>
        <p:txBody>
          <a:bodyPr wrap="square" anchor="t" lIns="0" rIns="0" tIns="0" bIns="0">
            <a:spAutoFit/>
          </a:bodyPr>
          <a:lstStyle/>
          <a:p>
            <a:pPr algn="l">
              <a:lnSpc>
                <a:spcPct val="115000"/>
              </a:lnSpc>
            </a:pPr>
            <a:r>
              <a:rPr sz="1250" b="1" i="0">
                <a:solidFill>
                  <a:srgbClr val="2F5FD0"/>
                </a:solidFill>
                <a:latin typeface="Segoe UI"/>
              </a:rPr>
              <a:t>For comparison — the commercial equivalent</a:t>
            </a:r>
          </a:p>
        </p:txBody>
      </p:sp>
      <p:graphicFrame>
        <p:nvGraphicFramePr>
          <p:cNvPr id="7" name="Table 6"/>
          <p:cNvGraphicFramePr>
            <a:graphicFrameLocks noGrp="1"/>
          </p:cNvGraphicFramePr>
          <p:nvPr/>
        </p:nvGraphicFramePr>
        <p:xfrm>
          <a:off x="658368" y="4407408"/>
          <a:ext cx="10881359" cy="1609344"/>
        </p:xfrm>
        <a:graphic>
          <a:graphicData uri="http://schemas.openxmlformats.org/drawingml/2006/table">
            <a:tbl>
              <a:tblPr firstRow="1" bandRow="1">
                <a:tableStyleId>{5C22544A-7EE6-4342-B048-85BDC9FD1C3A}</a:tableStyleId>
              </a:tblPr>
              <a:tblGrid>
                <a:gridCol w="3108960"/>
                <a:gridCol w="4023360"/>
                <a:gridCol w="3749039"/>
              </a:tblGrid>
              <a:tr h="402336">
                <a:tc>
                  <a:txBody>
                    <a:bodyPr/>
                    <a:lstStyle/>
                    <a:p>
                      <a:r>
                        <a:rPr sz="1050" b="1">
                          <a:solidFill>
                            <a:srgbClr val="FFFFFF"/>
                          </a:solidFill>
                          <a:latin typeface="Segoe UI"/>
                        </a:rPr>
                        <a:t>Approach</a:t>
                      </a:r>
                    </a:p>
                  </a:txBody>
                  <a:tcPr marL="82296" marR="64008" marT="27432" marB="27432" anchor="ctr">
                    <a:solidFill>
                      <a:srgbClr val="142244"/>
                    </a:solidFill>
                  </a:tcPr>
                </a:tc>
                <a:tc>
                  <a:txBody>
                    <a:bodyPr/>
                    <a:lstStyle/>
                    <a:p>
                      <a:r>
                        <a:rPr sz="1050" b="1">
                          <a:solidFill>
                            <a:srgbClr val="FFFFFF"/>
                          </a:solidFill>
                          <a:latin typeface="Segoe UI"/>
                        </a:rPr>
                        <a:t>Pricing shape</a:t>
                      </a:r>
                    </a:p>
                  </a:txBody>
                  <a:tcPr marL="82296" marR="64008" marT="27432" marB="27432" anchor="ctr">
                    <a:solidFill>
                      <a:srgbClr val="142244"/>
                    </a:solidFill>
                  </a:tcPr>
                </a:tc>
                <a:tc>
                  <a:txBody>
                    <a:bodyPr/>
                    <a:lstStyle/>
                    <a:p>
                      <a:r>
                        <a:rPr sz="1050" b="1">
                          <a:solidFill>
                            <a:srgbClr val="FFFFFF"/>
                          </a:solidFill>
                          <a:latin typeface="Segoe UI"/>
                        </a:rPr>
                        <a:t>Implication</a:t>
                      </a:r>
                    </a:p>
                  </a:txBody>
                  <a:tcPr marL="82296" marR="64008" marT="27432" marB="27432" anchor="ctr">
                    <a:solidFill>
                      <a:srgbClr val="142244"/>
                    </a:solidFill>
                  </a:tcPr>
                </a:tc>
              </a:tr>
              <a:tr h="402336">
                <a:tc>
                  <a:txBody>
                    <a:bodyPr/>
                    <a:lstStyle/>
                    <a:p>
                      <a:r>
                        <a:rPr sz="1050" b="0">
                          <a:solidFill>
                            <a:srgbClr val="14171A"/>
                          </a:solidFill>
                          <a:latin typeface="Segoe UI"/>
                        </a:rPr>
                        <a:t>Commercial voice-clone SaaS</a:t>
                      </a:r>
                    </a:p>
                  </a:txBody>
                  <a:tcPr marL="82296" marR="64008" marT="27432" marB="27432" anchor="ctr">
                    <a:solidFill>
                      <a:srgbClr val="FFFFFF"/>
                    </a:solidFill>
                  </a:tcPr>
                </a:tc>
                <a:tc>
                  <a:txBody>
                    <a:bodyPr/>
                    <a:lstStyle/>
                    <a:p>
                      <a:r>
                        <a:rPr sz="1050" b="0">
                          <a:solidFill>
                            <a:srgbClr val="14171A"/>
                          </a:solidFill>
                          <a:latin typeface="Segoe UI"/>
                        </a:rPr>
                        <a:t>Monthly tier + per-character overage</a:t>
                      </a:r>
                    </a:p>
                  </a:txBody>
                  <a:tcPr marL="82296" marR="64008" marT="27432" marB="27432" anchor="ctr">
                    <a:solidFill>
                      <a:srgbClr val="FFFFFF"/>
                    </a:solidFill>
                  </a:tcPr>
                </a:tc>
                <a:tc>
                  <a:txBody>
                    <a:bodyPr/>
                    <a:lstStyle/>
                    <a:p>
                      <a:r>
                        <a:rPr sz="1050" b="0">
                          <a:solidFill>
                            <a:srgbClr val="14171A"/>
                          </a:solidFill>
                          <a:latin typeface="Segoe UI"/>
                        </a:rPr>
                        <a:t>Cost grows with output volume; voice hosted externally</a:t>
                      </a:r>
                    </a:p>
                  </a:txBody>
                  <a:tcPr marL="82296" marR="64008" marT="27432" marB="27432" anchor="ctr">
                    <a:solidFill>
                      <a:srgbClr val="FFFFFF"/>
                    </a:solidFill>
                  </a:tcPr>
                </a:tc>
              </a:tr>
              <a:tr h="402336">
                <a:tc>
                  <a:txBody>
                    <a:bodyPr/>
                    <a:lstStyle/>
                    <a:p>
                      <a:r>
                        <a:rPr sz="1050" b="0">
                          <a:solidFill>
                            <a:srgbClr val="14171A"/>
                          </a:solidFill>
                          <a:latin typeface="Segoe UI"/>
                        </a:rPr>
                        <a:t>Commercial AI-avatar SaaS</a:t>
                      </a:r>
                    </a:p>
                  </a:txBody>
                  <a:tcPr marL="82296" marR="64008" marT="27432" marB="27432" anchor="ctr">
                    <a:solidFill>
                      <a:srgbClr val="F2F4F7"/>
                    </a:solidFill>
                  </a:tcPr>
                </a:tc>
                <a:tc>
                  <a:txBody>
                    <a:bodyPr/>
                    <a:lstStyle/>
                    <a:p>
                      <a:r>
                        <a:rPr sz="1050" b="0">
                          <a:solidFill>
                            <a:srgbClr val="14171A"/>
                          </a:solidFill>
                          <a:latin typeface="Segoe UI"/>
                        </a:rPr>
                        <a:t>Monthly tier + per-video-minute</a:t>
                      </a:r>
                    </a:p>
                  </a:txBody>
                  <a:tcPr marL="82296" marR="64008" marT="27432" marB="27432" anchor="ctr">
                    <a:solidFill>
                      <a:srgbClr val="F2F4F7"/>
                    </a:solidFill>
                  </a:tcPr>
                </a:tc>
                <a:tc>
                  <a:txBody>
                    <a:bodyPr/>
                    <a:lstStyle/>
                    <a:p>
                      <a:r>
                        <a:rPr sz="1050" b="0">
                          <a:solidFill>
                            <a:srgbClr val="14171A"/>
                          </a:solidFill>
                          <a:latin typeface="Segoe UI"/>
                        </a:rPr>
                        <a:t>Per-minute fee forever; limited control of the face</a:t>
                      </a:r>
                    </a:p>
                  </a:txBody>
                  <a:tcPr marL="82296" marR="64008" marT="27432" marB="27432" anchor="ctr">
                    <a:solidFill>
                      <a:srgbClr val="F2F4F7"/>
                    </a:solidFill>
                  </a:tcPr>
                </a:tc>
              </a:tr>
              <a:tr h="402336">
                <a:tc>
                  <a:txBody>
                    <a:bodyPr/>
                    <a:lstStyle/>
                    <a:p>
                      <a:r>
                        <a:rPr sz="1050" b="0">
                          <a:solidFill>
                            <a:srgbClr val="14171A"/>
                          </a:solidFill>
                          <a:latin typeface="Segoe UI"/>
                        </a:rPr>
                        <a:t>Our stack</a:t>
                      </a:r>
                    </a:p>
                  </a:txBody>
                  <a:tcPr marL="82296" marR="64008" marT="27432" marB="27432" anchor="ctr">
                    <a:solidFill>
                      <a:srgbClr val="FFFFFF"/>
                    </a:solidFill>
                  </a:tcPr>
                </a:tc>
                <a:tc>
                  <a:txBody>
                    <a:bodyPr/>
                    <a:lstStyle/>
                    <a:p>
                      <a:r>
                        <a:rPr sz="1050" b="0">
                          <a:solidFill>
                            <a:srgbClr val="14171A"/>
                          </a:solidFill>
                          <a:latin typeface="Segoe UI"/>
                        </a:rPr>
                        <a:t>One-off build effort, then electricity</a:t>
                      </a:r>
                    </a:p>
                  </a:txBody>
                  <a:tcPr marL="82296" marR="64008" marT="27432" marB="27432" anchor="ctr">
                    <a:solidFill>
                      <a:srgbClr val="FFFFFF"/>
                    </a:solidFill>
                  </a:tcPr>
                </a:tc>
                <a:tc>
                  <a:txBody>
                    <a:bodyPr/>
                    <a:lstStyle/>
                    <a:p>
                      <a:r>
                        <a:rPr sz="1050" b="0">
                          <a:solidFill>
                            <a:srgbClr val="14171A"/>
                          </a:solidFill>
                          <a:latin typeface="Segoe UI"/>
                        </a:rPr>
                        <a:t>Flat cost; full ownership of voice, face and data</a:t>
                      </a:r>
                    </a:p>
                  </a:txBody>
                  <a:tcPr marL="82296" marR="64008" marT="27432" marB="27432" anchor="ctr">
                    <a:solidFill>
                      <a:srgbClr val="FFFFFF"/>
                    </a:solidFill>
                  </a:tcPr>
                </a:tc>
              </a:tr>
            </a:tbl>
          </a:graphicData>
        </a:graphic>
      </p:graphicFrame>
      <p:sp>
        <p:nvSpPr>
          <p:cNvPr id="8" name="TextBox 7"/>
          <p:cNvSpPr txBox="1"/>
          <p:nvPr/>
        </p:nvSpPr>
        <p:spPr>
          <a:xfrm>
            <a:off x="658368" y="5797296"/>
            <a:ext cx="10874959" cy="548640"/>
          </a:xfrm>
          <a:prstGeom prst="rect">
            <a:avLst/>
          </a:prstGeom>
          <a:noFill/>
        </p:spPr>
        <p:txBody>
          <a:bodyPr wrap="square" anchor="t" lIns="0" rIns="0" tIns="0" bIns="0">
            <a:spAutoFit/>
          </a:bodyPr>
          <a:lstStyle/>
          <a:p>
            <a:pPr algn="l">
              <a:lnSpc>
                <a:spcPct val="115000"/>
              </a:lnSpc>
            </a:pPr>
            <a:r>
              <a:rPr sz="1050" b="0" i="1">
                <a:solidFill>
                  <a:srgbClr val="666E78"/>
                </a:solidFill>
                <a:latin typeface="Segoe UI"/>
              </a:rPr>
              <a:t>Vendor list prices move often and are not quoted here — the structural point is what matters: SaaS cost scales with how much content we publish, ours does not. Exact figures should be verified before any build-vs-buy decision is signed 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CHALLENGES OVERCOME</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Where the development time actually went</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44752"/>
            <a:ext cx="10874959" cy="365760"/>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The models worked as documented. Almost all effort went into environment problems that are not written down anywhere:</a:t>
            </a:r>
          </a:p>
        </p:txBody>
      </p:sp>
      <p:graphicFrame>
        <p:nvGraphicFramePr>
          <p:cNvPr id="6" name="Table 5"/>
          <p:cNvGraphicFramePr>
            <a:graphicFrameLocks noGrp="1"/>
          </p:cNvGraphicFramePr>
          <p:nvPr/>
        </p:nvGraphicFramePr>
        <p:xfrm>
          <a:off x="658368" y="1920240"/>
          <a:ext cx="10872216" cy="3328416"/>
        </p:xfrm>
        <a:graphic>
          <a:graphicData uri="http://schemas.openxmlformats.org/drawingml/2006/table">
            <a:tbl>
              <a:tblPr firstRow="1" bandRow="1">
                <a:tableStyleId>{5C22544A-7EE6-4342-B048-85BDC9FD1C3A}</a:tableStyleId>
              </a:tblPr>
              <a:tblGrid>
                <a:gridCol w="3200400"/>
                <a:gridCol w="6309360"/>
                <a:gridCol w="1362456"/>
              </a:tblGrid>
              <a:tr h="475488">
                <a:tc>
                  <a:txBody>
                    <a:bodyPr/>
                    <a:lstStyle/>
                    <a:p>
                      <a:r>
                        <a:rPr sz="1050" b="1">
                          <a:solidFill>
                            <a:srgbClr val="FFFFFF"/>
                          </a:solidFill>
                          <a:latin typeface="Segoe UI"/>
                        </a:rPr>
                        <a:t>Problem</a:t>
                      </a:r>
                    </a:p>
                  </a:txBody>
                  <a:tcPr marL="82296" marR="64008" marT="27432" marB="27432" anchor="ctr">
                    <a:solidFill>
                      <a:srgbClr val="142244"/>
                    </a:solidFill>
                  </a:tcPr>
                </a:tc>
                <a:tc>
                  <a:txBody>
                    <a:bodyPr/>
                    <a:lstStyle/>
                    <a:p>
                      <a:r>
                        <a:rPr sz="1050" b="1">
                          <a:solidFill>
                            <a:srgbClr val="FFFFFF"/>
                          </a:solidFill>
                          <a:latin typeface="Segoe UI"/>
                        </a:rPr>
                        <a:t>What it looked like</a:t>
                      </a:r>
                    </a:p>
                  </a:txBody>
                  <a:tcPr marL="82296" marR="64008" marT="27432" marB="27432" anchor="ctr">
                    <a:solidFill>
                      <a:srgbClr val="142244"/>
                    </a:solidFill>
                  </a:tcPr>
                </a:tc>
                <a:tc>
                  <a:txBody>
                    <a:bodyPr/>
                    <a:lstStyle/>
                    <a:p>
                      <a:r>
                        <a:rPr sz="1050" b="1">
                          <a:solidFill>
                            <a:srgbClr val="FFFFFF"/>
                          </a:solidFill>
                          <a:latin typeface="Segoe UI"/>
                        </a:rPr>
                        <a:t>Outcome</a:t>
                      </a:r>
                    </a:p>
                  </a:txBody>
                  <a:tcPr marL="82296" marR="64008" marT="27432" marB="27432" anchor="ctr">
                    <a:solidFill>
                      <a:srgbClr val="142244"/>
                    </a:solidFill>
                  </a:tcPr>
                </a:tc>
              </a:tr>
              <a:tr h="475488">
                <a:tc>
                  <a:txBody>
                    <a:bodyPr/>
                    <a:lstStyle/>
                    <a:p>
                      <a:r>
                        <a:rPr sz="1050" b="0">
                          <a:solidFill>
                            <a:srgbClr val="14171A"/>
                          </a:solidFill>
                          <a:latin typeface="Segoe UI"/>
                        </a:rPr>
                        <a:t>Training crashed instantly</a:t>
                      </a:r>
                    </a:p>
                  </a:txBody>
                  <a:tcPr marL="82296" marR="64008" marT="27432" marB="27432" anchor="ctr">
                    <a:solidFill>
                      <a:srgbClr val="FFFFFF"/>
                    </a:solidFill>
                  </a:tcPr>
                </a:tc>
                <a:tc>
                  <a:txBody>
                    <a:bodyPr/>
                    <a:lstStyle/>
                    <a:p>
                      <a:r>
                        <a:rPr sz="1050" b="0">
                          <a:solidFill>
                            <a:srgbClr val="14171A"/>
                          </a:solidFill>
                          <a:latin typeface="Segoe UI"/>
                        </a:rPr>
                        <a:t>Silent crash, no error message — needed low-level tracing to locate</a:t>
                      </a:r>
                    </a:p>
                  </a:txBody>
                  <a:tcPr marL="82296" marR="64008" marT="27432" marB="27432" anchor="ctr">
                    <a:solidFill>
                      <a:srgbClr val="FFFFFF"/>
                    </a:solidFill>
                  </a:tcPr>
                </a:tc>
                <a:tc>
                  <a:txBody>
                    <a:bodyPr/>
                    <a:lstStyle/>
                    <a:p>
                      <a:r>
                        <a:rPr sz="1050" b="0">
                          <a:solidFill>
                            <a:srgbClr val="0F8A4C"/>
                          </a:solidFill>
                          <a:latin typeface="Segoe UI"/>
                        </a:rPr>
                        <a:t>Fixed</a:t>
                      </a:r>
                    </a:p>
                  </a:txBody>
                  <a:tcPr marL="82296" marR="64008" marT="27432" marB="27432" anchor="ctr">
                    <a:solidFill>
                      <a:srgbClr val="FFFFFF"/>
                    </a:solidFill>
                  </a:tcPr>
                </a:tc>
              </a:tr>
              <a:tr h="475488">
                <a:tc>
                  <a:txBody>
                    <a:bodyPr/>
                    <a:lstStyle/>
                    <a:p>
                      <a:r>
                        <a:rPr sz="1050" b="0">
                          <a:solidFill>
                            <a:srgbClr val="14171A"/>
                          </a:solidFill>
                          <a:latin typeface="Segoe UI"/>
                        </a:rPr>
                        <a:t>Security policy blocked a library</a:t>
                      </a:r>
                    </a:p>
                  </a:txBody>
                  <a:tcPr marL="82296" marR="64008" marT="27432" marB="27432" anchor="ctr">
                    <a:solidFill>
                      <a:srgbClr val="F2F4F7"/>
                    </a:solidFill>
                  </a:tcPr>
                </a:tc>
                <a:tc>
                  <a:txBody>
                    <a:bodyPr/>
                    <a:lstStyle/>
                    <a:p>
                      <a:r>
                        <a:rPr sz="1050" b="0">
                          <a:solidFill>
                            <a:srgbClr val="14171A"/>
                          </a:solidFill>
                          <a:latin typeface="Segoe UI"/>
                        </a:rPr>
                        <a:t>Windows blocked an unsigned component; broke all audio processing</a:t>
                      </a:r>
                    </a:p>
                  </a:txBody>
                  <a:tcPr marL="82296" marR="64008" marT="27432" marB="27432" anchor="ctr">
                    <a:solidFill>
                      <a:srgbClr val="F2F4F7"/>
                    </a:solidFill>
                  </a:tcPr>
                </a:tc>
                <a:tc>
                  <a:txBody>
                    <a:bodyPr/>
                    <a:lstStyle/>
                    <a:p>
                      <a:r>
                        <a:rPr sz="1050" b="0">
                          <a:solidFill>
                            <a:srgbClr val="0F8A4C"/>
                          </a:solidFill>
                          <a:latin typeface="Segoe UI"/>
                        </a:rPr>
                        <a:t>Fixed</a:t>
                      </a:r>
                    </a:p>
                  </a:txBody>
                  <a:tcPr marL="82296" marR="64008" marT="27432" marB="27432" anchor="ctr">
                    <a:solidFill>
                      <a:srgbClr val="F2F4F7"/>
                    </a:solidFill>
                  </a:tcPr>
                </a:tc>
              </a:tr>
              <a:tr h="475488">
                <a:tc>
                  <a:txBody>
                    <a:bodyPr/>
                    <a:lstStyle/>
                    <a:p>
                      <a:r>
                        <a:rPr sz="1050" b="0">
                          <a:solidFill>
                            <a:srgbClr val="14171A"/>
                          </a:solidFill>
                          <a:latin typeface="Segoe UI"/>
                        </a:rPr>
                        <a:t>Two components could not be installed</a:t>
                      </a:r>
                    </a:p>
                  </a:txBody>
                  <a:tcPr marL="82296" marR="64008" marT="27432" marB="27432" anchor="ctr">
                    <a:solidFill>
                      <a:srgbClr val="FFFFFF"/>
                    </a:solidFill>
                  </a:tcPr>
                </a:tc>
                <a:tc>
                  <a:txBody>
                    <a:bodyPr/>
                    <a:lstStyle/>
                    <a:p>
                      <a:r>
                        <a:rPr sz="1050" b="0">
                          <a:solidFill>
                            <a:srgbClr val="14171A"/>
                          </a:solidFill>
                          <a:latin typeface="Segoe UI"/>
                        </a:rPr>
                        <a:t>Needed a compiler toolchain we do not have</a:t>
                      </a:r>
                    </a:p>
                  </a:txBody>
                  <a:tcPr marL="82296" marR="64008" marT="27432" marB="27432" anchor="ctr">
                    <a:solidFill>
                      <a:srgbClr val="FFFFFF"/>
                    </a:solidFill>
                  </a:tcPr>
                </a:tc>
                <a:tc>
                  <a:txBody>
                    <a:bodyPr/>
                    <a:lstStyle/>
                    <a:p>
                      <a:r>
                        <a:rPr sz="1050" b="0">
                          <a:solidFill>
                            <a:srgbClr val="0F8A4C"/>
                          </a:solidFill>
                          <a:latin typeface="Segoe UI"/>
                        </a:rPr>
                        <a:t>Worked around</a:t>
                      </a:r>
                    </a:p>
                  </a:txBody>
                  <a:tcPr marL="82296" marR="64008" marT="27432" marB="27432" anchor="ctr">
                    <a:solidFill>
                      <a:srgbClr val="FFFFFF"/>
                    </a:solidFill>
                  </a:tcPr>
                </a:tc>
              </a:tr>
              <a:tr h="475488">
                <a:tc>
                  <a:txBody>
                    <a:bodyPr/>
                    <a:lstStyle/>
                    <a:p>
                      <a:r>
                        <a:rPr sz="1050" b="0">
                          <a:solidFill>
                            <a:srgbClr val="14171A"/>
                          </a:solidFill>
                          <a:latin typeface="Segoe UI"/>
                        </a:rPr>
                        <a:t>Steps 'succeeded' but produced nothing</a:t>
                      </a:r>
                    </a:p>
                  </a:txBody>
                  <a:tcPr marL="82296" marR="64008" marT="27432" marB="27432" anchor="ctr">
                    <a:solidFill>
                      <a:srgbClr val="F2F4F7"/>
                    </a:solidFill>
                  </a:tcPr>
                </a:tc>
                <a:tc>
                  <a:txBody>
                    <a:bodyPr/>
                    <a:lstStyle/>
                    <a:p>
                      <a:r>
                        <a:rPr sz="1050" b="0">
                          <a:solidFill>
                            <a:srgbClr val="14171A"/>
                          </a:solidFill>
                          <a:latin typeface="Segoe UI"/>
                        </a:rPr>
                        <a:t>Exit code said success; output folders were empty</a:t>
                      </a:r>
                    </a:p>
                  </a:txBody>
                  <a:tcPr marL="82296" marR="64008" marT="27432" marB="27432" anchor="ctr">
                    <a:solidFill>
                      <a:srgbClr val="F2F4F7"/>
                    </a:solidFill>
                  </a:tcPr>
                </a:tc>
                <a:tc>
                  <a:txBody>
                    <a:bodyPr/>
                    <a:lstStyle/>
                    <a:p>
                      <a:r>
                        <a:rPr sz="1050" b="0">
                          <a:solidFill>
                            <a:srgbClr val="0F8A4C"/>
                          </a:solidFill>
                          <a:latin typeface="Segoe UI"/>
                        </a:rPr>
                        <a:t>Guarded</a:t>
                      </a:r>
                    </a:p>
                  </a:txBody>
                  <a:tcPr marL="82296" marR="64008" marT="27432" marB="27432" anchor="ctr">
                    <a:solidFill>
                      <a:srgbClr val="F2F4F7"/>
                    </a:solidFill>
                  </a:tcPr>
                </a:tc>
              </a:tr>
              <a:tr h="475488">
                <a:tc>
                  <a:txBody>
                    <a:bodyPr/>
                    <a:lstStyle/>
                    <a:p>
                      <a:r>
                        <a:rPr sz="1050" b="0">
                          <a:solidFill>
                            <a:srgbClr val="14171A"/>
                          </a:solidFill>
                          <a:latin typeface="Segoe UI"/>
                        </a:rPr>
                        <a:t>Training finished, then lost the result</a:t>
                      </a:r>
                    </a:p>
                  </a:txBody>
                  <a:tcPr marL="82296" marR="64008" marT="27432" marB="27432" anchor="ctr">
                    <a:solidFill>
                      <a:srgbClr val="FFFFFF"/>
                    </a:solidFill>
                  </a:tcPr>
                </a:tc>
                <a:tc>
                  <a:txBody>
                    <a:bodyPr/>
                    <a:lstStyle/>
                    <a:p>
                      <a:r>
                        <a:rPr sz="1050" b="0">
                          <a:solidFill>
                            <a:srgbClr val="14171A"/>
                          </a:solidFill>
                          <a:latin typeface="Segoe UI"/>
                        </a:rPr>
                        <a:t>Crashed on the final save after all the compute was done</a:t>
                      </a:r>
                    </a:p>
                  </a:txBody>
                  <a:tcPr marL="82296" marR="64008" marT="27432" marB="27432" anchor="ctr">
                    <a:solidFill>
                      <a:srgbClr val="FFFFFF"/>
                    </a:solidFill>
                  </a:tcPr>
                </a:tc>
                <a:tc>
                  <a:txBody>
                    <a:bodyPr/>
                    <a:lstStyle/>
                    <a:p>
                      <a:r>
                        <a:rPr sz="1050" b="0">
                          <a:solidFill>
                            <a:srgbClr val="0F8A4C"/>
                          </a:solidFill>
                          <a:latin typeface="Segoe UI"/>
                        </a:rPr>
                        <a:t>Fixed + recovery tool</a:t>
                      </a:r>
                    </a:p>
                  </a:txBody>
                  <a:tcPr marL="82296" marR="64008" marT="27432" marB="27432" anchor="ctr">
                    <a:solidFill>
                      <a:srgbClr val="FFFFFF"/>
                    </a:solidFill>
                  </a:tcPr>
                </a:tc>
              </a:tr>
              <a:tr h="475488">
                <a:tc>
                  <a:txBody>
                    <a:bodyPr/>
                    <a:lstStyle/>
                    <a:p>
                      <a:r>
                        <a:rPr sz="1050" b="0">
                          <a:solidFill>
                            <a:srgbClr val="14171A"/>
                          </a:solidFill>
                          <a:latin typeface="Segoe UI"/>
                        </a:rPr>
                        <a:t>Model files only on consumer file-sharing</a:t>
                      </a:r>
                    </a:p>
                  </a:txBody>
                  <a:tcPr marL="82296" marR="64008" marT="27432" marB="27432" anchor="ctr">
                    <a:solidFill>
                      <a:srgbClr val="F2F4F7"/>
                    </a:solidFill>
                  </a:tcPr>
                </a:tc>
                <a:tc>
                  <a:txBody>
                    <a:bodyPr/>
                    <a:lstStyle/>
                    <a:p>
                      <a:r>
                        <a:rPr sz="1050" b="0">
                          <a:solidFill>
                            <a:srgbClr val="14171A"/>
                          </a:solidFill>
                          <a:latin typeface="Segoe UI"/>
                        </a:rPr>
                        <a:t>No official download link for one model</a:t>
                      </a:r>
                    </a:p>
                  </a:txBody>
                  <a:tcPr marL="82296" marR="64008" marT="27432" marB="27432" anchor="ctr">
                    <a:solidFill>
                      <a:srgbClr val="F2F4F7"/>
                    </a:solidFill>
                  </a:tcPr>
                </a:tc>
                <a:tc>
                  <a:txBody>
                    <a:bodyPr/>
                    <a:lstStyle/>
                    <a:p>
                      <a:r>
                        <a:rPr sz="1050" b="0">
                          <a:solidFill>
                            <a:srgbClr val="0F8A4C"/>
                          </a:solidFill>
                          <a:latin typeface="Segoe UI"/>
                        </a:rPr>
                        <a:t>Automated</a:t>
                      </a:r>
                    </a:p>
                  </a:txBody>
                  <a:tcPr marL="82296" marR="64008" marT="27432" marB="27432" anchor="ctr">
                    <a:solidFill>
                      <a:srgbClr val="F2F4F7"/>
                    </a:solidFill>
                  </a:tcPr>
                </a:tc>
              </a:tr>
            </a:tbl>
          </a:graphicData>
        </a:graphic>
      </p:graphicFrame>
      <p:sp>
        <p:nvSpPr>
          <p:cNvPr id="7" name="TextBox 6"/>
          <p:cNvSpPr txBox="1"/>
          <p:nvPr/>
        </p:nvSpPr>
        <p:spPr>
          <a:xfrm>
            <a:off x="658368" y="4937760"/>
            <a:ext cx="10874959" cy="1005840"/>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All six are now documented in the repository with the reasoning, so they cost time once rather than repeatedly. This is the main reason the next KOL voice will take hours instead of days — and why the estimate for remaining work is more reliable now than it would have been a week ago.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WHAT NEEDS IMPROVING</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Honest assessment of current limitations</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81328"/>
            <a:ext cx="10874959" cy="758952"/>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 y="1764792"/>
            <a:ext cx="118872" cy="118872"/>
          </a:xfrm>
          <a:prstGeom prst="ellipse">
            <a:avLst/>
          </a:prstGeom>
          <a:solidFill>
            <a:srgbClr val="C6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81912"/>
            <a:ext cx="10234879" cy="256032"/>
          </a:xfrm>
          <a:prstGeom prst="rect">
            <a:avLst/>
          </a:prstGeom>
          <a:noFill/>
        </p:spPr>
        <p:txBody>
          <a:bodyPr wrap="square" anchor="t" lIns="0" rIns="0" tIns="0" bIns="0">
            <a:spAutoFit/>
          </a:bodyPr>
          <a:lstStyle/>
          <a:p>
            <a:pPr algn="l">
              <a:lnSpc>
                <a:spcPct val="115000"/>
              </a:lnSpc>
            </a:pPr>
            <a:r>
              <a:rPr sz="1250" b="1" i="0">
                <a:solidFill>
                  <a:srgbClr val="142244"/>
                </a:solidFill>
                <a:latin typeface="Segoe UI"/>
              </a:rPr>
              <a:t>The avatar is not the KOL's face</a:t>
            </a:r>
          </a:p>
        </p:txBody>
      </p:sp>
      <p:sp>
        <p:nvSpPr>
          <p:cNvPr id="8" name="TextBox 7"/>
          <p:cNvSpPr txBox="1"/>
          <p:nvPr/>
        </p:nvSpPr>
        <p:spPr>
          <a:xfrm>
            <a:off x="1097280" y="1865376"/>
            <a:ext cx="10189159" cy="329184"/>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Highest priority. Uses a stock demo face today. Requires generating a short video from a portrait before an avatar can be built.</a:t>
            </a:r>
          </a:p>
        </p:txBody>
      </p:sp>
      <p:sp>
        <p:nvSpPr>
          <p:cNvPr id="9" name="Rounded Rectangle 8"/>
          <p:cNvSpPr/>
          <p:nvPr/>
        </p:nvSpPr>
        <p:spPr>
          <a:xfrm>
            <a:off x="658368" y="2322576"/>
            <a:ext cx="10874959" cy="758952"/>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606040"/>
            <a:ext cx="118872" cy="11887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23160"/>
            <a:ext cx="10234879" cy="256032"/>
          </a:xfrm>
          <a:prstGeom prst="rect">
            <a:avLst/>
          </a:prstGeom>
          <a:noFill/>
        </p:spPr>
        <p:txBody>
          <a:bodyPr wrap="square" anchor="t" lIns="0" rIns="0" tIns="0" bIns="0">
            <a:spAutoFit/>
          </a:bodyPr>
          <a:lstStyle/>
          <a:p>
            <a:pPr algn="l">
              <a:lnSpc>
                <a:spcPct val="115000"/>
              </a:lnSpc>
            </a:pPr>
            <a:r>
              <a:rPr sz="1250" b="1" i="0">
                <a:solidFill>
                  <a:srgbClr val="142244"/>
                </a:solidFill>
                <a:latin typeface="Segoe UI"/>
              </a:rPr>
              <a:t>Only one KOL has a voice</a:t>
            </a:r>
          </a:p>
        </p:txBody>
      </p:sp>
      <p:sp>
        <p:nvSpPr>
          <p:cNvPr id="12" name="TextBox 11"/>
          <p:cNvSpPr txBox="1"/>
          <p:nvPr/>
        </p:nvSpPr>
        <p:spPr>
          <a:xfrm>
            <a:off x="1097280" y="2706624"/>
            <a:ext cx="10189159" cy="329184"/>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9 of 10 personas are still silent. The pipeline is proven, so this is now routine work rather than research.</a:t>
            </a:r>
          </a:p>
        </p:txBody>
      </p:sp>
      <p:sp>
        <p:nvSpPr>
          <p:cNvPr id="13" name="Rounded Rectangle 12"/>
          <p:cNvSpPr/>
          <p:nvPr/>
        </p:nvSpPr>
        <p:spPr>
          <a:xfrm>
            <a:off x="658368" y="3163824"/>
            <a:ext cx="10874959" cy="758952"/>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2960" y="3447288"/>
            <a:ext cx="118872" cy="11887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64408"/>
            <a:ext cx="10234879" cy="256032"/>
          </a:xfrm>
          <a:prstGeom prst="rect">
            <a:avLst/>
          </a:prstGeom>
          <a:noFill/>
        </p:spPr>
        <p:txBody>
          <a:bodyPr wrap="square" anchor="t" lIns="0" rIns="0" tIns="0" bIns="0">
            <a:spAutoFit/>
          </a:bodyPr>
          <a:lstStyle/>
          <a:p>
            <a:pPr algn="l">
              <a:lnSpc>
                <a:spcPct val="115000"/>
              </a:lnSpc>
            </a:pPr>
            <a:r>
              <a:rPr sz="1250" b="1" i="0">
                <a:solidFill>
                  <a:srgbClr val="142244"/>
                </a:solidFill>
                <a:latin typeface="Segoe UI"/>
              </a:rPr>
              <a:t>The avatar cannot think yet</a:t>
            </a:r>
          </a:p>
        </p:txBody>
      </p:sp>
      <p:sp>
        <p:nvSpPr>
          <p:cNvPr id="16" name="TextBox 15"/>
          <p:cNvSpPr txBox="1"/>
          <p:nvPr/>
        </p:nvSpPr>
        <p:spPr>
          <a:xfrm>
            <a:off x="1097280" y="3547872"/>
            <a:ext cx="10189159" cy="329184"/>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It repeats what it is given. Connecting a local language model would let it answer comments in character.</a:t>
            </a:r>
          </a:p>
        </p:txBody>
      </p:sp>
      <p:sp>
        <p:nvSpPr>
          <p:cNvPr id="17" name="Rounded Rectangle 16"/>
          <p:cNvSpPr/>
          <p:nvPr/>
        </p:nvSpPr>
        <p:spPr>
          <a:xfrm>
            <a:off x="658368" y="4005072"/>
            <a:ext cx="10874959" cy="758952"/>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2960" y="4288536"/>
            <a:ext cx="118872" cy="11887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105656"/>
            <a:ext cx="10234879" cy="256032"/>
          </a:xfrm>
          <a:prstGeom prst="rect">
            <a:avLst/>
          </a:prstGeom>
          <a:noFill/>
        </p:spPr>
        <p:txBody>
          <a:bodyPr wrap="square" anchor="t" lIns="0" rIns="0" tIns="0" bIns="0">
            <a:spAutoFit/>
          </a:bodyPr>
          <a:lstStyle/>
          <a:p>
            <a:pPr algn="l">
              <a:lnSpc>
                <a:spcPct val="115000"/>
              </a:lnSpc>
            </a:pPr>
            <a:r>
              <a:rPr sz="1250" b="1" i="0">
                <a:solidFill>
                  <a:srgbClr val="142244"/>
                </a:solidFill>
                <a:latin typeface="Segoe UI"/>
              </a:rPr>
              <a:t>Multi-speaker audio is unsafe</a:t>
            </a:r>
          </a:p>
        </p:txBody>
      </p:sp>
      <p:sp>
        <p:nvSpPr>
          <p:cNvPr id="20" name="TextBox 19"/>
          <p:cNvSpPr txBox="1"/>
          <p:nvPr/>
        </p:nvSpPr>
        <p:spPr>
          <a:xfrm>
            <a:off x="1097280" y="4389120"/>
            <a:ext cx="10189159" cy="329184"/>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If we crawl a two-person podcast, the voices blend. Only single-speaker sources should be used until speaker separation is added.</a:t>
            </a:r>
          </a:p>
        </p:txBody>
      </p:sp>
      <p:sp>
        <p:nvSpPr>
          <p:cNvPr id="21" name="Rounded Rectangle 20"/>
          <p:cNvSpPr/>
          <p:nvPr/>
        </p:nvSpPr>
        <p:spPr>
          <a:xfrm>
            <a:off x="658368" y="4846320"/>
            <a:ext cx="10874959" cy="758952"/>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2960" y="5129784"/>
            <a:ext cx="118872" cy="11887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946904"/>
            <a:ext cx="10234879" cy="256032"/>
          </a:xfrm>
          <a:prstGeom prst="rect">
            <a:avLst/>
          </a:prstGeom>
          <a:noFill/>
        </p:spPr>
        <p:txBody>
          <a:bodyPr wrap="square" anchor="t" lIns="0" rIns="0" tIns="0" bIns="0">
            <a:spAutoFit/>
          </a:bodyPr>
          <a:lstStyle/>
          <a:p>
            <a:pPr algn="l">
              <a:lnSpc>
                <a:spcPct val="115000"/>
              </a:lnSpc>
            </a:pPr>
            <a:r>
              <a:rPr sz="1250" b="1" i="0">
                <a:solidFill>
                  <a:srgbClr val="142244"/>
                </a:solidFill>
                <a:latin typeface="Segoe UI"/>
              </a:rPr>
              <a:t>Face consistency across images</a:t>
            </a:r>
          </a:p>
        </p:txBody>
      </p:sp>
      <p:sp>
        <p:nvSpPr>
          <p:cNvPr id="24" name="TextBox 23"/>
          <p:cNvSpPr txBox="1"/>
          <p:nvPr/>
        </p:nvSpPr>
        <p:spPr>
          <a:xfrm>
            <a:off x="1097280" y="5230368"/>
            <a:ext cx="10189159" cy="329184"/>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Generated images do not yet hold a stable identity — needed before publishing photo content at volume.</a:t>
            </a:r>
          </a:p>
        </p:txBody>
      </p:sp>
      <p:sp>
        <p:nvSpPr>
          <p:cNvPr id="25" name="Rounded Rectangle 24"/>
          <p:cNvSpPr/>
          <p:nvPr/>
        </p:nvSpPr>
        <p:spPr>
          <a:xfrm>
            <a:off x="658368" y="5687568"/>
            <a:ext cx="10874959" cy="758952"/>
          </a:xfrm>
          <a:prstGeom prst="roundRect">
            <a:avLst>
              <a:gd name="adj" fmla="val 6000"/>
            </a:avLst>
          </a:prstGeom>
          <a:solidFill>
            <a:srgbClr val="FFFFFF"/>
          </a:solidFill>
          <a:ln w="9525">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22960" y="5971032"/>
            <a:ext cx="118872" cy="118872"/>
          </a:xfrm>
          <a:prstGeom prst="ellipse">
            <a:avLst/>
          </a:prstGeom>
          <a:solidFill>
            <a:srgbClr val="66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788152"/>
            <a:ext cx="10234879" cy="256032"/>
          </a:xfrm>
          <a:prstGeom prst="rect">
            <a:avLst/>
          </a:prstGeom>
          <a:noFill/>
        </p:spPr>
        <p:txBody>
          <a:bodyPr wrap="square" anchor="t" lIns="0" rIns="0" tIns="0" bIns="0">
            <a:spAutoFit/>
          </a:bodyPr>
          <a:lstStyle/>
          <a:p>
            <a:pPr algn="l">
              <a:lnSpc>
                <a:spcPct val="115000"/>
              </a:lnSpc>
            </a:pPr>
            <a:r>
              <a:rPr sz="1250" b="1" i="0">
                <a:solidFill>
                  <a:srgbClr val="142244"/>
                </a:solidFill>
                <a:latin typeface="Segoe UI"/>
              </a:rPr>
              <a:t>Interruption handling is unreliable</a:t>
            </a:r>
          </a:p>
        </p:txBody>
      </p:sp>
      <p:sp>
        <p:nvSpPr>
          <p:cNvPr id="28" name="TextBox 27"/>
          <p:cNvSpPr txBox="1"/>
          <p:nvPr/>
        </p:nvSpPr>
        <p:spPr>
          <a:xfrm>
            <a:off x="1097280" y="6071616"/>
            <a:ext cx="10189159" cy="329184"/>
          </a:xfrm>
          <a:prstGeom prst="rect">
            <a:avLst/>
          </a:prstGeom>
          <a:noFill/>
        </p:spPr>
        <p:txBody>
          <a:bodyPr wrap="square" anchor="t" lIns="0" rIns="0" tIns="0" bIns="0">
            <a:spAutoFit/>
          </a:bodyPr>
          <a:lstStyle/>
          <a:p>
            <a:pPr algn="l">
              <a:lnSpc>
                <a:spcPct val="115000"/>
              </a:lnSpc>
            </a:pPr>
            <a:r>
              <a:rPr sz="1050" b="0" i="0">
                <a:solidFill>
                  <a:srgbClr val="666E78"/>
                </a:solidFill>
                <a:latin typeface="Segoe UI"/>
              </a:rPr>
              <a:t>Cutting the avatar off mid-sentence is flaky upstream. Avoid designing live formats that depend on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NEXT WEEK</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Plan for 4 hours/day (week of 2026-08-03)</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517904"/>
          <a:ext cx="10872216" cy="3401568"/>
        </p:xfrm>
        <a:graphic>
          <a:graphicData uri="http://schemas.openxmlformats.org/drawingml/2006/table">
            <a:tbl>
              <a:tblPr firstRow="1" bandRow="1">
                <a:tableStyleId>{5C22544A-7EE6-4342-B048-85BDC9FD1C3A}</a:tableStyleId>
              </a:tblPr>
              <a:tblGrid>
                <a:gridCol w="914400"/>
                <a:gridCol w="3108960"/>
                <a:gridCol w="5486400"/>
                <a:gridCol w="1362456"/>
              </a:tblGrid>
              <a:tr h="566928">
                <a:tc>
                  <a:txBody>
                    <a:bodyPr/>
                    <a:lstStyle/>
                    <a:p>
                      <a:r>
                        <a:rPr sz="1050" b="1">
                          <a:solidFill>
                            <a:srgbClr val="FFFFFF"/>
                          </a:solidFill>
                          <a:latin typeface="Segoe UI"/>
                        </a:rPr>
                        <a:t>Day</a:t>
                      </a:r>
                    </a:p>
                  </a:txBody>
                  <a:tcPr marL="82296" marR="64008" marT="27432" marB="27432" anchor="ctr">
                    <a:solidFill>
                      <a:srgbClr val="142244"/>
                    </a:solidFill>
                  </a:tcPr>
                </a:tc>
                <a:tc>
                  <a:txBody>
                    <a:bodyPr/>
                    <a:lstStyle/>
                    <a:p>
                      <a:r>
                        <a:rPr sz="1050" b="1">
                          <a:solidFill>
                            <a:srgbClr val="FFFFFF"/>
                          </a:solidFill>
                          <a:latin typeface="Segoe UI"/>
                        </a:rPr>
                        <a:t>Focus</a:t>
                      </a:r>
                    </a:p>
                  </a:txBody>
                  <a:tcPr marL="82296" marR="64008" marT="27432" marB="27432" anchor="ctr">
                    <a:solidFill>
                      <a:srgbClr val="142244"/>
                    </a:solidFill>
                  </a:tcPr>
                </a:tc>
                <a:tc>
                  <a:txBody>
                    <a:bodyPr/>
                    <a:lstStyle/>
                    <a:p>
                      <a:r>
                        <a:rPr sz="1050" b="1">
                          <a:solidFill>
                            <a:srgbClr val="FFFFFF"/>
                          </a:solidFill>
                          <a:latin typeface="Segoe UI"/>
                        </a:rPr>
                        <a:t>Deliverable</a:t>
                      </a:r>
                    </a:p>
                  </a:txBody>
                  <a:tcPr marL="82296" marR="64008" marT="27432" marB="27432" anchor="ctr">
                    <a:solidFill>
                      <a:srgbClr val="142244"/>
                    </a:solidFill>
                  </a:tcPr>
                </a:tc>
                <a:tc>
                  <a:txBody>
                    <a:bodyPr/>
                    <a:lstStyle/>
                    <a:p>
                      <a:r>
                        <a:rPr sz="1050" b="1">
                          <a:solidFill>
                            <a:srgbClr val="FFFFFF"/>
                          </a:solidFill>
                          <a:latin typeface="Segoe UI"/>
                        </a:rPr>
                        <a:t>Risk</a:t>
                      </a:r>
                    </a:p>
                  </a:txBody>
                  <a:tcPr marL="82296" marR="64008" marT="27432" marB="27432" anchor="ctr">
                    <a:solidFill>
                      <a:srgbClr val="142244"/>
                    </a:solidFill>
                  </a:tcPr>
                </a:tc>
              </a:tr>
              <a:tr h="566928">
                <a:tc>
                  <a:txBody>
                    <a:bodyPr/>
                    <a:lstStyle/>
                    <a:p>
                      <a:r>
                        <a:rPr sz="1050" b="0">
                          <a:solidFill>
                            <a:srgbClr val="14171A"/>
                          </a:solidFill>
                          <a:latin typeface="Segoe UI"/>
                        </a:rPr>
                        <a:t>Mon
08/03</a:t>
                      </a:r>
                    </a:p>
                  </a:txBody>
                  <a:tcPr marL="82296" marR="64008" marT="27432" marB="27432" anchor="ctr">
                    <a:solidFill>
                      <a:srgbClr val="FFFFFF"/>
                    </a:solidFill>
                  </a:tcPr>
                </a:tc>
                <a:tc>
                  <a:txBody>
                    <a:bodyPr/>
                    <a:lstStyle/>
                    <a:p>
                      <a:r>
                        <a:rPr sz="1050" b="0">
                          <a:solidFill>
                            <a:srgbClr val="14171A"/>
                          </a:solidFill>
                          <a:latin typeface="Segoe UI"/>
                        </a:rPr>
                        <a:t>Set up image-to-video generation</a:t>
                      </a:r>
                    </a:p>
                  </a:txBody>
                  <a:tcPr marL="82296" marR="64008" marT="27432" marB="27432" anchor="ctr">
                    <a:solidFill>
                      <a:srgbClr val="FFFFFF"/>
                    </a:solidFill>
                  </a:tcPr>
                </a:tc>
                <a:tc>
                  <a:txBody>
                    <a:bodyPr/>
                    <a:lstStyle/>
                    <a:p>
                      <a:r>
                        <a:rPr sz="1050" b="0">
                          <a:solidFill>
                            <a:srgbClr val="14171A"/>
                          </a:solidFill>
                          <a:latin typeface="Segoe UI"/>
                        </a:rPr>
                        <a:t>Tool installed, first test clip rendered from a portrait</a:t>
                      </a:r>
                    </a:p>
                  </a:txBody>
                  <a:tcPr marL="82296" marR="64008" marT="27432" marB="27432" anchor="ctr">
                    <a:solidFill>
                      <a:srgbClr val="FFFFFF"/>
                    </a:solidFill>
                  </a:tcPr>
                </a:tc>
                <a:tc>
                  <a:txBody>
                    <a:bodyPr/>
                    <a:lstStyle/>
                    <a:p>
                      <a:r>
                        <a:rPr sz="1050" b="0">
                          <a:solidFill>
                            <a:srgbClr val="A86400"/>
                          </a:solidFill>
                          <a:latin typeface="Segoe UI"/>
                        </a:rPr>
                        <a:t>Large download</a:t>
                      </a:r>
                    </a:p>
                  </a:txBody>
                  <a:tcPr marL="82296" marR="64008" marT="27432" marB="27432" anchor="ctr">
                    <a:solidFill>
                      <a:srgbClr val="FFFFFF"/>
                    </a:solidFill>
                  </a:tcPr>
                </a:tc>
              </a:tr>
              <a:tr h="566928">
                <a:tc>
                  <a:txBody>
                    <a:bodyPr/>
                    <a:lstStyle/>
                    <a:p>
                      <a:r>
                        <a:rPr sz="1050" b="0">
                          <a:solidFill>
                            <a:srgbClr val="14171A"/>
                          </a:solidFill>
                          <a:latin typeface="Segoe UI"/>
                        </a:rPr>
                        <a:t>Tue
08/04</a:t>
                      </a:r>
                    </a:p>
                  </a:txBody>
                  <a:tcPr marL="82296" marR="64008" marT="27432" marB="27432" anchor="ctr">
                    <a:solidFill>
                      <a:srgbClr val="F2F4F7"/>
                    </a:solidFill>
                  </a:tcPr>
                </a:tc>
                <a:tc>
                  <a:txBody>
                    <a:bodyPr/>
                    <a:lstStyle/>
                    <a:p>
                      <a:r>
                        <a:rPr sz="1050" b="0">
                          <a:solidFill>
                            <a:srgbClr val="14171A"/>
                          </a:solidFill>
                          <a:latin typeface="Segoe UI"/>
                        </a:rPr>
                        <a:t>Generate the KOL's idle-motion clip</a:t>
                      </a:r>
                    </a:p>
                  </a:txBody>
                  <a:tcPr marL="82296" marR="64008" marT="27432" marB="27432" anchor="ctr">
                    <a:solidFill>
                      <a:srgbClr val="F2F4F7"/>
                    </a:solidFill>
                  </a:tcPr>
                </a:tc>
                <a:tc>
                  <a:txBody>
                    <a:bodyPr/>
                    <a:lstStyle/>
                    <a:p>
                      <a:r>
                        <a:rPr sz="1050" b="0">
                          <a:solidFill>
                            <a:srgbClr val="14171A"/>
                          </a:solidFill>
                          <a:latin typeface="Segoe UI"/>
                        </a:rPr>
                        <a:t>A 20–30 s usable clip of Lena's face</a:t>
                      </a:r>
                    </a:p>
                  </a:txBody>
                  <a:tcPr marL="82296" marR="64008" marT="27432" marB="27432" anchor="ctr">
                    <a:solidFill>
                      <a:srgbClr val="F2F4F7"/>
                    </a:solidFill>
                  </a:tcPr>
                </a:tc>
                <a:tc>
                  <a:txBody>
                    <a:bodyPr/>
                    <a:lstStyle/>
                    <a:p>
                      <a:r>
                        <a:rPr sz="1050" b="0">
                          <a:solidFill>
                            <a:srgbClr val="A86400"/>
                          </a:solidFill>
                          <a:latin typeface="Segoe UI"/>
                        </a:rPr>
                        <a:t>Quality iteration</a:t>
                      </a:r>
                    </a:p>
                  </a:txBody>
                  <a:tcPr marL="82296" marR="64008" marT="27432" marB="27432" anchor="ctr">
                    <a:solidFill>
                      <a:srgbClr val="F2F4F7"/>
                    </a:solidFill>
                  </a:tcPr>
                </a:tc>
              </a:tr>
              <a:tr h="566928">
                <a:tc>
                  <a:txBody>
                    <a:bodyPr/>
                    <a:lstStyle/>
                    <a:p>
                      <a:r>
                        <a:rPr sz="1050" b="0">
                          <a:solidFill>
                            <a:srgbClr val="14171A"/>
                          </a:solidFill>
                          <a:latin typeface="Segoe UI"/>
                        </a:rPr>
                        <a:t>Wed
08/05</a:t>
                      </a:r>
                    </a:p>
                  </a:txBody>
                  <a:tcPr marL="82296" marR="64008" marT="27432" marB="27432" anchor="ctr">
                    <a:solidFill>
                      <a:srgbClr val="FFFFFF"/>
                    </a:solidFill>
                  </a:tcPr>
                </a:tc>
                <a:tc>
                  <a:txBody>
                    <a:bodyPr/>
                    <a:lstStyle/>
                    <a:p>
                      <a:r>
                        <a:rPr sz="1050" b="0">
                          <a:solidFill>
                            <a:srgbClr val="14171A"/>
                          </a:solidFill>
                          <a:latin typeface="Segoe UI"/>
                        </a:rPr>
                        <a:t>Build + test the custom avatar</a:t>
                      </a:r>
                    </a:p>
                  </a:txBody>
                  <a:tcPr marL="82296" marR="64008" marT="27432" marB="27432" anchor="ctr">
                    <a:solidFill>
                      <a:srgbClr val="FFFFFF"/>
                    </a:solidFill>
                  </a:tcPr>
                </a:tc>
                <a:tc>
                  <a:txBody>
                    <a:bodyPr/>
                    <a:lstStyle/>
                    <a:p>
                      <a:r>
                        <a:rPr sz="1050" b="0">
                          <a:solidFill>
                            <a:srgbClr val="14171A"/>
                          </a:solidFill>
                          <a:latin typeface="Segoe UI"/>
                        </a:rPr>
                        <a:t>Avatar speaking with Lena's face AND voice — the milestone</a:t>
                      </a:r>
                    </a:p>
                  </a:txBody>
                  <a:tcPr marL="82296" marR="64008" marT="27432" marB="27432" anchor="ctr">
                    <a:solidFill>
                      <a:srgbClr val="FFFFFF"/>
                    </a:solidFill>
                  </a:tcPr>
                </a:tc>
                <a:tc>
                  <a:txBody>
                    <a:bodyPr/>
                    <a:lstStyle/>
                    <a:p>
                      <a:r>
                        <a:rPr sz="1050" b="0">
                          <a:solidFill>
                            <a:srgbClr val="0F8A4C"/>
                          </a:solidFill>
                          <a:latin typeface="Segoe UI"/>
                        </a:rPr>
                        <a:t>Low</a:t>
                      </a:r>
                    </a:p>
                  </a:txBody>
                  <a:tcPr marL="82296" marR="64008" marT="27432" marB="27432" anchor="ctr">
                    <a:solidFill>
                      <a:srgbClr val="FFFFFF"/>
                    </a:solidFill>
                  </a:tcPr>
                </a:tc>
              </a:tr>
              <a:tr h="566928">
                <a:tc>
                  <a:txBody>
                    <a:bodyPr/>
                    <a:lstStyle/>
                    <a:p>
                      <a:r>
                        <a:rPr sz="1050" b="0">
                          <a:solidFill>
                            <a:srgbClr val="14171A"/>
                          </a:solidFill>
                          <a:latin typeface="Segoe UI"/>
                        </a:rPr>
                        <a:t>Thu
08/06</a:t>
                      </a:r>
                    </a:p>
                  </a:txBody>
                  <a:tcPr marL="82296" marR="64008" marT="27432" marB="27432" anchor="ctr">
                    <a:solidFill>
                      <a:srgbClr val="F2F4F7"/>
                    </a:solidFill>
                  </a:tcPr>
                </a:tc>
                <a:tc>
                  <a:txBody>
                    <a:bodyPr/>
                    <a:lstStyle/>
                    <a:p>
                      <a:r>
                        <a:rPr sz="1050" b="0">
                          <a:solidFill>
                            <a:srgbClr val="14171A"/>
                          </a:solidFill>
                          <a:latin typeface="Segoe UI"/>
                        </a:rPr>
                        <a:t>Connect the language model</a:t>
                      </a:r>
                    </a:p>
                  </a:txBody>
                  <a:tcPr marL="82296" marR="64008" marT="27432" marB="27432" anchor="ctr">
                    <a:solidFill>
                      <a:srgbClr val="F2F4F7"/>
                    </a:solidFill>
                  </a:tcPr>
                </a:tc>
                <a:tc>
                  <a:txBody>
                    <a:bodyPr/>
                    <a:lstStyle/>
                    <a:p>
                      <a:r>
                        <a:rPr sz="1050" b="0">
                          <a:solidFill>
                            <a:srgbClr val="14171A"/>
                          </a:solidFill>
                          <a:latin typeface="Segoe UI"/>
                        </a:rPr>
                        <a:t>Avatar answers a question in persona instead of repeating</a:t>
                      </a:r>
                    </a:p>
                  </a:txBody>
                  <a:tcPr marL="82296" marR="64008" marT="27432" marB="27432" anchor="ctr">
                    <a:solidFill>
                      <a:srgbClr val="F2F4F7"/>
                    </a:solidFill>
                  </a:tcPr>
                </a:tc>
                <a:tc>
                  <a:txBody>
                    <a:bodyPr/>
                    <a:lstStyle/>
                    <a:p>
                      <a:r>
                        <a:rPr sz="1050" b="0">
                          <a:solidFill>
                            <a:srgbClr val="0F8A4C"/>
                          </a:solidFill>
                          <a:latin typeface="Segoe UI"/>
                        </a:rPr>
                        <a:t>Low</a:t>
                      </a:r>
                    </a:p>
                  </a:txBody>
                  <a:tcPr marL="82296" marR="64008" marT="27432" marB="27432" anchor="ctr">
                    <a:solidFill>
                      <a:srgbClr val="F2F4F7"/>
                    </a:solidFill>
                  </a:tcPr>
                </a:tc>
              </a:tr>
              <a:tr h="566928">
                <a:tc>
                  <a:txBody>
                    <a:bodyPr/>
                    <a:lstStyle/>
                    <a:p>
                      <a:r>
                        <a:rPr sz="1050" b="0">
                          <a:solidFill>
                            <a:srgbClr val="14171A"/>
                          </a:solidFill>
                          <a:latin typeface="Segoe UI"/>
                        </a:rPr>
                        <a:t>Fri
08/07</a:t>
                      </a:r>
                    </a:p>
                  </a:txBody>
                  <a:tcPr marL="82296" marR="64008" marT="27432" marB="27432" anchor="ctr">
                    <a:solidFill>
                      <a:srgbClr val="FFFFFF"/>
                    </a:solidFill>
                  </a:tcPr>
                </a:tc>
                <a:tc>
                  <a:txBody>
                    <a:bodyPr/>
                    <a:lstStyle/>
                    <a:p>
                      <a:r>
                        <a:rPr sz="1050" b="0">
                          <a:solidFill>
                            <a:srgbClr val="14171A"/>
                          </a:solidFill>
                          <a:latin typeface="Segoe UI"/>
                        </a:rPr>
                        <a:t>Buffer · demo · write-up</a:t>
                      </a:r>
                    </a:p>
                  </a:txBody>
                  <a:tcPr marL="82296" marR="64008" marT="27432" marB="27432" anchor="ctr">
                    <a:solidFill>
                      <a:srgbClr val="FFFFFF"/>
                    </a:solidFill>
                  </a:tcPr>
                </a:tc>
                <a:tc>
                  <a:txBody>
                    <a:bodyPr/>
                    <a:lstStyle/>
                    <a:p>
                      <a:r>
                        <a:rPr sz="1050" b="0">
                          <a:solidFill>
                            <a:srgbClr val="14171A"/>
                          </a:solidFill>
                          <a:latin typeface="Segoe UI"/>
                        </a:rPr>
                        <a:t>Recorded demo video + updated docs</a:t>
                      </a:r>
                    </a:p>
                  </a:txBody>
                  <a:tcPr marL="82296" marR="64008" marT="27432" marB="27432" anchor="ctr">
                    <a:solidFill>
                      <a:srgbClr val="FFFFFF"/>
                    </a:solidFill>
                  </a:tcPr>
                </a:tc>
                <a:tc>
                  <a:txBody>
                    <a:bodyPr/>
                    <a:lstStyle/>
                    <a:p>
                      <a:r>
                        <a:rPr sz="1050" b="0">
                          <a:solidFill>
                            <a:srgbClr val="0F8A4C"/>
                          </a:solidFill>
                          <a:latin typeface="Segoe UI"/>
                        </a:rPr>
                        <a:t>—</a:t>
                      </a:r>
                    </a:p>
                  </a:txBody>
                  <a:tcPr marL="82296" marR="64008" marT="27432" marB="27432" anchor="ctr">
                    <a:solidFill>
                      <a:srgbClr val="FFFFFF"/>
                    </a:solidFill>
                  </a:tcPr>
                </a:tc>
              </a:tr>
            </a:tbl>
          </a:graphicData>
        </a:graphic>
      </p:graphicFrame>
      <p:sp>
        <p:nvSpPr>
          <p:cNvPr id="6" name="TextBox 5"/>
          <p:cNvSpPr txBox="1"/>
          <p:nvPr/>
        </p:nvSpPr>
        <p:spPr>
          <a:xfrm>
            <a:off x="658368" y="4846320"/>
            <a:ext cx="10874959" cy="1280160"/>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Total 20 hours. Friday is deliberately kept as buffer: this project has shown that setup problems, not the actual work, are what consume time. If Monday and Tuesday run clean, Friday moves forward to voicing a second KOL.</a:t>
            </a:r>
          </a:p>
          <a:p>
            <a:pPr algn="l">
              <a:lnSpc>
                <a:spcPct val="115000"/>
              </a:lnSpc>
            </a:pPr>
            <a:r>
              <a:rPr sz="1200" b="0" i="0">
                <a:solidFill>
                  <a:srgbClr val="666E78"/>
                </a:solidFill>
                <a:latin typeface="Segoe UI"/>
              </a:rPr>
              <a:t/>
            </a:r>
          </a:p>
          <a:p>
            <a:pPr algn="l">
              <a:lnSpc>
                <a:spcPct val="115000"/>
              </a:lnSpc>
            </a:pPr>
            <a:r>
              <a:rPr sz="1200" b="0" i="0">
                <a:solidFill>
                  <a:srgbClr val="666E78"/>
                </a:solidFill>
                <a:latin typeface="Segoe UI"/>
              </a:rPr>
              <a:t>Milestone to judge the week by: Wednesday — an avatar with both the KOL's face and her voice, which is the first genuinely presentable output.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BEYOND NEXT WEEK</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Sequenced by dependency</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554480"/>
          <a:ext cx="10872216" cy="3072384"/>
        </p:xfrm>
        <a:graphic>
          <a:graphicData uri="http://schemas.openxmlformats.org/drawingml/2006/table">
            <a:tbl>
              <a:tblPr firstRow="1" bandRow="1">
                <a:tableStyleId>{5C22544A-7EE6-4342-B048-85BDC9FD1C3A}</a:tableStyleId>
              </a:tblPr>
              <a:tblGrid>
                <a:gridCol w="1554480"/>
                <a:gridCol w="4023360"/>
                <a:gridCol w="5294376"/>
              </a:tblGrid>
              <a:tr h="512064">
                <a:tc>
                  <a:txBody>
                    <a:bodyPr/>
                    <a:lstStyle/>
                    <a:p>
                      <a:r>
                        <a:rPr sz="1100" b="1">
                          <a:solidFill>
                            <a:srgbClr val="FFFFFF"/>
                          </a:solidFill>
                          <a:latin typeface="Segoe UI"/>
                        </a:rPr>
                        <a:t>Horizon</a:t>
                      </a:r>
                    </a:p>
                  </a:txBody>
                  <a:tcPr marL="82296" marR="64008" marT="27432" marB="27432" anchor="ctr">
                    <a:solidFill>
                      <a:srgbClr val="142244"/>
                    </a:solidFill>
                  </a:tcPr>
                </a:tc>
                <a:tc>
                  <a:txBody>
                    <a:bodyPr/>
                    <a:lstStyle/>
                    <a:p>
                      <a:r>
                        <a:rPr sz="1100" b="1">
                          <a:solidFill>
                            <a:srgbClr val="FFFFFF"/>
                          </a:solidFill>
                          <a:latin typeface="Segoe UI"/>
                        </a:rPr>
                        <a:t>Goal</a:t>
                      </a:r>
                    </a:p>
                  </a:txBody>
                  <a:tcPr marL="82296" marR="64008" marT="27432" marB="27432" anchor="ctr">
                    <a:solidFill>
                      <a:srgbClr val="142244"/>
                    </a:solidFill>
                  </a:tcPr>
                </a:tc>
                <a:tc>
                  <a:txBody>
                    <a:bodyPr/>
                    <a:lstStyle/>
                    <a:p>
                      <a:r>
                        <a:rPr sz="1100" b="1">
                          <a:solidFill>
                            <a:srgbClr val="FFFFFF"/>
                          </a:solidFill>
                          <a:latin typeface="Segoe UI"/>
                        </a:rPr>
                        <a:t>Why it matters commercially</a:t>
                      </a:r>
                    </a:p>
                  </a:txBody>
                  <a:tcPr marL="82296" marR="64008" marT="27432" marB="27432" anchor="ctr">
                    <a:solidFill>
                      <a:srgbClr val="142244"/>
                    </a:solidFill>
                  </a:tcPr>
                </a:tc>
              </a:tr>
              <a:tr h="512064">
                <a:tc>
                  <a:txBody>
                    <a:bodyPr/>
                    <a:lstStyle/>
                    <a:p>
                      <a:r>
                        <a:rPr sz="1100" b="0">
                          <a:solidFill>
                            <a:srgbClr val="14171A"/>
                          </a:solidFill>
                          <a:latin typeface="Segoe UI"/>
                        </a:rPr>
                        <a:t>2–3 weeks</a:t>
                      </a:r>
                    </a:p>
                  </a:txBody>
                  <a:tcPr marL="82296" marR="64008" marT="27432" marB="27432" anchor="ctr">
                    <a:solidFill>
                      <a:srgbClr val="FFFFFF"/>
                    </a:solidFill>
                  </a:tcPr>
                </a:tc>
                <a:tc>
                  <a:txBody>
                    <a:bodyPr/>
                    <a:lstStyle/>
                    <a:p>
                      <a:r>
                        <a:rPr sz="1100" b="0">
                          <a:solidFill>
                            <a:srgbClr val="14171A"/>
                          </a:solidFill>
                          <a:latin typeface="Segoe UI"/>
                        </a:rPr>
                        <a:t>Voices + faces for the priority KOLs</a:t>
                      </a:r>
                    </a:p>
                  </a:txBody>
                  <a:tcPr marL="82296" marR="64008" marT="27432" marB="27432" anchor="ctr">
                    <a:solidFill>
                      <a:srgbClr val="FFFFFF"/>
                    </a:solidFill>
                  </a:tcPr>
                </a:tc>
                <a:tc>
                  <a:txBody>
                    <a:bodyPr/>
                    <a:lstStyle/>
                    <a:p>
                      <a:r>
                        <a:rPr sz="1100" b="0">
                          <a:solidFill>
                            <a:srgbClr val="14171A"/>
                          </a:solidFill>
                          <a:latin typeface="Segoe UI"/>
                        </a:rPr>
                        <a:t>Enough characters to actually run content on multiple accounts</a:t>
                      </a:r>
                    </a:p>
                  </a:txBody>
                  <a:tcPr marL="82296" marR="64008" marT="27432" marB="27432" anchor="ctr">
                    <a:solidFill>
                      <a:srgbClr val="FFFFFF"/>
                    </a:solidFill>
                  </a:tcPr>
                </a:tc>
              </a:tr>
              <a:tr h="512064">
                <a:tc>
                  <a:txBody>
                    <a:bodyPr/>
                    <a:lstStyle/>
                    <a:p>
                      <a:r>
                        <a:rPr sz="1100" b="0">
                          <a:solidFill>
                            <a:srgbClr val="14171A"/>
                          </a:solidFill>
                          <a:latin typeface="Segoe UI"/>
                        </a:rPr>
                        <a:t>3–4 weeks</a:t>
                      </a:r>
                    </a:p>
                  </a:txBody>
                  <a:tcPr marL="82296" marR="64008" marT="27432" marB="27432" anchor="ctr">
                    <a:solidFill>
                      <a:srgbClr val="F2F4F7"/>
                    </a:solidFill>
                  </a:tcPr>
                </a:tc>
                <a:tc>
                  <a:txBody>
                    <a:bodyPr/>
                    <a:lstStyle/>
                    <a:p>
                      <a:r>
                        <a:rPr sz="1100" b="0">
                          <a:solidFill>
                            <a:srgbClr val="14171A"/>
                          </a:solidFill>
                          <a:latin typeface="Segoe UI"/>
                        </a:rPr>
                        <a:t>Identity-locked image generation</a:t>
                      </a:r>
                    </a:p>
                  </a:txBody>
                  <a:tcPr marL="82296" marR="64008" marT="27432" marB="27432" anchor="ctr">
                    <a:solidFill>
                      <a:srgbClr val="F2F4F7"/>
                    </a:solidFill>
                  </a:tcPr>
                </a:tc>
                <a:tc>
                  <a:txBody>
                    <a:bodyPr/>
                    <a:lstStyle/>
                    <a:p>
                      <a:r>
                        <a:rPr sz="1100" b="0">
                          <a:solidFill>
                            <a:srgbClr val="14171A"/>
                          </a:solidFill>
                          <a:latin typeface="Segoe UI"/>
                        </a:rPr>
                        <a:t>Same face across every post — the basis of a believable account</a:t>
                      </a:r>
                    </a:p>
                  </a:txBody>
                  <a:tcPr marL="82296" marR="64008" marT="27432" marB="27432" anchor="ctr">
                    <a:solidFill>
                      <a:srgbClr val="F2F4F7"/>
                    </a:solidFill>
                  </a:tcPr>
                </a:tc>
              </a:tr>
              <a:tr h="512064">
                <a:tc>
                  <a:txBody>
                    <a:bodyPr/>
                    <a:lstStyle/>
                    <a:p>
                      <a:r>
                        <a:rPr sz="1100" b="0">
                          <a:solidFill>
                            <a:srgbClr val="14171A"/>
                          </a:solidFill>
                          <a:latin typeface="Segoe UI"/>
                        </a:rPr>
                        <a:t>1–2 months</a:t>
                      </a:r>
                    </a:p>
                  </a:txBody>
                  <a:tcPr marL="82296" marR="64008" marT="27432" marB="27432" anchor="ctr">
                    <a:solidFill>
                      <a:srgbClr val="FFFFFF"/>
                    </a:solidFill>
                  </a:tcPr>
                </a:tc>
                <a:tc>
                  <a:txBody>
                    <a:bodyPr/>
                    <a:lstStyle/>
                    <a:p>
                      <a:r>
                        <a:rPr sz="1100" b="0">
                          <a:solidFill>
                            <a:srgbClr val="14171A"/>
                          </a:solidFill>
                          <a:latin typeface="Segoe UI"/>
                        </a:rPr>
                        <a:t>Comment reading and in-persona replies (human-approved)</a:t>
                      </a:r>
                    </a:p>
                  </a:txBody>
                  <a:tcPr marL="82296" marR="64008" marT="27432" marB="27432" anchor="ctr">
                    <a:solidFill>
                      <a:srgbClr val="FFFFFF"/>
                    </a:solidFill>
                  </a:tcPr>
                </a:tc>
                <a:tc>
                  <a:txBody>
                    <a:bodyPr/>
                    <a:lstStyle/>
                    <a:p>
                      <a:r>
                        <a:rPr sz="1100" b="0">
                          <a:solidFill>
                            <a:srgbClr val="14171A"/>
                          </a:solidFill>
                          <a:latin typeface="Segoe UI"/>
                        </a:rPr>
                        <a:t>Turns followers into conversations without adding headcount</a:t>
                      </a:r>
                    </a:p>
                  </a:txBody>
                  <a:tcPr marL="82296" marR="64008" marT="27432" marB="27432" anchor="ctr">
                    <a:solidFill>
                      <a:srgbClr val="FFFFFF"/>
                    </a:solidFill>
                  </a:tcPr>
                </a:tc>
              </a:tr>
              <a:tr h="512064">
                <a:tc>
                  <a:txBody>
                    <a:bodyPr/>
                    <a:lstStyle/>
                    <a:p>
                      <a:r>
                        <a:rPr sz="1100" b="0">
                          <a:solidFill>
                            <a:srgbClr val="14171A"/>
                          </a:solidFill>
                          <a:latin typeface="Segoe UI"/>
                        </a:rPr>
                        <a:t>2–3 months</a:t>
                      </a:r>
                    </a:p>
                  </a:txBody>
                  <a:tcPr marL="82296" marR="64008" marT="27432" marB="27432" anchor="ctr">
                    <a:solidFill>
                      <a:srgbClr val="F2F4F7"/>
                    </a:solidFill>
                  </a:tcPr>
                </a:tc>
                <a:tc>
                  <a:txBody>
                    <a:bodyPr/>
                    <a:lstStyle/>
                    <a:p>
                      <a:r>
                        <a:rPr sz="1100" b="0">
                          <a:solidFill>
                            <a:srgbClr val="14171A"/>
                          </a:solidFill>
                          <a:latin typeface="Segoe UI"/>
                        </a:rPr>
                        <a:t>Live streaming to OBS / RTMP</a:t>
                      </a:r>
                    </a:p>
                  </a:txBody>
                  <a:tcPr marL="82296" marR="64008" marT="27432" marB="27432" anchor="ctr">
                    <a:solidFill>
                      <a:srgbClr val="F2F4F7"/>
                    </a:solidFill>
                  </a:tcPr>
                </a:tc>
                <a:tc>
                  <a:txBody>
                    <a:bodyPr/>
                    <a:lstStyle/>
                    <a:p>
                      <a:r>
                        <a:rPr sz="1100" b="0">
                          <a:solidFill>
                            <a:srgbClr val="14171A"/>
                          </a:solidFill>
                          <a:latin typeface="Segoe UI"/>
                        </a:rPr>
                        <a:t>Unlocks live selling, the highest-value format</a:t>
                      </a:r>
                    </a:p>
                  </a:txBody>
                  <a:tcPr marL="82296" marR="64008" marT="27432" marB="27432" anchor="ctr">
                    <a:solidFill>
                      <a:srgbClr val="F2F4F7"/>
                    </a:solidFill>
                  </a:tcPr>
                </a:tc>
              </a:tr>
              <a:tr h="512064">
                <a:tc>
                  <a:txBody>
                    <a:bodyPr/>
                    <a:lstStyle/>
                    <a:p>
                      <a:r>
                        <a:rPr sz="1100" b="0">
                          <a:solidFill>
                            <a:srgbClr val="14171A"/>
                          </a:solidFill>
                          <a:latin typeface="Segoe UI"/>
                        </a:rPr>
                        <a:t>Ongoing</a:t>
                      </a:r>
                    </a:p>
                  </a:txBody>
                  <a:tcPr marL="82296" marR="64008" marT="27432" marB="27432" anchor="ctr">
                    <a:solidFill>
                      <a:srgbClr val="FFFFFF"/>
                    </a:solidFill>
                  </a:tcPr>
                </a:tc>
                <a:tc>
                  <a:txBody>
                    <a:bodyPr/>
                    <a:lstStyle/>
                    <a:p>
                      <a:r>
                        <a:rPr sz="1100" b="0">
                          <a:solidFill>
                            <a:srgbClr val="14171A"/>
                          </a:solidFill>
                          <a:latin typeface="Segoe UI"/>
                        </a:rPr>
                        <a:t>Compliance: AI disclosure, platform rules</a:t>
                      </a:r>
                    </a:p>
                  </a:txBody>
                  <a:tcPr marL="82296" marR="64008" marT="27432" marB="27432" anchor="ctr">
                    <a:solidFill>
                      <a:srgbClr val="FFFFFF"/>
                    </a:solidFill>
                  </a:tcPr>
                </a:tc>
                <a:tc>
                  <a:txBody>
                    <a:bodyPr/>
                    <a:lstStyle/>
                    <a:p>
                      <a:r>
                        <a:rPr sz="1100" b="0">
                          <a:solidFill>
                            <a:srgbClr val="14171A"/>
                          </a:solidFill>
                          <a:latin typeface="Segoe UI"/>
                        </a:rPr>
                        <a:t>Required in several markets; must not be retrofitted late</a:t>
                      </a:r>
                    </a:p>
                  </a:txBody>
                  <a:tcPr marL="82296" marR="64008" marT="27432" marB="27432" anchor="ctr">
                    <a:solidFill>
                      <a:srgbClr val="FFFFFF"/>
                    </a:solidFill>
                  </a:tcPr>
                </a:tc>
              </a:tr>
            </a:tbl>
          </a:graphicData>
        </a:graphic>
      </p:graphicFrame>
      <p:sp>
        <p:nvSpPr>
          <p:cNvPr id="6" name="TextBox 5"/>
          <p:cNvSpPr txBox="1"/>
          <p:nvPr/>
        </p:nvSpPr>
        <p:spPr>
          <a:xfrm>
            <a:off x="658368" y="4572000"/>
            <a:ext cx="10874959" cy="1371600"/>
          </a:xfrm>
          <a:prstGeom prst="rect">
            <a:avLst/>
          </a:prstGeom>
          <a:noFill/>
        </p:spPr>
        <p:txBody>
          <a:bodyPr wrap="square" anchor="t" lIns="0" rIns="0" tIns="0" bIns="0">
            <a:spAutoFit/>
          </a:bodyPr>
          <a:lstStyle/>
          <a:p>
            <a:pPr algn="l">
              <a:lnSpc>
                <a:spcPct val="115000"/>
              </a:lnSpc>
            </a:pPr>
            <a:r>
              <a:rPr sz="1200" b="0" i="0">
                <a:solidFill>
                  <a:srgbClr val="666E78"/>
                </a:solidFill>
                <a:latin typeface="Segoe UI"/>
              </a:rPr>
              <a:t>Two things worth flagging early rather than late:</a:t>
            </a:r>
          </a:p>
          <a:p>
            <a:pPr algn="l">
              <a:lnSpc>
                <a:spcPct val="115000"/>
              </a:lnSpc>
            </a:pPr>
            <a:r>
              <a:rPr sz="1200" b="0" i="0">
                <a:solidFill>
                  <a:srgbClr val="666E78"/>
                </a:solidFill>
                <a:latin typeface="Segoe UI"/>
              </a:rPr>
              <a:t/>
            </a:r>
          </a:p>
          <a:p>
            <a:pPr algn="l">
              <a:lnSpc>
                <a:spcPct val="115000"/>
              </a:lnSpc>
            </a:pPr>
            <a:r>
              <a:rPr sz="1200" b="0" i="0">
                <a:solidFill>
                  <a:srgbClr val="666E78"/>
                </a:solidFill>
                <a:latin typeface="Segoe UI"/>
              </a:rPr>
              <a:t>• Automated commenting must stay off on TikTok — there is no official API for it, so automation would risk the account. Instagram and YouTube are viable.</a:t>
            </a:r>
          </a:p>
          <a:p>
            <a:pPr algn="l">
              <a:lnSpc>
                <a:spcPct val="115000"/>
              </a:lnSpc>
            </a:pPr>
            <a:r>
              <a:rPr sz="1200" b="0" i="0">
                <a:solidFill>
                  <a:srgbClr val="666E78"/>
                </a:solidFill>
                <a:latin typeface="Segoe UI"/>
              </a:rPr>
              <a:t>• Several markets require labelling AI-generated personas. Designing that in now is cheap; adding it after launch is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37744"/>
          </a:xfrm>
          <a:prstGeom prst="rect">
            <a:avLst/>
          </a:prstGeom>
          <a:noFill/>
        </p:spPr>
        <p:txBody>
          <a:bodyPr wrap="square" anchor="t" lIns="0" rIns="0" tIns="0" bIns="0">
            <a:spAutoFit/>
          </a:bodyPr>
          <a:lstStyle/>
          <a:p>
            <a:pPr algn="l">
              <a:lnSpc>
                <a:spcPct val="115000"/>
              </a:lnSpc>
            </a:pPr>
            <a:r>
              <a:rPr sz="1100" b="1" i="0">
                <a:solidFill>
                  <a:srgbClr val="2F5FD0"/>
                </a:solidFill>
                <a:latin typeface="Segoe UI"/>
              </a:rPr>
              <a:t>LEARNINGS &amp; DIRECTION</a:t>
            </a:r>
          </a:p>
        </p:txBody>
      </p:sp>
      <p:sp>
        <p:nvSpPr>
          <p:cNvPr id="3" name="TextBox 2"/>
          <p:cNvSpPr txBox="1"/>
          <p:nvPr/>
        </p:nvSpPr>
        <p:spPr>
          <a:xfrm>
            <a:off x="658368" y="694944"/>
            <a:ext cx="10874959" cy="502920"/>
          </a:xfrm>
          <a:prstGeom prst="rect">
            <a:avLst/>
          </a:prstGeom>
          <a:noFill/>
        </p:spPr>
        <p:txBody>
          <a:bodyPr wrap="square" anchor="t" lIns="0" rIns="0" tIns="0" bIns="0">
            <a:spAutoFit/>
          </a:bodyPr>
          <a:lstStyle/>
          <a:p>
            <a:pPr algn="l">
              <a:lnSpc>
                <a:spcPct val="115000"/>
              </a:lnSpc>
            </a:pPr>
            <a:r>
              <a:rPr sz="2700" b="1" i="0">
                <a:solidFill>
                  <a:srgbClr val="142244"/>
                </a:solidFill>
                <a:latin typeface="Segoe UI"/>
              </a:rPr>
              <a:t>What I took away from this, and where I want to go</a:t>
            </a:r>
          </a:p>
        </p:txBody>
      </p:sp>
      <p:sp>
        <p:nvSpPr>
          <p:cNvPr id="4" name="Rectangle 3"/>
          <p:cNvSpPr/>
          <p:nvPr/>
        </p:nvSpPr>
        <p:spPr>
          <a:xfrm>
            <a:off x="658368" y="1298448"/>
            <a:ext cx="10874959" cy="9525"/>
          </a:xfrm>
          <a:prstGeom prst="rect">
            <a:avLst/>
          </a:prstGeom>
          <a:solidFill>
            <a:srgbClr val="DD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63040"/>
            <a:ext cx="10874959" cy="274320"/>
          </a:xfrm>
          <a:prstGeom prst="rect">
            <a:avLst/>
          </a:prstGeom>
          <a:noFill/>
        </p:spPr>
        <p:txBody>
          <a:bodyPr wrap="square" anchor="t" lIns="0" rIns="0" tIns="0" bIns="0">
            <a:spAutoFit/>
          </a:bodyPr>
          <a:lstStyle/>
          <a:p>
            <a:pPr algn="l">
              <a:lnSpc>
                <a:spcPct val="115000"/>
              </a:lnSpc>
            </a:pPr>
            <a:r>
              <a:rPr sz="1200" b="1" i="0">
                <a:solidFill>
                  <a:srgbClr val="2F5FD0"/>
                </a:solidFill>
                <a:latin typeface="Segoe UI"/>
              </a:rPr>
              <a:t>Technical lessons</a:t>
            </a:r>
          </a:p>
        </p:txBody>
      </p:sp>
      <p:sp>
        <p:nvSpPr>
          <p:cNvPr id="6" name="TextBox 5"/>
          <p:cNvSpPr txBox="1"/>
          <p:nvPr/>
        </p:nvSpPr>
        <p:spPr>
          <a:xfrm>
            <a:off x="658368" y="1792224"/>
            <a:ext cx="10874959" cy="566928"/>
          </a:xfrm>
          <a:prstGeom prst="rect">
            <a:avLst/>
          </a:prstGeom>
          <a:noFill/>
        </p:spPr>
        <p:txBody>
          <a:bodyPr wrap="square" lIns="0" rIns="0" tIns="0" bIns="0">
            <a:spAutoFit/>
          </a:bodyPr>
          <a:lstStyle/>
          <a:p>
            <a:pPr>
              <a:lnSpc>
                <a:spcPct val="120000"/>
              </a:lnSpc>
            </a:pPr>
            <a:r>
              <a:rPr sz="1200">
                <a:solidFill>
                  <a:srgbClr val="2F5FD0"/>
                </a:solidFill>
                <a:latin typeface="Segoe UI"/>
              </a:rPr>
              <a:t>▪  </a:t>
            </a:r>
            <a:r>
              <a:rPr sz="1200" b="1">
                <a:solidFill>
                  <a:srgbClr val="14171A"/>
                </a:solidFill>
                <a:latin typeface="Segoe UI"/>
              </a:rPr>
              <a:t>Integration is the hard part, not the models. </a:t>
            </a:r>
            <a:r>
              <a:rPr sz="1200">
                <a:solidFill>
                  <a:srgbClr val="666E78"/>
                </a:solidFill>
                <a:latin typeface="Segoe UI"/>
              </a:rPr>
              <a:t>The published models worked. Nearly all the time went into environment, version and platform issues — which is where I learned the most.</a:t>
            </a:r>
          </a:p>
        </p:txBody>
      </p:sp>
      <p:sp>
        <p:nvSpPr>
          <p:cNvPr id="7" name="TextBox 6"/>
          <p:cNvSpPr txBox="1"/>
          <p:nvPr/>
        </p:nvSpPr>
        <p:spPr>
          <a:xfrm>
            <a:off x="658368" y="2359152"/>
            <a:ext cx="10874959" cy="566928"/>
          </a:xfrm>
          <a:prstGeom prst="rect">
            <a:avLst/>
          </a:prstGeom>
          <a:noFill/>
        </p:spPr>
        <p:txBody>
          <a:bodyPr wrap="square" lIns="0" rIns="0" tIns="0" bIns="0">
            <a:spAutoFit/>
          </a:bodyPr>
          <a:lstStyle/>
          <a:p>
            <a:pPr>
              <a:lnSpc>
                <a:spcPct val="120000"/>
              </a:lnSpc>
            </a:pPr>
            <a:r>
              <a:rPr sz="1200">
                <a:solidFill>
                  <a:srgbClr val="2F5FD0"/>
                </a:solidFill>
                <a:latin typeface="Segoe UI"/>
              </a:rPr>
              <a:t>▪  </a:t>
            </a:r>
            <a:r>
              <a:rPr sz="1200" b="1">
                <a:solidFill>
                  <a:srgbClr val="14171A"/>
                </a:solidFill>
                <a:latin typeface="Segoe UI"/>
              </a:rPr>
              <a:t>Verify with a measurement, not an impression. </a:t>
            </a:r>
            <a:r>
              <a:rPr sz="1200">
                <a:solidFill>
                  <a:srgbClr val="666E78"/>
                </a:solidFill>
                <a:latin typeface="Segoe UI"/>
              </a:rPr>
              <a:t>Checking the voice by transcribing it back caught problems that sounded fine. A success exit code also turned out to mean nothing on its own.</a:t>
            </a:r>
          </a:p>
        </p:txBody>
      </p:sp>
      <p:sp>
        <p:nvSpPr>
          <p:cNvPr id="8" name="TextBox 7"/>
          <p:cNvSpPr txBox="1"/>
          <p:nvPr/>
        </p:nvSpPr>
        <p:spPr>
          <a:xfrm>
            <a:off x="658368" y="2926080"/>
            <a:ext cx="10874959" cy="566928"/>
          </a:xfrm>
          <a:prstGeom prst="rect">
            <a:avLst/>
          </a:prstGeom>
          <a:noFill/>
        </p:spPr>
        <p:txBody>
          <a:bodyPr wrap="square" lIns="0" rIns="0" tIns="0" bIns="0">
            <a:spAutoFit/>
          </a:bodyPr>
          <a:lstStyle/>
          <a:p>
            <a:pPr>
              <a:lnSpc>
                <a:spcPct val="120000"/>
              </a:lnSpc>
            </a:pPr>
            <a:r>
              <a:rPr sz="1200">
                <a:solidFill>
                  <a:srgbClr val="2F5FD0"/>
                </a:solidFill>
                <a:latin typeface="Segoe UI"/>
              </a:rPr>
              <a:t>▪  </a:t>
            </a:r>
            <a:r>
              <a:rPr sz="1200" b="1">
                <a:solidFill>
                  <a:srgbClr val="14171A"/>
                </a:solidFill>
                <a:latin typeface="Segoe UI"/>
              </a:rPr>
              <a:t>Write down the fix, not just the fix. </a:t>
            </a:r>
            <a:r>
              <a:rPr sz="1200">
                <a:solidFill>
                  <a:srgbClr val="666E78"/>
                </a:solidFill>
                <a:latin typeface="Segoe UI"/>
              </a:rPr>
              <a:t>Documenting why each blocker happened is what turns a multi-day investigation into a one-command rerun for the next person.</a:t>
            </a:r>
          </a:p>
        </p:txBody>
      </p:sp>
      <p:sp>
        <p:nvSpPr>
          <p:cNvPr id="9" name="TextBox 8"/>
          <p:cNvSpPr txBox="1"/>
          <p:nvPr/>
        </p:nvSpPr>
        <p:spPr>
          <a:xfrm>
            <a:off x="658368" y="3657600"/>
            <a:ext cx="10874959" cy="274320"/>
          </a:xfrm>
          <a:prstGeom prst="rect">
            <a:avLst/>
          </a:prstGeom>
          <a:noFill/>
        </p:spPr>
        <p:txBody>
          <a:bodyPr wrap="square" anchor="t" lIns="0" rIns="0" tIns="0" bIns="0">
            <a:spAutoFit/>
          </a:bodyPr>
          <a:lstStyle/>
          <a:p>
            <a:pPr algn="l">
              <a:lnSpc>
                <a:spcPct val="115000"/>
              </a:lnSpc>
            </a:pPr>
            <a:r>
              <a:rPr sz="1200" b="1" i="0">
                <a:solidFill>
                  <a:srgbClr val="2F5FD0"/>
                </a:solidFill>
                <a:latin typeface="Segoe UI"/>
              </a:rPr>
              <a:t>Where I would like to grow</a:t>
            </a:r>
          </a:p>
        </p:txBody>
      </p:sp>
      <p:sp>
        <p:nvSpPr>
          <p:cNvPr id="10" name="TextBox 9"/>
          <p:cNvSpPr txBox="1"/>
          <p:nvPr/>
        </p:nvSpPr>
        <p:spPr>
          <a:xfrm>
            <a:off x="658368" y="3986784"/>
            <a:ext cx="10874959" cy="566928"/>
          </a:xfrm>
          <a:prstGeom prst="rect">
            <a:avLst/>
          </a:prstGeom>
          <a:noFill/>
        </p:spPr>
        <p:txBody>
          <a:bodyPr wrap="square" lIns="0" rIns="0" tIns="0" bIns="0">
            <a:spAutoFit/>
          </a:bodyPr>
          <a:lstStyle/>
          <a:p>
            <a:pPr>
              <a:lnSpc>
                <a:spcPct val="120000"/>
              </a:lnSpc>
            </a:pPr>
            <a:r>
              <a:rPr sz="1200">
                <a:solidFill>
                  <a:srgbClr val="2F5FD0"/>
                </a:solidFill>
                <a:latin typeface="Segoe UI"/>
              </a:rPr>
              <a:t>▪  </a:t>
            </a:r>
            <a:r>
              <a:rPr sz="1200" b="1">
                <a:solidFill>
                  <a:srgbClr val="14171A"/>
                </a:solidFill>
                <a:latin typeface="Segoe UI"/>
              </a:rPr>
              <a:t>Own a layer end-to-end. </a:t>
            </a:r>
            <a:r>
              <a:rPr sz="1200">
                <a:solidFill>
                  <a:srgbClr val="666E78"/>
                </a:solidFill>
                <a:latin typeface="Segoe UI"/>
              </a:rPr>
              <a:t>I would like to take the image/identity layer from research through to production, as I did with voice.</a:t>
            </a:r>
          </a:p>
        </p:txBody>
      </p:sp>
      <p:sp>
        <p:nvSpPr>
          <p:cNvPr id="11" name="TextBox 10"/>
          <p:cNvSpPr txBox="1"/>
          <p:nvPr/>
        </p:nvSpPr>
        <p:spPr>
          <a:xfrm>
            <a:off x="658368" y="4553712"/>
            <a:ext cx="10874959" cy="566928"/>
          </a:xfrm>
          <a:prstGeom prst="rect">
            <a:avLst/>
          </a:prstGeom>
          <a:noFill/>
        </p:spPr>
        <p:txBody>
          <a:bodyPr wrap="square" lIns="0" rIns="0" tIns="0" bIns="0">
            <a:spAutoFit/>
          </a:bodyPr>
          <a:lstStyle/>
          <a:p>
            <a:pPr>
              <a:lnSpc>
                <a:spcPct val="120000"/>
              </a:lnSpc>
            </a:pPr>
            <a:r>
              <a:rPr sz="1200">
                <a:solidFill>
                  <a:srgbClr val="2F5FD0"/>
                </a:solidFill>
                <a:latin typeface="Segoe UI"/>
              </a:rPr>
              <a:t>▪  </a:t>
            </a:r>
            <a:r>
              <a:rPr sz="1200" b="1">
                <a:solidFill>
                  <a:srgbClr val="14171A"/>
                </a:solidFill>
                <a:latin typeface="Segoe UI"/>
              </a:rPr>
              <a:t>Get closer to the commercial result. </a:t>
            </a:r>
            <a:r>
              <a:rPr sz="1200">
                <a:solidFill>
                  <a:srgbClr val="666E78"/>
                </a:solidFill>
                <a:latin typeface="Segoe UI"/>
              </a:rPr>
              <a:t>Understanding which content actually converts would let me build the right thing, not just the technically interesting thing.</a:t>
            </a:r>
          </a:p>
        </p:txBody>
      </p:sp>
      <p:sp>
        <p:nvSpPr>
          <p:cNvPr id="12" name="TextBox 11"/>
          <p:cNvSpPr txBox="1"/>
          <p:nvPr/>
        </p:nvSpPr>
        <p:spPr>
          <a:xfrm>
            <a:off x="658368" y="5120640"/>
            <a:ext cx="10874959" cy="566928"/>
          </a:xfrm>
          <a:prstGeom prst="rect">
            <a:avLst/>
          </a:prstGeom>
          <a:noFill/>
        </p:spPr>
        <p:txBody>
          <a:bodyPr wrap="square" lIns="0" rIns="0" tIns="0" bIns="0">
            <a:spAutoFit/>
          </a:bodyPr>
          <a:lstStyle/>
          <a:p>
            <a:pPr>
              <a:lnSpc>
                <a:spcPct val="120000"/>
              </a:lnSpc>
            </a:pPr>
            <a:r>
              <a:rPr sz="1200">
                <a:solidFill>
                  <a:srgbClr val="2F5FD0"/>
                </a:solidFill>
                <a:latin typeface="Segoe UI"/>
              </a:rPr>
              <a:t>▪  </a:t>
            </a:r>
            <a:r>
              <a:rPr sz="1200" b="1">
                <a:solidFill>
                  <a:srgbClr val="14171A"/>
                </a:solidFill>
                <a:latin typeface="Segoe UI"/>
              </a:rPr>
              <a:t>Ask for direction earlier on judgement calls. </a:t>
            </a:r>
            <a:r>
              <a:rPr sz="1200">
                <a:solidFill>
                  <a:srgbClr val="666E78"/>
                </a:solidFill>
                <a:latin typeface="Segoe UI"/>
              </a:rPr>
              <a:t>Some decisions — rights over source material, hardware budget — are not mine to make, and I should surface them sooner.</a:t>
            </a:r>
          </a:p>
        </p:txBody>
      </p:sp>
      <p:sp>
        <p:nvSpPr>
          <p:cNvPr id="13" name="TextBox 12"/>
          <p:cNvSpPr txBox="1"/>
          <p:nvPr/>
        </p:nvSpPr>
        <p:spPr>
          <a:xfrm>
            <a:off x="658368" y="5943600"/>
            <a:ext cx="10874959" cy="457200"/>
          </a:xfrm>
          <a:prstGeom prst="rect">
            <a:avLst/>
          </a:prstGeom>
          <a:noFill/>
        </p:spPr>
        <p:txBody>
          <a:bodyPr wrap="square" anchor="t" lIns="0" rIns="0" tIns="0" bIns="0">
            <a:spAutoFit/>
          </a:bodyPr>
          <a:lstStyle/>
          <a:p>
            <a:pPr algn="ctr">
              <a:lnSpc>
                <a:spcPct val="115000"/>
              </a:lnSpc>
            </a:pPr>
            <a:r>
              <a:rPr sz="1250" b="1" i="0">
                <a:solidFill>
                  <a:srgbClr val="142244"/>
                </a:solidFill>
                <a:latin typeface="Segoe UI"/>
              </a:rPr>
              <a:t>Thank you — happy to demo the working avatar live, or walk through any part of the stack in detail.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